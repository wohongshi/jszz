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71455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5503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39551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23599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07647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71455" y="0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71455" y="384048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71455" y="768096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71455" y="1152144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828800"/>
            <a:ext cx="7071183" cy="20116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20000"/>
              </a:lnSpc>
              <a:defRPr sz="3100"/>
            </a:pPr>
            <a:r>
              <a:rPr sz="3100" b="1" u="none">
                <a:solidFill>
                  <a:srgbClr val="0B1F3A"/>
                </a:solidFill>
                <a:latin typeface="Times New Roman"/>
                <a:ea typeface="Noto Sans CJK SC"/>
              </a:rPr>
              <a:t>第4节 函数的对称性及应用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3611880"/>
            <a:ext cx="822960" cy="8229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86200"/>
            <a:ext cx="6095847" cy="7315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000"/>
            </a:pPr>
            <a:r>
              <a:rPr sz="2000" b="0" u="none">
                <a:solidFill>
                  <a:srgbClr val="4A5568"/>
                </a:solidFill>
                <a:latin typeface="Times New Roman"/>
                <a:ea typeface="Noto Sans CJK SC"/>
              </a:rPr>
              <a:t>高三数学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54880"/>
            <a:ext cx="6095847" cy="4572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300"/>
            </a:pPr>
            <a:r>
              <a:rPr sz="1300" b="0" u="none">
                <a:solidFill>
                  <a:srgbClr val="7A8698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37215" y="5760720"/>
            <a:ext cx="822960" cy="402336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7215" y="5779008"/>
            <a:ext cx="822960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300"/>
            </a:pPr>
            <a:r>
              <a:rPr sz="1300" b="1" u="none">
                <a:solidFill>
                  <a:srgbClr val="FFFFFF"/>
                </a:solidFill>
                <a:latin typeface="Times New Roman"/>
                <a:ea typeface="Noto Sans CJK SC"/>
              </a:rPr>
              <a:t>学案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2F6FED"/>
                </a:solidFill>
                <a:latin typeface="Times New Roman"/>
                <a:ea typeface="Noto Sans CJK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ans CJK SC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88775" y="2011680"/>
            <a:ext cx="365760" cy="2377440"/>
          </a:xfrm>
          <a:prstGeom prst="roundRect">
            <a:avLst>
              <a:gd name="adj" fmla="val 2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88775" y="2103120"/>
            <a:ext cx="365760" cy="219456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导入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71455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55503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039551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23599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07647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71455" y="0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71455" y="384048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71455" y="768096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71455" y="1152144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5836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"/>
            <a:ext cx="9448495" cy="62179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0B1F3A"/>
                </a:solidFill>
                <a:latin typeface="Times New Roman"/>
                <a:ea typeface="Noto Sans CJK SC"/>
              </a:rPr>
              <a:t>学习目标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" y="1417320"/>
            <a:ext cx="365760" cy="219456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" y="1508760"/>
            <a:ext cx="365760" cy="201168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知识梳理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325880"/>
            <a:ext cx="1050005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2F6FED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202E"/>
                </a:solidFill>
                <a:latin typeface="Times New Roman"/>
                <a:ea typeface="Noto Sans CJK SC"/>
              </a:rPr>
              <a:t>能通过平移分析得出一般的轴对称与中心对称公式。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2F6FED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202E"/>
                </a:solidFill>
                <a:latin typeface="Times New Roman"/>
                <a:ea typeface="Noto Sans CJK SC"/>
              </a:rPr>
              <a:t>会由对称性推导周期性，解决「对称+单调」的综合问题。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知识诊断自测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练习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944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16202E"/>
                </a:solidFill>
                <a:latin typeface="Times New Roman"/>
                <a:ea typeface="Noto Sans CJK SC"/>
              </a:rPr>
              <a:t>1. 判断：偶函数的图象关于 y 轴对称（　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知识诊断自测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练习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944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16202E"/>
                </a:solidFill>
                <a:latin typeface="Times New Roman"/>
                <a:ea typeface="Noto Sans CJK SC"/>
              </a:rPr>
              <a:t>2. 判断：若 f(x+1) 为奇函数，则 f(x) 的图象关于点 (1,0) 对称（　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知识诊断自测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练习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110944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16202E"/>
                </a:solidFill>
                <a:latin typeface="Times New Roman"/>
                <a:ea typeface="Noto Sans CJK SC"/>
              </a:rPr>
              <a:t>3. 若 f(x) 满足 f(2-x)=f(x)，则 f(x) 的图象关于直线 ____ 对称。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71455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55503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039551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23599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07647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71455" y="0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71455" y="384048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71455" y="768096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71455" y="1152144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5836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"/>
            <a:ext cx="9448495" cy="62179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0B1F3A"/>
                </a:solidFill>
                <a:latin typeface="Times New Roman"/>
                <a:ea typeface="Noto Sans CJK SC"/>
              </a:rPr>
              <a:t>常用结论与微点提醒｜公式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371600"/>
            <a:ext cx="10728655" cy="16002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463040"/>
            <a:ext cx="10180015" cy="1417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20000"/>
              </a:lnSpc>
              <a:defRPr sz="3200"/>
            </a:pPr>
            <a:r>
              <a:rPr sz="3200" b="1" u="none">
                <a:solidFill>
                  <a:srgbClr val="0B1F3A"/>
                </a:solidFill>
                <a:latin typeface="Times New Roman"/>
                <a:ea typeface="Noto Sans CJK SC"/>
              </a:rPr>
              <a:t>f(a+x)=f(a-x) ⇔ 图象关于 x=a 对称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6FED"/>
                </a:solidFill>
                <a:latin typeface="Times New Roman"/>
                <a:ea typeface="Noto Sans CJK SC"/>
              </a:rPr>
              <a:t>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02E"/>
                </a:solidFill>
                <a:latin typeface="Times New Roman"/>
                <a:ea typeface="Noto Sans CJK SC"/>
              </a:rPr>
              <a:t>a 为常数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6FED"/>
                </a:solidFill>
                <a:latin typeface="Times New Roman"/>
                <a:ea typeface="Noto Sans CJK SC"/>
              </a:rPr>
              <a:t>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02E"/>
                </a:solidFill>
                <a:latin typeface="Times New Roman"/>
                <a:ea typeface="Noto Sans CJK SC"/>
              </a:rPr>
              <a:t>对称轴 x=a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71455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55503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039551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23599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07647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71455" y="0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71455" y="384048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71455" y="768096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71455" y="1152144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5836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"/>
            <a:ext cx="9448495" cy="62179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0B1F3A"/>
                </a:solidFill>
                <a:latin typeface="Times New Roman"/>
                <a:ea typeface="Noto Sans CJK SC"/>
              </a:rPr>
              <a:t>常用结论与微点提醒｜公式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371600"/>
            <a:ext cx="10728655" cy="16002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463040"/>
            <a:ext cx="10180015" cy="141732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20000"/>
              </a:lnSpc>
              <a:defRPr sz="3200"/>
            </a:pPr>
            <a:r>
              <a:rPr sz="3200" b="1" u="none">
                <a:solidFill>
                  <a:srgbClr val="0B1F3A"/>
                </a:solidFill>
                <a:latin typeface="Times New Roman"/>
                <a:ea typeface="Noto Sans CJK SC"/>
              </a:rPr>
              <a:t>f(a+x)+f(a-x)=2b ⇔ 图象关于点 (a,b) 对称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6FED"/>
                </a:solidFill>
                <a:latin typeface="Times New Roman"/>
                <a:ea typeface="Noto Sans CJK SC"/>
              </a:rPr>
              <a:t>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02E"/>
                </a:solidFill>
                <a:latin typeface="Times New Roman"/>
                <a:ea typeface="Noto Sans CJK SC"/>
              </a:rPr>
              <a:t>函数在 R 上有定义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703320"/>
            <a:ext cx="5227167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3840480"/>
            <a:ext cx="4769967" cy="411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2F6FED"/>
                </a:solidFill>
                <a:latin typeface="Times New Roman"/>
                <a:ea typeface="Noto Sans CJK SC"/>
              </a:rPr>
              <a:t>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297680"/>
            <a:ext cx="4769967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50000"/>
              </a:lnSpc>
              <a:defRPr sz="1600"/>
            </a:pPr>
            <a:r>
              <a:rPr sz="1600" b="0" u="none">
                <a:solidFill>
                  <a:srgbClr val="16202E"/>
                </a:solidFill>
                <a:latin typeface="Times New Roman"/>
                <a:ea typeface="Noto Sans CJK SC"/>
              </a:rPr>
              <a:t>对称中心 (a,b)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考点一 函数的对称性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例题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78992"/>
            <a:ext cx="1078992" cy="402336"/>
          </a:xfrm>
          <a:prstGeom prst="roundRect">
            <a:avLst>
              <a:gd name="adj" fmla="val 25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78992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例1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81226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16202E"/>
                </a:solidFill>
                <a:latin typeface="Times New Roman"/>
                <a:ea typeface="Noto Sans CJK SC"/>
              </a:rPr>
              <a:t>（2025·保定质检）已知 f(x+1) 是奇函数，f(x) 的图象关于直线 x=-1 对称，则下列结论正确的是（　　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82874"/>
            <a:ext cx="1920925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900"/>
            </a:pPr>
            <a:r>
              <a:rPr sz="1900" b="1" u="none">
                <a:solidFill>
                  <a:srgbClr val="2F6FED"/>
                </a:solidFill>
                <a:latin typeface="Times New Roman"/>
                <a:ea typeface="Noto Sans CJK SC"/>
              </a:rPr>
              <a:t>A．</a:t>
            </a:r>
            <a:r>
              <a:rPr sz="1900" b="0" u="none">
                <a:solidFill>
                  <a:srgbClr val="16202E"/>
                </a:solidFill>
                <a:latin typeface="Times New Roman"/>
                <a:ea typeface="Noto Sans CJK SC"/>
              </a:rPr>
              <a:t>f(x) 是偶函数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9293" y="3182874"/>
            <a:ext cx="1920925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900"/>
            </a:pPr>
            <a:r>
              <a:rPr sz="1900" b="1" u="none">
                <a:solidFill>
                  <a:srgbClr val="2F6FED"/>
                </a:solidFill>
                <a:latin typeface="Times New Roman"/>
                <a:ea typeface="Noto Sans CJK SC"/>
              </a:rPr>
              <a:t>B．</a:t>
            </a:r>
            <a:r>
              <a:rPr sz="1900" b="0" u="none">
                <a:solidFill>
                  <a:srgbClr val="16202E"/>
                </a:solidFill>
                <a:latin typeface="Times New Roman"/>
                <a:ea typeface="Noto Sans CJK SC"/>
              </a:rPr>
              <a:t>f(x) 是奇函数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9947" y="3182874"/>
            <a:ext cx="1920925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900"/>
            </a:pPr>
            <a:r>
              <a:rPr sz="1900" b="1" u="none">
                <a:solidFill>
                  <a:srgbClr val="2F6FED"/>
                </a:solidFill>
                <a:latin typeface="Times New Roman"/>
                <a:ea typeface="Noto Sans CJK SC"/>
              </a:rPr>
              <a:t>C．</a:t>
            </a:r>
            <a:r>
              <a:rPr sz="1900" b="0" u="none">
                <a:solidFill>
                  <a:srgbClr val="16202E"/>
                </a:solidFill>
                <a:latin typeface="Times New Roman"/>
                <a:ea typeface="Noto Sans CJK SC"/>
              </a:rPr>
              <a:t>f(x) 的周期为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0601" y="3182874"/>
            <a:ext cx="1920925" cy="5486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65760" indent="-365760">
              <a:lnSpc>
                <a:spcPct val="125000"/>
              </a:lnSpc>
              <a:defRPr sz="1900"/>
            </a:pPr>
            <a:r>
              <a:rPr sz="1900" b="1" u="none">
                <a:solidFill>
                  <a:srgbClr val="2F6FED"/>
                </a:solidFill>
                <a:latin typeface="Times New Roman"/>
                <a:ea typeface="Noto Sans CJK SC"/>
              </a:rPr>
              <a:t>D．</a:t>
            </a:r>
            <a:r>
              <a:rPr sz="1900" b="0" u="none">
                <a:solidFill>
                  <a:srgbClr val="16202E"/>
                </a:solidFill>
                <a:latin typeface="Times New Roman"/>
                <a:ea typeface="Noto Sans CJK SC"/>
              </a:rPr>
              <a:t>f(2026)=0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99855" y="1536192"/>
            <a:ext cx="2743200" cy="457200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2700">
            <a:solidFill>
              <a:srgbClr val="E5C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99855" y="1536192"/>
            <a:ext cx="64008" cy="4572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2735" y="1645920"/>
            <a:ext cx="2414016" cy="4389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1400"/>
            </a:pPr>
            <a:r>
              <a:rPr sz="1400" b="1" u="none">
                <a:solidFill>
                  <a:srgbClr val="C2410C"/>
                </a:solidFill>
                <a:latin typeface="Times New Roman"/>
                <a:ea typeface="Noto Sans CJK SC"/>
              </a:rPr>
              <a:t>判定要点</a:t>
            </a:r>
          </a:p>
          <a:p>
            <a:pPr algn="l" marL="292608" indent="-292608">
              <a:lnSpc>
                <a:spcPct val="135000"/>
              </a:lnSpc>
              <a:spcBef>
                <a:spcPts val="600"/>
              </a:spcBef>
            </a:pPr>
            <a:r>
              <a:rPr sz="1300" b="1" u="none">
                <a:solidFill>
                  <a:srgbClr val="C2410C"/>
                </a:solidFill>
                <a:latin typeface="Times New Roman"/>
                <a:ea typeface="Noto Sans CJK SC"/>
              </a:rPr>
              <a:t>1. </a:t>
            </a:r>
            <a:r>
              <a:rPr sz="1300" b="0" u="none">
                <a:solidFill>
                  <a:srgbClr val="6B2B2B"/>
                </a:solidFill>
                <a:latin typeface="Times New Roman"/>
                <a:ea typeface="Noto Sans CJK SC"/>
              </a:rPr>
              <a:t>对称轴与对称中心「一轴一心」⇒ 周期 T=4|a-b|；</a:t>
            </a:r>
          </a:p>
          <a:p>
            <a:pPr algn="l" marL="292608" indent="-292608">
              <a:lnSpc>
                <a:spcPct val="135000"/>
              </a:lnSpc>
              <a:spcBef>
                <a:spcPts val="600"/>
              </a:spcBef>
            </a:pPr>
            <a:r>
              <a:rPr sz="1300" b="1" u="none">
                <a:solidFill>
                  <a:srgbClr val="C2410C"/>
                </a:solidFill>
                <a:latin typeface="Times New Roman"/>
                <a:ea typeface="Noto Sans CJK SC"/>
              </a:rPr>
              <a:t>2. </a:t>
            </a:r>
            <a:r>
              <a:rPr sz="1300" b="0" u="none">
                <a:solidFill>
                  <a:srgbClr val="6B2B2B"/>
                </a:solidFill>
                <a:latin typeface="Times New Roman"/>
                <a:ea typeface="Noto Sans CJK SC"/>
              </a:rPr>
              <a:t>「两轴」⇒ T=2|a-b|。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考点一 函数的对称性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例题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97280"/>
            <a:ext cx="1078992" cy="384048"/>
          </a:xfrm>
          <a:prstGeom prst="roundRect">
            <a:avLst>
              <a:gd name="adj" fmla="val 25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15568"/>
            <a:ext cx="1078992" cy="34747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400"/>
            </a:pPr>
            <a:r>
              <a:rPr sz="1400" b="1" u="none">
                <a:solidFill>
                  <a:srgbClr val="FFFFFF"/>
                </a:solidFill>
                <a:latin typeface="Times New Roman"/>
                <a:ea typeface="Noto Sans CJK SC"/>
              </a:rPr>
              <a:t>例1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11048695" cy="45720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000"/>
            </a:pPr>
            <a:r>
              <a:rPr sz="2000" b="1" u="none">
                <a:solidFill>
                  <a:srgbClr val="2F6FED"/>
                </a:solidFill>
                <a:latin typeface="Times New Roman"/>
                <a:ea typeface="Noto Sans CJK SC"/>
              </a:rPr>
              <a:t>解析　</a:t>
            </a:r>
            <a:r>
              <a:rPr sz="2000" b="0" u="none">
                <a:solidFill>
                  <a:srgbClr val="16202E"/>
                </a:solidFill>
                <a:latin typeface="Times New Roman"/>
                <a:ea typeface="Noto Sans CJK SC"/>
              </a:rPr>
              <a:t>由 f(x+1) 为奇函数得 f(1+x)=-f(1-x)，即关于点 (1,0) 对称；又关于 x=-1 对称，两条对称轴（中心）间距为 2，故周期 T=4×2÷2=4。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考点二 对称性与周期性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例题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78992"/>
            <a:ext cx="1078992" cy="402336"/>
          </a:xfrm>
          <a:prstGeom prst="roundRect">
            <a:avLst>
              <a:gd name="adj" fmla="val 25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78992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例2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2103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200"/>
            </a:pPr>
            <a:r>
              <a:rPr sz="2200" b="0" u="none">
                <a:solidFill>
                  <a:srgbClr val="16202E"/>
                </a:solidFill>
                <a:latin typeface="Times New Roman"/>
                <a:ea typeface="Noto Sans CJK SC"/>
              </a:rPr>
              <a:t>已知 f(x) 定义在 R 上，f(x+2)=-f(x)，且当 x∈[0,2] 时 f(x)=x²-2x，求 f(2025)。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442656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600"/>
            </a:pPr>
            <a:r>
              <a:rPr sz="2600" b="1" u="none">
                <a:solidFill>
                  <a:srgbClr val="FFFFFF"/>
                </a:solidFill>
                <a:latin typeface="Times New Roman"/>
                <a:ea typeface="Noto Sans CJK SC"/>
              </a:rPr>
              <a:t>考点二 对称性与周期性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219456"/>
            <a:ext cx="676656" cy="365760"/>
          </a:xfrm>
          <a:prstGeom prst="roundRect">
            <a:avLst>
              <a:gd name="adj" fmla="val 30000"/>
            </a:avLst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237744"/>
            <a:ext cx="676656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FFFFFF"/>
                </a:solidFill>
                <a:latin typeface="Times New Roman"/>
                <a:ea typeface="Noto Sans CJK SC"/>
              </a:rPr>
              <a:t>例题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97280"/>
            <a:ext cx="1078992" cy="384048"/>
          </a:xfrm>
          <a:prstGeom prst="roundRect">
            <a:avLst>
              <a:gd name="adj" fmla="val 25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15568"/>
            <a:ext cx="1078992" cy="34747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400"/>
            </a:pPr>
            <a:r>
              <a:rPr sz="1400" b="1" u="none">
                <a:solidFill>
                  <a:srgbClr val="FFFFFF"/>
                </a:solidFill>
                <a:latin typeface="Times New Roman"/>
                <a:ea typeface="Noto Sans CJK SC"/>
              </a:rPr>
              <a:t>例2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11048695" cy="45720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2000"/>
            </a:pPr>
            <a:r>
              <a:rPr sz="2000" b="1" u="none">
                <a:solidFill>
                  <a:srgbClr val="2F6FED"/>
                </a:solidFill>
                <a:latin typeface="Times New Roman"/>
                <a:ea typeface="Noto Sans CJK SC"/>
              </a:rPr>
              <a:t>解析　</a:t>
            </a:r>
            <a:r>
              <a:rPr sz="2000" b="0" u="none">
                <a:solidFill>
                  <a:srgbClr val="16202E"/>
                </a:solidFill>
                <a:latin typeface="Times New Roman"/>
                <a:ea typeface="Noto Sans CJK SC"/>
              </a:rPr>
              <a:t>由 f(x+2)=-f(x) 得 T=4；f(2025)=f(1)=-1。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71455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55503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039551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23599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07647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71455" y="0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71455" y="384048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71455" y="768096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71455" y="1152144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5836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"/>
            <a:ext cx="9448495" cy="62179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0B1F3A"/>
                </a:solidFill>
                <a:latin typeface="Times New Roman"/>
                <a:ea typeface="Noto Sans CJK SC"/>
              </a:rPr>
              <a:t>课时对点精练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" y="1417320"/>
            <a:ext cx="365760" cy="219456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" y="1508760"/>
            <a:ext cx="365760" cy="2011680"/>
          </a:xfrm>
          <a:prstGeom prst="rect">
            <a:avLst/>
          </a:prstGeom>
          <a:noFill/>
        </p:spPr>
        <p:txBody>
          <a:bodyPr wrap="square" anchor="ctr" lIns="54864" rIns="54864" tIns="0" bIns="0" vert="eaVert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知识梳理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325880"/>
            <a:ext cx="1050005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6202E"/>
                </a:solidFill>
                <a:latin typeface="Times New Roman"/>
                <a:ea typeface="Noto Sans CJK SC"/>
              </a:rPr>
              <a:t>1. 若 f(x) 的图象关于直线 x=2 对称，且 f(3)=5，则 f(1)=____。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6202E"/>
                </a:solidFill>
                <a:latin typeface="Times New Roman"/>
                <a:ea typeface="Noto Sans CJK SC"/>
              </a:rPr>
              <a:t>2. 已知 f(x) 满足 f(x)+f(2-x)=0，则 f(x) 关于 ____ 对称。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657600" cy="15544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9200"/>
            </a:pPr>
            <a:r>
              <a:rPr sz="9200" b="1" u="none">
                <a:solidFill>
                  <a:srgbClr val="2F6FED"/>
                </a:solidFill>
                <a:latin typeface="Times New Roman"/>
                <a:ea typeface="Noto Sans CJK S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834640"/>
            <a:ext cx="10180015" cy="109728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FFFFFF"/>
                </a:solidFill>
                <a:latin typeface="Times New Roman"/>
                <a:ea typeface="Noto Sans CJK SC"/>
              </a:rPr>
              <a:t>参考答案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71455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55503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039551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23599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07647" y="0"/>
            <a:ext cx="12700" cy="14173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71455" y="0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71455" y="384048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71455" y="768096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71455" y="1152144"/>
            <a:ext cx="1920240" cy="1270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57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65836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"/>
            <a:ext cx="9448495" cy="62179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2800"/>
            </a:pPr>
            <a:r>
              <a:rPr sz="2800" b="1" u="none">
                <a:solidFill>
                  <a:srgbClr val="0B1F3A"/>
                </a:solidFill>
                <a:latin typeface="Times New Roman"/>
                <a:ea typeface="Noto Sans CJK SC"/>
              </a:rPr>
              <a:t>参考答案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39551" y="457200"/>
            <a:ext cx="649224" cy="365760"/>
          </a:xfrm>
          <a:prstGeom prst="roundRect">
            <a:avLst>
              <a:gd name="adj" fmla="val 35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39551" y="475488"/>
            <a:ext cx="649224" cy="32918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100"/>
            </a:pPr>
            <a:r>
              <a:rPr sz="1100" b="1" u="none">
                <a:solidFill>
                  <a:srgbClr val="2F6FED"/>
                </a:solidFill>
                <a:latin typeface="Times New Roman"/>
                <a:ea typeface="Noto Sans CJK SC"/>
              </a:rPr>
              <a:t>答案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6202E"/>
                </a:solidFill>
                <a:latin typeface="Times New Roman"/>
                <a:ea typeface="Noto Sans CJK SC"/>
              </a:rPr>
              <a:t>1. 5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6202E"/>
                </a:solidFill>
                <a:latin typeface="Times New Roman"/>
                <a:ea typeface="Noto Sans CJK SC"/>
              </a:rPr>
              <a:t>2. 点 (1,0)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345936"/>
            <a:ext cx="859536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第4节 函数的对称性及应用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637215" cy="822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3800"/>
            </a:pPr>
            <a:r>
              <a:rPr sz="3800" b="1" u="none">
                <a:solidFill>
                  <a:srgbClr val="0B1F3A"/>
                </a:solidFill>
                <a:latin typeface="Times New Roman"/>
                <a:ea typeface="Noto Sans CJK SC"/>
              </a:rPr>
              <a:t>本节课小结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454335" cy="4251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300"/>
            </a:pPr>
            <a:r>
              <a:rPr sz="2300" b="0" u="none">
                <a:solidFill>
                  <a:srgbClr val="2F6FED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6202E"/>
                </a:solidFill>
                <a:latin typeface="Times New Roman"/>
                <a:ea typeface="Noto Sans CJK SC"/>
              </a:rPr>
              <a:t>能通过平移分析得出一般的轴对称与中心对称公式。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2F6FED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6202E"/>
                </a:solidFill>
                <a:latin typeface="Times New Roman"/>
                <a:ea typeface="Noto Sans CJK SC"/>
              </a:rPr>
              <a:t>会由对称性推导周期性，解决「对称+单调」的综合问题。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454335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5989320"/>
            <a:ext cx="685800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