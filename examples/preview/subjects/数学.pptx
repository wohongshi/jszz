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71455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55503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39551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23599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07647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71455" y="0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1455" y="384048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1455" y="768096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71455" y="1152144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80160" y="1234440"/>
            <a:ext cx="9631375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057400"/>
            <a:ext cx="9082735" cy="137160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2000"/>
              </a:lnSpc>
              <a:defRPr sz="3100"/>
            </a:pPr>
            <a:r>
              <a:rPr sz="3100" b="1" u="none">
                <a:solidFill>
                  <a:srgbClr val="1F3864"/>
                </a:solidFill>
                <a:latin typeface="Times New Roman"/>
                <a:ea typeface="Noto Serif CJK SC"/>
              </a:rPr>
              <a:t>第4节 函数的对称性及应用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94760"/>
            <a:ext cx="9631375" cy="6400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000"/>
            </a:pPr>
            <a:r>
              <a:rPr sz="2000" b="0" u="none">
                <a:solidFill>
                  <a:srgbClr val="4A5568"/>
                </a:solidFill>
                <a:latin typeface="Times New Roman"/>
                <a:ea typeface="Noto Serif CJK SC"/>
              </a:rPr>
              <a:t>高三数学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25015" y="4617720"/>
            <a:ext cx="1572768" cy="5120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25015" y="4645152"/>
            <a:ext cx="1572768" cy="45720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1F3864"/>
                </a:solidFill>
                <a:latin typeface="Times New Roman"/>
                <a:ea typeface="Noto Serif CJK SC"/>
              </a:rPr>
              <a:t>知识梳理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7239" y="4617720"/>
            <a:ext cx="1572768" cy="5120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7239" y="4645152"/>
            <a:ext cx="1572768" cy="45720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2F6FED"/>
                </a:solidFill>
                <a:latin typeface="Times New Roman"/>
                <a:ea typeface="Noto Serif CJK SC"/>
              </a:rPr>
              <a:t>典型例题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9463" y="4617720"/>
            <a:ext cx="1572768" cy="5120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9463" y="4645152"/>
            <a:ext cx="1572768" cy="45720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变式训练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1687" y="4617720"/>
            <a:ext cx="1572768" cy="5120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E8B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1687" y="4645152"/>
            <a:ext cx="1572768" cy="45720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E8B21A"/>
                </a:solidFill>
                <a:latin typeface="Times New Roman"/>
                <a:ea typeface="Noto Serif CJK SC"/>
              </a:rPr>
              <a:t>当堂检测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3911" y="4617720"/>
            <a:ext cx="1572768" cy="5120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3911" y="4645152"/>
            <a:ext cx="1572768" cy="45720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2E8B57"/>
                </a:solidFill>
                <a:latin typeface="Times New Roman"/>
                <a:ea typeface="Noto Serif CJK SC"/>
              </a:rPr>
              <a:t>课堂小结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77840"/>
            <a:ext cx="9631375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0" u="none">
                <a:solidFill>
                  <a:srgbClr val="7A8698"/>
                </a:solidFill>
                <a:latin typeface="Times New Roman"/>
                <a:ea typeface="Noto Serif CJK SC"/>
              </a:rPr>
              <a:t>胶州四中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28016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3657600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8800"/>
            </a:pPr>
            <a:r>
              <a:rPr sz="8800" b="1" u="none">
                <a:solidFill>
                  <a:srgbClr val="EEF3FB"/>
                </a:solidFill>
                <a:latin typeface="Times New Roman"/>
                <a:ea typeface="Noto Serif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9905695" cy="1005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1F3864"/>
                </a:solidFill>
                <a:latin typeface="Times New Roman"/>
                <a:ea typeface="Noto Serif CJK SC"/>
              </a:rPr>
              <a:t>学习目标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84048" cy="868680"/>
          </a:xfrm>
          <a:prstGeom prst="roundRect">
            <a:avLst>
              <a:gd name="adj" fmla="val 2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2011680" cy="38404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F6FED"/>
                </a:solidFill>
                <a:latin typeface="Times New Roman"/>
                <a:ea typeface="Noto Serif CJK SC"/>
              </a:rPr>
              <a:t>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39551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3599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07647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71455" y="0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71455" y="384048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1455" y="768096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1455" y="1152144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11185855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"/>
            <a:ext cx="8351215" cy="60350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F3864"/>
                </a:solidFill>
                <a:latin typeface="Times New Roman"/>
                <a:ea typeface="Noto Serif CJK SC"/>
              </a:rPr>
              <a:t>学习目标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erif CJK SC"/>
              </a:rPr>
              <a:t>知识梳理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F6FED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A2233"/>
                </a:solidFill>
                <a:latin typeface="Times New Roman"/>
                <a:ea typeface="Noto Serif CJK SC"/>
              </a:rPr>
              <a:t>能通过平移分析得出一般的轴对称与中心对称公式。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F6FED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A2233"/>
                </a:solidFill>
                <a:latin typeface="Times New Roman"/>
                <a:ea typeface="Noto Serif CJK SC"/>
              </a:rPr>
              <a:t>会由对称性推导周期性，解决「对称+单调」的综合问题。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知识诊断自测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练习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A2233"/>
                </a:solidFill>
                <a:latin typeface="Times New Roman"/>
                <a:ea typeface="Noto Serif CJK SC"/>
              </a:rPr>
              <a:t>1. 判断：偶函数的图象关于 y 轴对称（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知识诊断自测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练习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A2233"/>
                </a:solidFill>
                <a:latin typeface="Times New Roman"/>
                <a:ea typeface="Noto Serif CJK SC"/>
              </a:rPr>
              <a:t>2. 判断：若 f(x+1) 为奇函数，则 f(x) 的图象关于点 (1,0) 对称（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知识诊断自测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练习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A2233"/>
                </a:solidFill>
                <a:latin typeface="Times New Roman"/>
                <a:ea typeface="Noto Serif CJK SC"/>
              </a:rPr>
              <a:t>3. 若 f(x) 满足 f(2-x)=f(x)，则 f(x) 的图象关于直线 ____ 对称。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39551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3599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07647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71455" y="0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71455" y="384048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1455" y="768096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1455" y="1152144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11185855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"/>
            <a:ext cx="8351215" cy="60350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F3864"/>
                </a:solidFill>
                <a:latin typeface="Times New Roman"/>
                <a:ea typeface="Noto Serif CJK SC"/>
              </a:rPr>
              <a:t>常用结论与微点提醒｜公式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10728655" cy="16002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463040"/>
            <a:ext cx="10180015" cy="1417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0000"/>
              </a:lnSpc>
              <a:defRPr sz="3200"/>
            </a:pPr>
            <a:r>
              <a:rPr sz="3200" b="1" u="none">
                <a:solidFill>
                  <a:srgbClr val="1F3864"/>
                </a:solidFill>
                <a:latin typeface="Times New Roman"/>
                <a:ea typeface="Noto Serif CJK SC"/>
              </a:rPr>
              <a:t>f(a+x)=f(a-x) ⇔ 图象关于 x=a 对称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F6FED"/>
                </a:solidFill>
                <a:latin typeface="Times New Roman"/>
                <a:ea typeface="Noto Serif CJK SC"/>
              </a:rPr>
              <a:t>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A2233"/>
                </a:solidFill>
                <a:latin typeface="Times New Roman"/>
                <a:ea typeface="Noto Serif CJK SC"/>
              </a:rPr>
              <a:t>a 为常数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F6FED"/>
                </a:solidFill>
                <a:latin typeface="Times New Roman"/>
                <a:ea typeface="Noto Serif CJK SC"/>
              </a:rPr>
              <a:t>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A2233"/>
                </a:solidFill>
                <a:latin typeface="Times New Roman"/>
                <a:ea typeface="Noto Serif CJK SC"/>
              </a:rPr>
              <a:t>对称轴 x=a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39551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3599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07647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71455" y="0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71455" y="384048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1455" y="768096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1455" y="1152144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11185855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"/>
            <a:ext cx="8351215" cy="60350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F3864"/>
                </a:solidFill>
                <a:latin typeface="Times New Roman"/>
                <a:ea typeface="Noto Serif CJK SC"/>
              </a:rPr>
              <a:t>常用结论与微点提醒｜公式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371600"/>
            <a:ext cx="10728655" cy="16002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463040"/>
            <a:ext cx="10180015" cy="1417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0000"/>
              </a:lnSpc>
              <a:defRPr sz="3200"/>
            </a:pPr>
            <a:r>
              <a:rPr sz="3200" b="1" u="none">
                <a:solidFill>
                  <a:srgbClr val="1F3864"/>
                </a:solidFill>
                <a:latin typeface="Times New Roman"/>
                <a:ea typeface="Noto Serif CJK SC"/>
              </a:rPr>
              <a:t>f(a+x)+f(a-x)=2b ⇔ 图象关于点 (a,b) 对称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F6FED"/>
                </a:solidFill>
                <a:latin typeface="Times New Roman"/>
                <a:ea typeface="Noto Serif CJK SC"/>
              </a:rPr>
              <a:t>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A2233"/>
                </a:solidFill>
                <a:latin typeface="Times New Roman"/>
                <a:ea typeface="Noto Serif CJK SC"/>
              </a:rPr>
              <a:t>函数在 R 上有定义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F6FED"/>
                </a:solidFill>
                <a:latin typeface="Times New Roman"/>
                <a:ea typeface="Noto Serif CJK SC"/>
              </a:rPr>
              <a:t>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A2233"/>
                </a:solidFill>
                <a:latin typeface="Times New Roman"/>
                <a:ea typeface="Noto Serif CJK SC"/>
              </a:rPr>
              <a:t>对称中心 (a,b)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考点一 函数的对称性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例题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1078992" cy="402336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78992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erif CJK SC"/>
              </a:rPr>
              <a:t>例1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81226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A2233"/>
                </a:solidFill>
                <a:latin typeface="Times New Roman"/>
                <a:ea typeface="Noto Serif CJK SC"/>
              </a:rPr>
              <a:t>（2025·保定质检）已知 f(x+1) 是奇函数，f(x) 的图象关于直线 x=-1 对称，则下列结论正确的是（　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874"/>
            <a:ext cx="39515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F6FED"/>
                </a:solidFill>
                <a:latin typeface="Times New Roman"/>
                <a:ea typeface="Noto Serif CJK SC"/>
              </a:rPr>
              <a:t>A．</a:t>
            </a:r>
            <a:r>
              <a:rPr sz="1800" b="0" u="none">
                <a:solidFill>
                  <a:srgbClr val="1A2233"/>
                </a:solidFill>
                <a:latin typeface="Times New Roman"/>
                <a:ea typeface="Noto Serif CJK SC"/>
              </a:rPr>
              <a:t>f(x) 是偶函数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3182874"/>
            <a:ext cx="39515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F6FED"/>
                </a:solidFill>
                <a:latin typeface="Times New Roman"/>
                <a:ea typeface="Noto Serif CJK SC"/>
              </a:rPr>
              <a:t>B．</a:t>
            </a:r>
            <a:r>
              <a:rPr sz="1800" b="0" u="none">
                <a:solidFill>
                  <a:srgbClr val="1A2233"/>
                </a:solidFill>
                <a:latin typeface="Times New Roman"/>
                <a:ea typeface="Noto Serif CJK SC"/>
              </a:rPr>
              <a:t>f(x) 是奇函数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7234"/>
            <a:ext cx="39515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F6FED"/>
                </a:solidFill>
                <a:latin typeface="Times New Roman"/>
                <a:ea typeface="Noto Serif CJK SC"/>
              </a:rPr>
              <a:t>C．</a:t>
            </a:r>
            <a:r>
              <a:rPr sz="1800" b="0" u="none">
                <a:solidFill>
                  <a:srgbClr val="1A2233"/>
                </a:solidFill>
                <a:latin typeface="Times New Roman"/>
                <a:ea typeface="Noto Serif CJK SC"/>
              </a:rPr>
              <a:t>f(x) 的周期为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9947" y="3777234"/>
            <a:ext cx="39515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F6FED"/>
                </a:solidFill>
                <a:latin typeface="Times New Roman"/>
                <a:ea typeface="Noto Serif CJK SC"/>
              </a:rPr>
              <a:t>D．</a:t>
            </a:r>
            <a:r>
              <a:rPr sz="1800" b="0" u="none">
                <a:solidFill>
                  <a:srgbClr val="1A2233"/>
                </a:solidFill>
                <a:latin typeface="Times New Roman"/>
                <a:ea typeface="Noto Serif CJK SC"/>
              </a:rPr>
              <a:t>f(2026)=0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9855" y="1536192"/>
            <a:ext cx="2743200" cy="1335024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2700">
            <a:solidFill>
              <a:srgbClr val="E5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99855" y="1536192"/>
            <a:ext cx="64008" cy="13350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2735" y="1645920"/>
            <a:ext cx="2414016" cy="115214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2000"/>
              </a:lnSpc>
              <a:defRPr sz="1300"/>
            </a:pPr>
            <a:r>
              <a:rPr sz="1300" b="1" u="none">
                <a:solidFill>
                  <a:srgbClr val="C00000"/>
                </a:solidFill>
                <a:latin typeface="Times New Roman"/>
                <a:ea typeface="Noto Serif CJK SC"/>
              </a:rPr>
              <a:t>判定要点</a:t>
            </a:r>
          </a:p>
          <a:p>
            <a:pPr algn="l" marL="292608" indent="-292608">
              <a:lnSpc>
                <a:spcPct val="135000"/>
              </a:lnSpc>
              <a:spcBef>
                <a:spcPts val="400"/>
              </a:spcBef>
            </a:pPr>
            <a:r>
              <a:rPr sz="1200" b="1" u="none">
                <a:solidFill>
                  <a:srgbClr val="C00000"/>
                </a:solidFill>
                <a:latin typeface="Times New Roman"/>
                <a:ea typeface="Noto Serif CJK SC"/>
              </a:rPr>
              <a:t>1. </a:t>
            </a:r>
            <a:r>
              <a:rPr sz="1200" b="0" u="none">
                <a:solidFill>
                  <a:srgbClr val="6B2B2B"/>
                </a:solidFill>
                <a:latin typeface="Times New Roman"/>
                <a:ea typeface="Noto Serif CJK SC"/>
              </a:rPr>
              <a:t>对称轴与对称中心「一轴一心」⇒ 周期 T=4|a-b|；</a:t>
            </a:r>
          </a:p>
          <a:p>
            <a:pPr algn="l" marL="292608" indent="-292608">
              <a:lnSpc>
                <a:spcPct val="135000"/>
              </a:lnSpc>
              <a:spcBef>
                <a:spcPts val="400"/>
              </a:spcBef>
            </a:pPr>
            <a:r>
              <a:rPr sz="1200" b="1" u="none">
                <a:solidFill>
                  <a:srgbClr val="C00000"/>
                </a:solidFill>
                <a:latin typeface="Times New Roman"/>
                <a:ea typeface="Noto Serif CJK SC"/>
              </a:rPr>
              <a:t>2. </a:t>
            </a:r>
            <a:r>
              <a:rPr sz="1200" b="0" u="none">
                <a:solidFill>
                  <a:srgbClr val="6B2B2B"/>
                </a:solidFill>
                <a:latin typeface="Times New Roman"/>
                <a:ea typeface="Noto Serif CJK SC"/>
              </a:rPr>
              <a:t>「两轴」⇒ T=2|a-b|。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考点一 函数的对称性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例题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078992" cy="384048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078992" cy="34747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400"/>
            </a:pPr>
            <a:r>
              <a:rPr sz="1400" b="1" u="none">
                <a:solidFill>
                  <a:srgbClr val="FFFFFF"/>
                </a:solidFill>
                <a:latin typeface="Times New Roman"/>
                <a:ea typeface="Noto Serif CJK SC"/>
              </a:rPr>
              <a:t>例1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1048695" cy="45720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2F6FED"/>
                </a:solidFill>
                <a:latin typeface="Times New Roman"/>
                <a:ea typeface="Noto Serif CJK SC"/>
              </a:rPr>
              <a:t>解析　</a:t>
            </a:r>
            <a:r>
              <a:rPr sz="2000" b="0" u="none">
                <a:solidFill>
                  <a:srgbClr val="1A2233"/>
                </a:solidFill>
                <a:latin typeface="Times New Roman"/>
                <a:ea typeface="Noto Serif CJK SC"/>
              </a:rPr>
              <a:t>由 f(x+1) 为奇函数得 f(1+x)=-f(1-x)，即关于点 (1,0) 对称；又关于 x=-1 对称，两条对称轴（中心）间距为 2，故周期 T=4×2÷2=4。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考点二 对称性与周期性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例题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1078992" cy="402336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78992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erif CJK SC"/>
              </a:rPr>
              <a:t>例2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A2233"/>
                </a:solidFill>
                <a:latin typeface="Times New Roman"/>
                <a:ea typeface="Noto Serif CJK SC"/>
              </a:rPr>
              <a:t>已知 f(x) 定义在 R 上，f(x+2)=-f(x)，且当 x∈[0,2] 时 f(x)=x²-2x，求 f(2025)。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985455" cy="56692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1F3864"/>
                </a:solidFill>
                <a:latin typeface="Times New Roman"/>
                <a:ea typeface="Noto Serif CJK SC"/>
              </a:rPr>
              <a:t>考点二 对称性与周期性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66399" y="384048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6399" y="402336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erif CJK SC"/>
              </a:rPr>
              <a:t>例题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94415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078992" cy="384048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078992" cy="34747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400"/>
            </a:pPr>
            <a:r>
              <a:rPr sz="1400" b="1" u="none">
                <a:solidFill>
                  <a:srgbClr val="FFFFFF"/>
                </a:solidFill>
                <a:latin typeface="Times New Roman"/>
                <a:ea typeface="Noto Serif CJK SC"/>
              </a:rPr>
              <a:t>例2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1048695" cy="45720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2F6FED"/>
                </a:solidFill>
                <a:latin typeface="Times New Roman"/>
                <a:ea typeface="Noto Serif CJK SC"/>
              </a:rPr>
              <a:t>解析　</a:t>
            </a:r>
            <a:r>
              <a:rPr sz="2000" b="0" u="none">
                <a:solidFill>
                  <a:srgbClr val="1A2233"/>
                </a:solidFill>
                <a:latin typeface="Times New Roman"/>
                <a:ea typeface="Noto Serif CJK SC"/>
              </a:rPr>
              <a:t>由 f(x+2)=-f(x) 得 T=4；f(2025)=f(1)=-1。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39551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3599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07647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71455" y="0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71455" y="384048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1455" y="768096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1455" y="1152144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11185855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"/>
            <a:ext cx="8351215" cy="60350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F3864"/>
                </a:solidFill>
                <a:latin typeface="Times New Roman"/>
                <a:ea typeface="Noto Serif CJK SC"/>
              </a:rPr>
              <a:t>课时对点精练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erif CJK SC"/>
              </a:rPr>
              <a:t>知识梳理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A2233"/>
                </a:solidFill>
                <a:latin typeface="Times New Roman"/>
                <a:ea typeface="Noto Serif CJK SC"/>
              </a:rPr>
              <a:t>1. 若 f(x) 的图象关于直线 x=2 对称，且 f(3)=5，则 f(1)=____。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A2233"/>
                </a:solidFill>
                <a:latin typeface="Times New Roman"/>
                <a:ea typeface="Noto Serif CJK SC"/>
              </a:rPr>
              <a:t>2. 已知 f(x) 满足 f(x)+f(2-x)=0，则 f(x) 关于 ____ 对称。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28016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3657600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8800"/>
            </a:pPr>
            <a:r>
              <a:rPr sz="8800" b="1" u="none">
                <a:solidFill>
                  <a:srgbClr val="EEF3FB"/>
                </a:solidFill>
                <a:latin typeface="Times New Roman"/>
                <a:ea typeface="Noto Serif CJK SC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9905695" cy="1005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1F3864"/>
                </a:solidFill>
                <a:latin typeface="Times New Roman"/>
                <a:ea typeface="Noto Serif CJK SC"/>
              </a:rPr>
              <a:t>参考答案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39551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3599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07647" y="0"/>
            <a:ext cx="12700" cy="1417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71455" y="0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71455" y="384048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1455" y="768096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1455" y="1152144"/>
            <a:ext cx="1920240" cy="127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11185855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"/>
            <a:ext cx="8351215" cy="60350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F3864"/>
                </a:solidFill>
                <a:latin typeface="Times New Roman"/>
                <a:ea typeface="Noto Serif CJK SC"/>
              </a:rPr>
              <a:t>参考答案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A2233"/>
                </a:solidFill>
                <a:latin typeface="Times New Roman"/>
                <a:ea typeface="Noto Serif CJK SC"/>
              </a:rPr>
              <a:t>1. 5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A2233"/>
                </a:solidFill>
                <a:latin typeface="Times New Roman"/>
                <a:ea typeface="Noto Serif CJK SC"/>
              </a:rPr>
              <a:t>2. 点 (1,0)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345936"/>
            <a:ext cx="7498079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第4节 函数的对称性及应用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1F3864"/>
                </a:solidFill>
                <a:latin typeface="Times New Roman"/>
                <a:ea typeface="Noto Serif CJK SC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36392"/>
            <a:ext cx="10454335" cy="271576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2F6FED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1A2233"/>
                </a:solidFill>
                <a:latin typeface="Times New Roman"/>
                <a:ea typeface="Noto Serif CJK SC"/>
              </a:rPr>
              <a:t>能通过平移分析得出一般的轴对称与中心对称公式。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2F6FED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1A2233"/>
                </a:solidFill>
                <a:latin typeface="Times New Roman"/>
                <a:ea typeface="Noto Serif CJK SC"/>
              </a:rPr>
              <a:t>会由对称性推导周期性，解决「对称+单调」的综合问题。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erif CJK SC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erif CJK S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