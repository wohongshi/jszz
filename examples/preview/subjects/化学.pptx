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767" y="1463040"/>
            <a:ext cx="3794760" cy="3566160"/>
          </a:xfrm>
          <a:prstGeom prst="roundRect">
            <a:avLst>
              <a:gd name="adj" fmla="val 5000"/>
            </a:avLst>
          </a:prstGeom>
          <a:solidFill>
            <a:srgbClr val="DC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767" y="4526280"/>
            <a:ext cx="3794760" cy="502920"/>
          </a:xfrm>
          <a:prstGeom prst="roundRect">
            <a:avLst>
              <a:gd name="adj" fmla="val 8000"/>
            </a:avLst>
          </a:prstGeom>
          <a:solidFill>
            <a:srgbClr val="C7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49447" y="2286000"/>
            <a:ext cx="475488" cy="2011680"/>
          </a:xfrm>
          <a:prstGeom prst="roundRect">
            <a:avLst/>
          </a:prstGeom>
          <a:solidFill>
            <a:srgbClr val="7FB3D9"/>
          </a:solidFill>
          <a:ln w="12700">
            <a:solidFill>
              <a:srgbClr val="9FB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567" y="2286000"/>
            <a:ext cx="475488" cy="2011680"/>
          </a:xfrm>
          <a:prstGeom prst="roundRect">
            <a:avLst/>
          </a:prstGeom>
          <a:solidFill>
            <a:srgbClr val="E8A87C"/>
          </a:solidFill>
          <a:ln w="12700">
            <a:solidFill>
              <a:srgbClr val="9FB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69687" y="2286000"/>
            <a:ext cx="475488" cy="2011680"/>
          </a:xfrm>
          <a:prstGeom prst="roundRect">
            <a:avLst/>
          </a:prstGeom>
          <a:solidFill>
            <a:srgbClr val="82C9A6"/>
          </a:solidFill>
          <a:ln w="12700">
            <a:solidFill>
              <a:srgbClr val="9FB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6827349" cy="21945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20000"/>
              </a:lnSpc>
              <a:defRPr sz="2900"/>
            </a:pPr>
            <a:r>
              <a:rPr sz="2900" b="1" u="none">
                <a:solidFill>
                  <a:srgbClr val="1F4E79"/>
                </a:solidFill>
                <a:latin typeface="Times New Roman"/>
                <a:ea typeface="Noto Serif CJK SC"/>
              </a:rPr>
              <a:t>14. 反应热 热化学方程式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3611880"/>
            <a:ext cx="109728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86200"/>
            <a:ext cx="6705432" cy="7315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900"/>
            </a:pPr>
            <a:r>
              <a:rPr sz="1900" b="0" u="none">
                <a:solidFill>
                  <a:srgbClr val="2F4F5C"/>
                </a:solidFill>
                <a:latin typeface="Times New Roman"/>
                <a:ea typeface="Noto Serif CJK SC"/>
              </a:rPr>
              <a:t>高三化学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754880"/>
            <a:ext cx="6705432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200"/>
            </a:pPr>
            <a:r>
              <a:rPr sz="1200" b="0" u="none">
                <a:solidFill>
                  <a:srgbClr val="5E808C"/>
                </a:solidFill>
                <a:latin typeface="Times New Roman"/>
                <a:ea typeface="Noto Serif CJK SC"/>
              </a:rPr>
              <a:t>胶州四中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5715000"/>
            <a:ext cx="822960" cy="402336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733288"/>
            <a:ext cx="822960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FFFFFF"/>
                </a:solidFill>
                <a:latin typeface="Times New Roman"/>
                <a:ea typeface="Noto Serif CJK SC"/>
              </a:rPr>
              <a:t>学案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75B6"/>
                </a:solidFill>
                <a:latin typeface="Times New Roman"/>
                <a:ea typeface="Noto Serif CJK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erif CJK SC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384048" cy="868680"/>
          </a:xfrm>
          <a:prstGeom prst="roundRect">
            <a:avLst>
              <a:gd name="adj" fmla="val 2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2011680" cy="38404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erif CJK SC"/>
              </a:rPr>
              <a:t>导入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47472"/>
            <a:ext cx="1865376" cy="585216"/>
          </a:xfrm>
          <a:prstGeom prst="roundRect">
            <a:avLst>
              <a:gd name="adj" fmla="val 3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86537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300"/>
            </a:pPr>
            <a:r>
              <a:rPr sz="2300" b="1" u="none">
                <a:solidFill>
                  <a:srgbClr val="FFFFFF"/>
                </a:solidFill>
                <a:latin typeface="Times New Roman"/>
                <a:ea typeface="Noto Serif CJK SC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理解反应热、焓变的概念，会从宏观与微观两个角度分析吸放热。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能规范书写热化学方程式（状态、符号、单位、化学计量数）。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47472"/>
            <a:ext cx="3675888" cy="585216"/>
          </a:xfrm>
          <a:prstGeom prst="roundRect">
            <a:avLst>
              <a:gd name="adj" fmla="val 3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3675888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300"/>
            </a:pPr>
            <a:r>
              <a:rPr sz="2300" b="1" u="none">
                <a:solidFill>
                  <a:srgbClr val="FFFFFF"/>
                </a:solidFill>
                <a:latin typeface="Times New Roman"/>
                <a:ea typeface="Noto Serif CJK SC"/>
              </a:rPr>
              <a:t>考点一 反应热与焓变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判断正误：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1. 物质发生化学变化时都伴有能量的变化（　）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2. 需要加热才能发生的反应一定是吸热反应（　）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3. 放热反应在常温下一定很容易发生（　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47472"/>
            <a:ext cx="4581144" cy="585216"/>
          </a:xfrm>
          <a:prstGeom prst="roundRect">
            <a:avLst>
              <a:gd name="adj" fmla="val 3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4581144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300"/>
            </a:pPr>
            <a:r>
              <a:rPr sz="2300" b="1" u="none">
                <a:solidFill>
                  <a:srgbClr val="FFFFFF"/>
                </a:solidFill>
                <a:latin typeface="Times New Roman"/>
                <a:ea typeface="Noto Serif CJK SC"/>
              </a:rPr>
              <a:t>考点一 反应热与焓变｜反应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1143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362895" cy="10515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3200"/>
            </a:pPr>
            <a:r>
              <a:rPr sz="3200" b="1" u="none">
                <a:solidFill>
                  <a:srgbClr val="1F4E79"/>
                </a:solidFill>
                <a:latin typeface="Times New Roman"/>
                <a:ea typeface="Noto Serif CJK SC"/>
              </a:rPr>
              <a:t>2H₂(g) + O₂(g) = 2H₂O(l)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0631" y="2542032"/>
            <a:ext cx="1170432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0631" y="2560320"/>
            <a:ext cx="1170432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2E75B6"/>
                </a:solidFill>
                <a:latin typeface="Times New Roman"/>
                <a:ea typeface="Noto Serif CJK SC"/>
              </a:rPr>
              <a:t>条件：点燃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0637215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000"/>
            </a:pPr>
            <a:r>
              <a:rPr sz="20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000" b="0" u="none">
                <a:solidFill>
                  <a:srgbClr val="1C2B3A"/>
                </a:solidFill>
                <a:latin typeface="Times New Roman"/>
                <a:ea typeface="Noto Serif CJK SC"/>
              </a:rPr>
              <a:t>放热反应，ΔH = −571.6 kJ·mol⁻¹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47472"/>
            <a:ext cx="4581144" cy="585216"/>
          </a:xfrm>
          <a:prstGeom prst="roundRect">
            <a:avLst>
              <a:gd name="adj" fmla="val 3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4581144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300"/>
            </a:pPr>
            <a:r>
              <a:rPr sz="2300" b="1" u="none">
                <a:solidFill>
                  <a:srgbClr val="FFFFFF"/>
                </a:solidFill>
                <a:latin typeface="Times New Roman"/>
                <a:ea typeface="Noto Serif CJK SC"/>
              </a:rPr>
              <a:t>考点二 热化学方程式的书写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书写规范：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必须注明物质的聚集状态（g / l / s / aq）。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ΔH 的符号不能省略，放热为「−」，吸热为「+」。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化学计量数改变，ΔH 同倍变化。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47472"/>
            <a:ext cx="5486400" cy="585216"/>
          </a:xfrm>
          <a:prstGeom prst="roundRect">
            <a:avLst>
              <a:gd name="adj" fmla="val 3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300"/>
            </a:pPr>
            <a:r>
              <a:rPr sz="2300" b="1" u="none">
                <a:solidFill>
                  <a:srgbClr val="FFFFFF"/>
                </a:solidFill>
                <a:latin typeface="Times New Roman"/>
                <a:ea typeface="Noto Serif CJK SC"/>
              </a:rPr>
              <a:t>考点二 热化学方程式的书写｜公式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1600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10180015" cy="1417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20000"/>
              </a:lnSpc>
              <a:defRPr sz="3200"/>
            </a:pPr>
            <a:r>
              <a:rPr sz="3200" b="1" u="none">
                <a:solidFill>
                  <a:srgbClr val="1F4E79"/>
                </a:solidFill>
                <a:latin typeface="Times New Roman"/>
                <a:ea typeface="Noto Serif CJK SC"/>
              </a:rPr>
              <a:t>ΔH = ΣE(反应物键能) − ΣE(生成物键能)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E75B6"/>
                </a:solidFill>
                <a:latin typeface="Times New Roman"/>
                <a:ea typeface="Noto Serif CJK SC"/>
              </a:rPr>
              <a:t>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C2B3A"/>
                </a:solidFill>
                <a:latin typeface="Times New Roman"/>
                <a:ea typeface="Noto Serif CJK SC"/>
              </a:rPr>
              <a:t>所有物质均为气态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2E75B6"/>
                </a:solidFill>
                <a:latin typeface="Times New Roman"/>
                <a:ea typeface="Noto Serif CJK SC"/>
              </a:rPr>
              <a:t>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C2B3A"/>
                </a:solidFill>
                <a:latin typeface="Times New Roman"/>
                <a:ea typeface="Noto Serif CJK SC"/>
              </a:rPr>
              <a:t>键能越大，物质越稳定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47472"/>
            <a:ext cx="1865376" cy="585216"/>
          </a:xfrm>
          <a:prstGeom prst="roundRect">
            <a:avLst>
              <a:gd name="adj" fmla="val 3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86537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300"/>
            </a:pPr>
            <a:r>
              <a:rPr sz="2300" b="1" u="none">
                <a:solidFill>
                  <a:srgbClr val="FFFFFF"/>
                </a:solidFill>
                <a:latin typeface="Times New Roman"/>
                <a:ea typeface="Noto Serif CJK SC"/>
              </a:rPr>
              <a:t>精练真题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400"/>
            </a:pPr>
            <a:r>
              <a:rPr sz="2400" b="0" u="none">
                <a:solidFill>
                  <a:srgbClr val="1C2B3A"/>
                </a:solidFill>
                <a:latin typeface="Times New Roman"/>
                <a:ea typeface="Noto Serif CJK SC"/>
              </a:rPr>
              <a:t>1. （2025·山东卷）已知：H₂(g) + ½O₂(g) = H₂O(g)　ΔH₁ = −241.8 kJ·mol⁻¹；H₂O(g) = H₂O(l)　ΔH₂ = −44.0 kJ·mol⁻¹，则 H₂ 的燃烧热为（　　）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400" b="0" u="none">
                <a:solidFill>
                  <a:srgbClr val="1C2B3A"/>
                </a:solidFill>
                <a:latin typeface="Times New Roman"/>
                <a:ea typeface="Noto Serif CJK SC"/>
              </a:rPr>
              <a:t>A. 241.8 kJ·mol⁻¹　B. 285.8 kJ·mol⁻¹　C. 197.8 kJ·mol⁻¹　D. 44.0 kJ·mol⁻¹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75B6"/>
                </a:solidFill>
                <a:latin typeface="Times New Roman"/>
                <a:ea typeface="Noto Serif CJK S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erif CJK SC"/>
              </a:rPr>
              <a:t>参考答案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81160" y="164592"/>
            <a:ext cx="2651760" cy="265176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188720" cy="1188720"/>
          </a:xfrm>
          <a:prstGeom prst="ellipse">
            <a:avLst/>
          </a:prstGeom>
          <a:noFill/>
          <a:ln w="1397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47472"/>
            <a:ext cx="1865376" cy="585216"/>
          </a:xfrm>
          <a:prstGeom prst="roundRect">
            <a:avLst>
              <a:gd name="adj" fmla="val 3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86537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300"/>
            </a:pPr>
            <a:r>
              <a:rPr sz="2300" b="1" u="none">
                <a:solidFill>
                  <a:srgbClr val="FFFFFF"/>
                </a:solidFill>
                <a:latin typeface="Times New Roman"/>
                <a:ea typeface="Noto Serif CJK SC"/>
              </a:rPr>
              <a:t>参考答案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1. B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75B6"/>
                </a:solidFill>
                <a:latin typeface="Times New Roman"/>
                <a:ea typeface="Noto Serif CJK SC"/>
              </a:rPr>
              <a:t>▪ </a:t>
            </a:r>
            <a:r>
              <a:rPr sz="2600" b="1" u="none">
                <a:solidFill>
                  <a:srgbClr val="C00000"/>
                </a:solidFill>
                <a:latin typeface="Times New Roman"/>
                <a:ea typeface="Noto Serif CJK SC"/>
              </a:rPr>
              <a:t>【解析】</a:t>
            </a:r>
            <a:r>
              <a:rPr sz="2600" b="0" u="none">
                <a:solidFill>
                  <a:srgbClr val="1C2B3A"/>
                </a:solidFill>
                <a:latin typeface="Times New Roman"/>
                <a:ea typeface="Noto Serif CJK SC"/>
              </a:rPr>
              <a:t>燃烧热要求生成液态水，ΔH = −(241.8 + 44.0) = −285.8 kJ·mol⁻¹。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1F4E79"/>
                </a:solidFill>
                <a:latin typeface="Times New Roman"/>
                <a:ea typeface="Noto Serif CJK SC"/>
              </a:rPr>
              <a:t>本节课小结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36392"/>
            <a:ext cx="10454335" cy="271576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2E75B6"/>
                </a:solidFill>
                <a:latin typeface="Times New Roman"/>
                <a:ea typeface="Noto Serif CJK SC"/>
              </a:rPr>
              <a:t>✔ </a:t>
            </a:r>
            <a:r>
              <a:rPr sz="2300" b="0" u="none">
                <a:solidFill>
                  <a:srgbClr val="1C2B3A"/>
                </a:solidFill>
                <a:latin typeface="Times New Roman"/>
                <a:ea typeface="Noto Serif CJK SC"/>
              </a:rPr>
              <a:t>理解反应热、焓变的概念，会从宏观与微观两个角度分析吸放热。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2E75B6"/>
                </a:solidFill>
                <a:latin typeface="Times New Roman"/>
                <a:ea typeface="Noto Serif CJK SC"/>
              </a:rPr>
              <a:t>✔ </a:t>
            </a:r>
            <a:r>
              <a:rPr sz="2300" b="0" u="none">
                <a:solidFill>
                  <a:srgbClr val="1C2B3A"/>
                </a:solidFill>
                <a:latin typeface="Times New Roman"/>
                <a:ea typeface="Noto Serif CJK SC"/>
              </a:rPr>
              <a:t>能规范书写热化学方程式（状态、符号、单位、化学计量数）。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063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063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6639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6639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1" u="none">
                <a:solidFill>
                  <a:srgbClr val="FFFFFF"/>
                </a:solidFill>
                <a:latin typeface="Times New Roman"/>
                <a:ea typeface="Noto Serif CJK SC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2159" y="6382512"/>
            <a:ext cx="310896" cy="292608"/>
          </a:xfrm>
          <a:prstGeom prst="roundRect">
            <a:avLst>
              <a:gd name="adj" fmla="val 18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2159" y="6400800"/>
            <a:ext cx="310896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6B7785"/>
                </a:solidFill>
                <a:latin typeface="Times New Roman"/>
                <a:ea typeface="Noto Serif CJK SC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82512"/>
            <a:ext cx="7498079" cy="274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erif CJK SC"/>
              </a:rPr>
              <a:t>胶州四中 · 14. 反应热 热化学方程式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