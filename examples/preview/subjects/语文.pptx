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12700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3152"/>
            <a:ext cx="11057839" cy="32918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300"/>
            </a:pPr>
            <a:r>
              <a:rPr sz="1300" b="1" u="none">
                <a:solidFill>
                  <a:srgbClr val="C00000"/>
                </a:solidFill>
                <a:latin typeface="Times New Roman"/>
                <a:ea typeface="Noto Serif CJK SC"/>
              </a:rPr>
              <a:t>温馨提示：</a:t>
            </a:r>
            <a:r>
              <a:rPr sz="1300" b="0" u="none">
                <a:solidFill>
                  <a:srgbClr val="2B2620"/>
                </a:solidFill>
                <a:latin typeface="Times New Roman"/>
                <a:ea typeface="Noto Serif CJK SC"/>
              </a:rPr>
              <a:t>全体齐声朗诵，落实背诵默写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097280"/>
            <a:ext cx="1042416" cy="475488"/>
          </a:xfrm>
          <a:prstGeom prst="roundRect">
            <a:avLst>
              <a:gd name="adj" fmla="val 25000"/>
            </a:avLst>
          </a:prstGeom>
          <a:solidFill>
            <a:srgbClr val="FFE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24712"/>
            <a:ext cx="1042416" cy="42062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2B2620"/>
                </a:solidFill>
                <a:latin typeface="Times New Roman"/>
                <a:ea typeface="Noto Serif CJK SC"/>
              </a:rPr>
              <a:t>学案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8046518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28000"/>
              </a:lnSpc>
              <a:defRPr sz="3700"/>
            </a:pPr>
            <a:r>
              <a:rPr sz="3700" b="1" u="none">
                <a:solidFill>
                  <a:srgbClr val="2B2620"/>
                </a:solidFill>
                <a:latin typeface="Times New Roman"/>
                <a:ea typeface="Noto Sans CJK SC"/>
              </a:rPr>
              <a:t>一轮复习文言文《师说》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4041648"/>
            <a:ext cx="1005840" cy="28575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773168"/>
            <a:ext cx="5852160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900"/>
            </a:pPr>
            <a:r>
              <a:rPr sz="1900" b="0" u="none">
                <a:solidFill>
                  <a:srgbClr val="4A4034"/>
                </a:solidFill>
                <a:latin typeface="Times New Roman"/>
                <a:ea typeface="Noto Serif CJK SC"/>
              </a:rPr>
              <a:t>高三语文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13248"/>
            <a:ext cx="5852160" cy="457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300"/>
            </a:pPr>
            <a:r>
              <a:rPr sz="1300" b="0" u="none">
                <a:solidFill>
                  <a:srgbClr val="6B6257"/>
                </a:solidFill>
                <a:latin typeface="Times New Roman"/>
                <a:ea typeface="Noto Serif CJK SC"/>
              </a:rPr>
              <a:t>胶州四中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97880"/>
            <a:ext cx="1920240" cy="31089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200"/>
            </a:pPr>
            <a:r>
              <a:rPr sz="1200" b="0" u="none">
                <a:solidFill>
                  <a:srgbClr val="9F5647"/>
                </a:solidFill>
                <a:latin typeface="Times New Roman"/>
                <a:ea typeface="Noto Serif CJK SC"/>
              </a:rPr>
              <a:t>班级：</a:t>
            </a:r>
            <a:r>
              <a:rPr sz="1200" b="0" u="sng">
                <a:solidFill>
                  <a:srgbClr val="2B2620"/>
                </a:solidFill>
                <a:latin typeface="Times New Roman"/>
                <a:ea typeface="Noto Serif CJK SC"/>
              </a:rPr>
              <a:t>　　　　　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897880"/>
            <a:ext cx="1920240" cy="31089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200"/>
            </a:pPr>
            <a:r>
              <a:rPr sz="1200" b="0" u="none">
                <a:solidFill>
                  <a:srgbClr val="9F5647"/>
                </a:solidFill>
                <a:latin typeface="Times New Roman"/>
                <a:ea typeface="Noto Serif CJK SC"/>
              </a:rPr>
              <a:t>主备人：</a:t>
            </a:r>
            <a:r>
              <a:rPr sz="1200" b="0" u="sng">
                <a:solidFill>
                  <a:srgbClr val="2B2620"/>
                </a:solidFill>
                <a:latin typeface="Times New Roman"/>
                <a:ea typeface="Noto Serif CJK SC"/>
              </a:rPr>
              <a:t>　　　　　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5897880"/>
            <a:ext cx="1920240" cy="31089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200"/>
            </a:pPr>
            <a:r>
              <a:rPr sz="1200" b="0" u="none">
                <a:solidFill>
                  <a:srgbClr val="9F5647"/>
                </a:solidFill>
                <a:latin typeface="Times New Roman"/>
                <a:ea typeface="Noto Serif CJK SC"/>
              </a:rPr>
              <a:t>日期：</a:t>
            </a:r>
            <a:r>
              <a:rPr sz="1200" b="0" u="sng">
                <a:solidFill>
                  <a:srgbClr val="2B2620"/>
                </a:solidFill>
                <a:latin typeface="Times New Roman"/>
                <a:ea typeface="Noto Serif CJK SC"/>
              </a:rPr>
              <a:t>　　　　　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331720"/>
            <a:ext cx="128016" cy="1371600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3657600" cy="14630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8800"/>
            </a:pPr>
            <a:r>
              <a:rPr sz="8800" b="1" u="none">
                <a:solidFill>
                  <a:srgbClr val="F7F2E8"/>
                </a:solidFill>
                <a:latin typeface="Times New Roman"/>
                <a:ea typeface="Noto Serif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9905695" cy="10058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3B3226"/>
                </a:solidFill>
                <a:latin typeface="Times New Roman"/>
                <a:ea typeface="Noto Serif CJK SC"/>
              </a:rPr>
              <a:t>学习目标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384048" cy="868680"/>
          </a:xfrm>
          <a:prstGeom prst="roundRect">
            <a:avLst>
              <a:gd name="adj" fmla="val 20000"/>
            </a:avLst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011680"/>
            <a:ext cx="2011680" cy="38404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9F5647"/>
                </a:solidFill>
                <a:latin typeface="Times New Roman"/>
                <a:ea typeface="Noto Serif CJK SC"/>
              </a:rPr>
              <a:t>导入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19920000">
            <a:off x="11018520" y="201168"/>
            <a:ext cx="777240" cy="310896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720000">
            <a:off x="11475720" y="502920"/>
            <a:ext cx="640080" cy="256032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21120000">
            <a:off x="10835640" y="658368"/>
            <a:ext cx="566928" cy="219456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91695" cy="12700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3152"/>
            <a:ext cx="11094415" cy="32918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300"/>
            </a:pPr>
            <a:r>
              <a:rPr sz="1300" b="1" u="none">
                <a:solidFill>
                  <a:srgbClr val="C00000"/>
                </a:solidFill>
                <a:latin typeface="Times New Roman"/>
                <a:ea typeface="Noto Serif CJK SC"/>
              </a:rPr>
              <a:t>温馨提示：</a:t>
            </a:r>
            <a:r>
              <a:rPr sz="1300" b="0" u="none">
                <a:solidFill>
                  <a:srgbClr val="2B2620"/>
                </a:solidFill>
                <a:latin typeface="Times New Roman"/>
                <a:ea typeface="Noto Serif CJK SC"/>
              </a:rPr>
              <a:t>一轮复习文言文《师说》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"/>
            <a:ext cx="9265615" cy="71323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2B2620"/>
                </a:solidFill>
                <a:latin typeface="Times New Roman"/>
                <a:ea typeface="Noto Sans CJK SC"/>
              </a:rPr>
              <a:t>学习目标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9F5647"/>
                </a:solidFill>
                <a:latin typeface="Times New Roman"/>
                <a:ea typeface="Noto Serif CJK SC"/>
              </a:rPr>
              <a:t>▪ </a:t>
            </a:r>
            <a:r>
              <a:rPr sz="2600" b="0" u="none">
                <a:solidFill>
                  <a:srgbClr val="2B2620"/>
                </a:solidFill>
                <a:latin typeface="Times New Roman"/>
                <a:ea typeface="Noto Serif CJK SC"/>
              </a:rPr>
              <a:t>掌握「师、传、道、惑」等 17 个重点实词与 5 个虚词的意义用法。</a:t>
            </a:r>
          </a:p>
          <a:p>
            <a:pPr algn="l" marL="475488" indent="-475488">
              <a:lnSpc>
                <a:spcPct val="135000"/>
              </a:lnSpc>
              <a:spcBef>
                <a:spcPts val="1400"/>
              </a:spcBef>
            </a:pPr>
            <a:r>
              <a:rPr sz="2600" b="0" u="none">
                <a:solidFill>
                  <a:srgbClr val="9F5647"/>
                </a:solidFill>
                <a:latin typeface="Times New Roman"/>
                <a:ea typeface="Noto Serif CJK SC"/>
              </a:rPr>
              <a:t>▪ </a:t>
            </a:r>
            <a:r>
              <a:rPr sz="2600" b="0" u="none">
                <a:solidFill>
                  <a:srgbClr val="2B2620"/>
                </a:solidFill>
                <a:latin typeface="Times New Roman"/>
                <a:ea typeface="Noto Serif CJK SC"/>
              </a:rPr>
              <a:t>能辨析名词意动、形容词作名词等词类活用，并准确翻译四种特殊句式。</a:t>
            </a:r>
          </a:p>
          <a:p>
            <a:pPr algn="l" marL="475488" indent="-475488">
              <a:lnSpc>
                <a:spcPct val="135000"/>
              </a:lnSpc>
              <a:spcBef>
                <a:spcPts val="1400"/>
              </a:spcBef>
            </a:pPr>
            <a:r>
              <a:rPr sz="2600" b="0" u="none">
                <a:solidFill>
                  <a:srgbClr val="9F5647"/>
                </a:solidFill>
                <a:latin typeface="Times New Roman"/>
                <a:ea typeface="Noto Serif CJK SC"/>
              </a:rPr>
              <a:t>▪ </a:t>
            </a:r>
            <a:r>
              <a:rPr sz="2600" b="0" u="none">
                <a:solidFill>
                  <a:srgbClr val="2B2620"/>
                </a:solidFill>
                <a:latin typeface="Times New Roman"/>
                <a:ea typeface="Noto Serif CJK SC"/>
              </a:rPr>
              <a:t>能梳理论证结构，说出「破立结合」的论证特点。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一轮复习文言文《师说》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19920000">
            <a:off x="11018520" y="201168"/>
            <a:ext cx="777240" cy="310896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720000">
            <a:off x="11475720" y="502920"/>
            <a:ext cx="640080" cy="256032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21120000">
            <a:off x="10835640" y="658368"/>
            <a:ext cx="566928" cy="219456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91695" cy="12700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3152"/>
            <a:ext cx="11094415" cy="32918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300"/>
            </a:pPr>
            <a:r>
              <a:rPr sz="1300" b="1" u="none">
                <a:solidFill>
                  <a:srgbClr val="C00000"/>
                </a:solidFill>
                <a:latin typeface="Times New Roman"/>
                <a:ea typeface="Noto Serif CJK SC"/>
              </a:rPr>
              <a:t>温馨提示：</a:t>
            </a:r>
            <a:r>
              <a:rPr sz="1300" b="0" u="none">
                <a:solidFill>
                  <a:srgbClr val="2B2620"/>
                </a:solidFill>
                <a:latin typeface="Times New Roman"/>
                <a:ea typeface="Noto Serif CJK SC"/>
              </a:rPr>
              <a:t>一轮复习文言文《师说》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"/>
            <a:ext cx="9265615" cy="71323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2B2620"/>
                </a:solidFill>
                <a:latin typeface="Times New Roman"/>
                <a:ea typeface="Noto Sans CJK SC"/>
              </a:rPr>
              <a:t>一、重点文言字词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200"/>
            </a:pPr>
            <a:r>
              <a:rPr sz="2200" b="0" u="none">
                <a:solidFill>
                  <a:srgbClr val="2B2620"/>
                </a:solidFill>
                <a:latin typeface="Times New Roman"/>
                <a:ea typeface="Noto Serif CJK SC"/>
              </a:rPr>
              <a:t>1. 古之学者必有师</a:t>
            </a:r>
          </a:p>
          <a:p>
            <a:pPr algn="l" marL="475488" indent="-475488">
              <a:lnSpc>
                <a:spcPct val="135000"/>
              </a:lnSpc>
              <a:spcBef>
                <a:spcPts val="1400"/>
              </a:spcBef>
            </a:pPr>
            <a:r>
              <a:rPr sz="2200" b="0" u="none">
                <a:solidFill>
                  <a:srgbClr val="2B2620"/>
                </a:solidFill>
                <a:latin typeface="Times New Roman"/>
                <a:ea typeface="Noto Serif CJK SC"/>
              </a:rPr>
              <a:t>2. 师者，所以传道受业解惑也</a:t>
            </a:r>
          </a:p>
          <a:p>
            <a:pPr algn="l" marL="475488" indent="-475488">
              <a:lnSpc>
                <a:spcPct val="135000"/>
              </a:lnSpc>
              <a:spcBef>
                <a:spcPts val="1400"/>
              </a:spcBef>
            </a:pPr>
            <a:r>
              <a:rPr sz="2200" b="0" u="none">
                <a:solidFill>
                  <a:srgbClr val="2B2620"/>
                </a:solidFill>
                <a:latin typeface="Times New Roman"/>
                <a:ea typeface="Noto Serif CJK SC"/>
              </a:rPr>
              <a:t>3. 生乎吾前，其闻道也固先乎吾</a:t>
            </a:r>
          </a:p>
          <a:p>
            <a:pPr algn="l" marL="475488" indent="-475488">
              <a:lnSpc>
                <a:spcPct val="135000"/>
              </a:lnSpc>
              <a:spcBef>
                <a:spcPts val="1400"/>
              </a:spcBef>
            </a:pPr>
            <a:r>
              <a:rPr sz="2200" b="0" u="none">
                <a:solidFill>
                  <a:srgbClr val="2B2620"/>
                </a:solidFill>
                <a:latin typeface="Times New Roman"/>
                <a:ea typeface="Noto Serif CJK SC"/>
              </a:rPr>
              <a:t>4. 吾师道也，夫庸知其年之先后生于吾乎</a:t>
            </a:r>
          </a:p>
          <a:p>
            <a:pPr algn="l" marL="475488" indent="-475488">
              <a:lnSpc>
                <a:spcPct val="135000"/>
              </a:lnSpc>
              <a:spcBef>
                <a:spcPts val="1400"/>
              </a:spcBef>
            </a:pPr>
            <a:r>
              <a:rPr sz="2200" b="0" u="none">
                <a:solidFill>
                  <a:srgbClr val="2B2620"/>
                </a:solidFill>
                <a:latin typeface="Times New Roman"/>
                <a:ea typeface="Noto Serif CJK SC"/>
              </a:rPr>
              <a:t>5. 是故无贵无贱，无长无少</a:t>
            </a:r>
          </a:p>
          <a:p>
            <a:pPr algn="l" marL="475488" indent="-475488">
              <a:lnSpc>
                <a:spcPct val="135000"/>
              </a:lnSpc>
              <a:spcBef>
                <a:spcPts val="1400"/>
              </a:spcBef>
            </a:pPr>
            <a:r>
              <a:rPr sz="2200" b="0" u="none">
                <a:solidFill>
                  <a:srgbClr val="2B2620"/>
                </a:solidFill>
                <a:latin typeface="Times New Roman"/>
                <a:ea typeface="Noto Serif CJK SC"/>
              </a:rPr>
              <a:t>6. 今之众人，其下圣人也亦远矣</a:t>
            </a:r>
          </a:p>
          <a:p>
            <a:pPr algn="l" marL="475488" indent="-475488">
              <a:lnSpc>
                <a:spcPct val="135000"/>
              </a:lnSpc>
              <a:spcBef>
                <a:spcPts val="1400"/>
              </a:spcBef>
            </a:pPr>
            <a:r>
              <a:rPr sz="2200" b="0" u="none">
                <a:solidFill>
                  <a:srgbClr val="2B2620"/>
                </a:solidFill>
                <a:latin typeface="Times New Roman"/>
                <a:ea typeface="Noto Serif CJK SC"/>
              </a:rPr>
              <a:t>7. 圣人之所以为圣，愚人之所以为愚，其皆出于此乎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一轮复习文言文《师说》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19920000">
            <a:off x="11018520" y="201168"/>
            <a:ext cx="777240" cy="310896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720000">
            <a:off x="11475720" y="502920"/>
            <a:ext cx="640080" cy="256032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21120000">
            <a:off x="10835640" y="658368"/>
            <a:ext cx="566928" cy="219456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91695" cy="12700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3152"/>
            <a:ext cx="11094415" cy="32918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300"/>
            </a:pPr>
            <a:r>
              <a:rPr sz="1300" b="1" u="none">
                <a:solidFill>
                  <a:srgbClr val="C00000"/>
                </a:solidFill>
                <a:latin typeface="Times New Roman"/>
                <a:ea typeface="Noto Serif CJK SC"/>
              </a:rPr>
              <a:t>温馨提示：</a:t>
            </a:r>
            <a:r>
              <a:rPr sz="1300" b="0" u="none">
                <a:solidFill>
                  <a:srgbClr val="2B2620"/>
                </a:solidFill>
                <a:latin typeface="Times New Roman"/>
                <a:ea typeface="Noto Serif CJK SC"/>
              </a:rPr>
              <a:t>一轮复习文言文《师说》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"/>
            <a:ext cx="9265615" cy="71323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2B2620"/>
                </a:solidFill>
                <a:latin typeface="Times New Roman"/>
                <a:ea typeface="Noto Sans CJK SC"/>
              </a:rPr>
              <a:t>二、词类活用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400"/>
            </a:pPr>
            <a:r>
              <a:rPr sz="2400" b="0" u="none">
                <a:solidFill>
                  <a:srgbClr val="2B2620"/>
                </a:solidFill>
                <a:latin typeface="Times New Roman"/>
                <a:ea typeface="Noto Serif CJK SC"/>
              </a:rPr>
              <a:t>1. 吾从而师之（名词的意动用法：以……为师）</a:t>
            </a:r>
          </a:p>
          <a:p>
            <a:pPr algn="l" marL="475488" indent="-475488">
              <a:lnSpc>
                <a:spcPct val="135000"/>
              </a:lnSpc>
              <a:spcBef>
                <a:spcPts val="1400"/>
              </a:spcBef>
            </a:pPr>
            <a:r>
              <a:rPr sz="2400" b="0" u="none">
                <a:solidFill>
                  <a:srgbClr val="2B2620"/>
                </a:solidFill>
                <a:latin typeface="Times New Roman"/>
                <a:ea typeface="Noto Serif CJK SC"/>
              </a:rPr>
              <a:t>2. 其下圣人也亦远矣（名词作动词：低于）</a:t>
            </a:r>
          </a:p>
          <a:p>
            <a:pPr algn="l" marL="475488" indent="-475488">
              <a:lnSpc>
                <a:spcPct val="135000"/>
              </a:lnSpc>
              <a:spcBef>
                <a:spcPts val="1400"/>
              </a:spcBef>
            </a:pPr>
            <a:r>
              <a:rPr sz="2400" b="0" u="none">
                <a:solidFill>
                  <a:srgbClr val="2B2620"/>
                </a:solidFill>
                <a:latin typeface="Times New Roman"/>
                <a:ea typeface="Noto Serif CJK SC"/>
              </a:rPr>
              <a:t>3. 是故圣益圣，愚益愚（形容词作名词：圣人、愚人）</a:t>
            </a:r>
          </a:p>
          <a:p>
            <a:pPr algn="l" marL="475488" indent="-475488">
              <a:lnSpc>
                <a:spcPct val="135000"/>
              </a:lnSpc>
              <a:spcBef>
                <a:spcPts val="1400"/>
              </a:spcBef>
            </a:pPr>
            <a:r>
              <a:rPr sz="2400" b="0" u="none">
                <a:solidFill>
                  <a:srgbClr val="2B2620"/>
                </a:solidFill>
                <a:latin typeface="Times New Roman"/>
                <a:ea typeface="Noto Serif CJK SC"/>
              </a:rPr>
              <a:t>4. 小学而大遗（形容词作名词：小的方面、大的方面）</a:t>
            </a:r>
          </a:p>
          <a:p>
            <a:pPr algn="l" marL="475488" indent="-475488">
              <a:lnSpc>
                <a:spcPct val="135000"/>
              </a:lnSpc>
              <a:spcBef>
                <a:spcPts val="1400"/>
              </a:spcBef>
            </a:pPr>
            <a:r>
              <a:rPr sz="2400" b="0" u="none">
                <a:solidFill>
                  <a:srgbClr val="2B2620"/>
                </a:solidFill>
                <a:latin typeface="Times New Roman"/>
                <a:ea typeface="Noto Serif CJK SC"/>
              </a:rPr>
              <a:t>5. 君子不齿（名词作动词：并列、排列）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一轮复习文言文《师说》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19920000">
            <a:off x="11018520" y="201168"/>
            <a:ext cx="777240" cy="310896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720000">
            <a:off x="11475720" y="502920"/>
            <a:ext cx="640080" cy="256032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21120000">
            <a:off x="10835640" y="658368"/>
            <a:ext cx="566928" cy="219456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91695" cy="12700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3152"/>
            <a:ext cx="11094415" cy="32918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300"/>
            </a:pPr>
            <a:r>
              <a:rPr sz="1300" b="1" u="none">
                <a:solidFill>
                  <a:srgbClr val="C00000"/>
                </a:solidFill>
                <a:latin typeface="Times New Roman"/>
                <a:ea typeface="Noto Serif CJK SC"/>
              </a:rPr>
              <a:t>温馨提示：</a:t>
            </a:r>
            <a:r>
              <a:rPr sz="1300" b="0" u="none">
                <a:solidFill>
                  <a:srgbClr val="2B2620"/>
                </a:solidFill>
                <a:latin typeface="Times New Roman"/>
                <a:ea typeface="Noto Serif CJK SC"/>
              </a:rPr>
              <a:t>一轮复习文言文《师说》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"/>
            <a:ext cx="9265615" cy="71323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2B2620"/>
                </a:solidFill>
                <a:latin typeface="Times New Roman"/>
                <a:ea typeface="Noto Sans CJK SC"/>
              </a:rPr>
              <a:t>三、特殊句式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9F5647"/>
                </a:solidFill>
                <a:latin typeface="Times New Roman"/>
                <a:ea typeface="Noto Serif CJK SC"/>
              </a:rPr>
              <a:t>▪ </a:t>
            </a:r>
            <a:r>
              <a:rPr sz="2600" b="0" u="none">
                <a:solidFill>
                  <a:srgbClr val="2B2620"/>
                </a:solidFill>
                <a:latin typeface="Times New Roman"/>
                <a:ea typeface="Noto Serif CJK SC"/>
              </a:rPr>
              <a:t>判断句：师者，所以传道受业解惑也。</a:t>
            </a:r>
          </a:p>
          <a:p>
            <a:pPr algn="l" marL="475488" indent="-475488">
              <a:lnSpc>
                <a:spcPct val="135000"/>
              </a:lnSpc>
              <a:spcBef>
                <a:spcPts val="1400"/>
              </a:spcBef>
            </a:pPr>
            <a:r>
              <a:rPr sz="2600" b="0" u="none">
                <a:solidFill>
                  <a:srgbClr val="9F5647"/>
                </a:solidFill>
                <a:latin typeface="Times New Roman"/>
                <a:ea typeface="Noto Serif CJK SC"/>
              </a:rPr>
              <a:t>▪ </a:t>
            </a:r>
            <a:r>
              <a:rPr sz="2600" b="0" u="none">
                <a:solidFill>
                  <a:srgbClr val="2B2620"/>
                </a:solidFill>
                <a:latin typeface="Times New Roman"/>
                <a:ea typeface="Noto Serif CJK SC"/>
              </a:rPr>
              <a:t>宾语前置：句读之不知，惑之不解。</a:t>
            </a:r>
          </a:p>
          <a:p>
            <a:pPr algn="l" marL="475488" indent="-475488">
              <a:lnSpc>
                <a:spcPct val="135000"/>
              </a:lnSpc>
              <a:spcBef>
                <a:spcPts val="1400"/>
              </a:spcBef>
            </a:pPr>
            <a:r>
              <a:rPr sz="2600" b="0" u="none">
                <a:solidFill>
                  <a:srgbClr val="9F5647"/>
                </a:solidFill>
                <a:latin typeface="Times New Roman"/>
                <a:ea typeface="Noto Serif CJK SC"/>
              </a:rPr>
              <a:t>▪ </a:t>
            </a:r>
            <a:r>
              <a:rPr sz="2600" b="0" u="none">
                <a:solidFill>
                  <a:srgbClr val="2B2620"/>
                </a:solidFill>
                <a:latin typeface="Times New Roman"/>
                <a:ea typeface="Noto Serif CJK SC"/>
              </a:rPr>
              <a:t>被动句：不拘于时。</a:t>
            </a:r>
          </a:p>
          <a:p>
            <a:pPr algn="l" marL="475488" indent="-475488">
              <a:lnSpc>
                <a:spcPct val="135000"/>
              </a:lnSpc>
              <a:spcBef>
                <a:spcPts val="1400"/>
              </a:spcBef>
            </a:pPr>
            <a:r>
              <a:rPr sz="2600" b="0" u="none">
                <a:solidFill>
                  <a:srgbClr val="9F5647"/>
                </a:solidFill>
                <a:latin typeface="Times New Roman"/>
                <a:ea typeface="Noto Serif CJK SC"/>
              </a:rPr>
              <a:t>▪ </a:t>
            </a:r>
            <a:r>
              <a:rPr sz="2600" b="0" u="none">
                <a:solidFill>
                  <a:srgbClr val="2B2620"/>
                </a:solidFill>
                <a:latin typeface="Times New Roman"/>
                <a:ea typeface="Noto Serif CJK SC"/>
              </a:rPr>
              <a:t>状语后置：学于余。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一轮复习文言文《师说》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19920000">
            <a:off x="11018520" y="201168"/>
            <a:ext cx="777240" cy="310896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720000">
            <a:off x="11475720" y="502920"/>
            <a:ext cx="640080" cy="256032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21120000">
            <a:off x="10835640" y="658368"/>
            <a:ext cx="566928" cy="219456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91695" cy="12700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3152"/>
            <a:ext cx="11094415" cy="32918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300"/>
            </a:pPr>
            <a:r>
              <a:rPr sz="1300" b="1" u="none">
                <a:solidFill>
                  <a:srgbClr val="C00000"/>
                </a:solidFill>
                <a:latin typeface="Times New Roman"/>
                <a:ea typeface="Noto Serif CJK SC"/>
              </a:rPr>
              <a:t>温馨提示：</a:t>
            </a:r>
            <a:r>
              <a:rPr sz="1300" b="0" u="none">
                <a:solidFill>
                  <a:srgbClr val="2B2620"/>
                </a:solidFill>
                <a:latin typeface="Times New Roman"/>
                <a:ea typeface="Noto Serif CJK SC"/>
              </a:rPr>
              <a:t>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"/>
            <a:ext cx="9265615" cy="71323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2B2620"/>
                </a:solidFill>
                <a:latin typeface="Times New Roman"/>
                <a:ea typeface="Noto Sans CJK SC"/>
              </a:rPr>
              <a:t>三、特殊句式｜引文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463040"/>
            <a:ext cx="10545775" cy="420624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463040"/>
            <a:ext cx="73152" cy="4206240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600200"/>
            <a:ext cx="9539935" cy="39319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85000"/>
              </a:lnSpc>
              <a:defRPr sz="2600"/>
            </a:pPr>
            <a:r>
              <a:rPr sz="2600" b="0" u="none">
                <a:solidFill>
                  <a:srgbClr val="2B2620"/>
                </a:solidFill>
                <a:latin typeface="Times New Roman"/>
                <a:ea typeface="Noto Serif CJK SC"/>
              </a:rPr>
              <a:t>师者，所以传道受业解惑也。……道之所存，师之所存也。（节选）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440680"/>
            <a:ext cx="9082735" cy="3657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300"/>
            </a:pPr>
            <a:r>
              <a:rPr sz="1300" b="0" u="none">
                <a:solidFill>
                  <a:srgbClr val="6B6257"/>
                </a:solidFill>
                <a:latin typeface="Times New Roman"/>
                <a:ea typeface="Noto Sans CJK SC"/>
              </a:rPr>
              <a:t>—— 韩愈《师说》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一轮复习文言文《师说》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19920000">
            <a:off x="11018520" y="201168"/>
            <a:ext cx="777240" cy="310896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720000">
            <a:off x="11475720" y="502920"/>
            <a:ext cx="640080" cy="256032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21120000">
            <a:off x="10835640" y="658368"/>
            <a:ext cx="566928" cy="219456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91695" cy="12700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3152"/>
            <a:ext cx="11094415" cy="32918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300"/>
            </a:pPr>
            <a:r>
              <a:rPr sz="1300" b="1" u="none">
                <a:solidFill>
                  <a:srgbClr val="C00000"/>
                </a:solidFill>
                <a:latin typeface="Times New Roman"/>
                <a:ea typeface="Noto Serif CJK SC"/>
              </a:rPr>
              <a:t>温馨提示：</a:t>
            </a:r>
            <a:r>
              <a:rPr sz="1300" b="0" u="none">
                <a:solidFill>
                  <a:srgbClr val="2B2620"/>
                </a:solidFill>
                <a:latin typeface="Times New Roman"/>
                <a:ea typeface="Noto Serif CJK SC"/>
              </a:rPr>
              <a:t>归纳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"/>
            <a:ext cx="9265615" cy="71323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2B2620"/>
                </a:solidFill>
                <a:latin typeface="Times New Roman"/>
                <a:ea typeface="Noto Sans CJK SC"/>
              </a:rPr>
              <a:t>四、论证结构｜概念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2847" y="1325880"/>
            <a:ext cx="2286000" cy="713232"/>
          </a:xfrm>
          <a:prstGeom prst="roundRect">
            <a:avLst>
              <a:gd name="adj" fmla="val 18000"/>
            </a:avLst>
          </a:prstGeom>
          <a:solidFill>
            <a:srgbClr val="3B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2847" y="1325880"/>
            <a:ext cx="2286000" cy="71323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2000"/>
            </a:pPr>
            <a:r>
              <a:rPr sz="2000" b="1" u="none">
                <a:solidFill>
                  <a:srgbClr val="FFFFFF"/>
                </a:solidFill>
                <a:latin typeface="Times New Roman"/>
                <a:ea typeface="Noto Serif CJK SC"/>
              </a:rPr>
              <a:t>师道之不传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9497" y="2039112"/>
            <a:ext cx="12700" cy="256032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63040" y="2295144"/>
            <a:ext cx="9265615" cy="12700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1839" y="2295144"/>
            <a:ext cx="12700" cy="310896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606040"/>
            <a:ext cx="3393338" cy="3291840"/>
          </a:xfrm>
          <a:prstGeom prst="roundRect">
            <a:avLst>
              <a:gd name="adj" fmla="val 5000"/>
            </a:avLst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734056"/>
            <a:ext cx="3064154" cy="3657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3B3226"/>
                </a:solidFill>
                <a:latin typeface="Times New Roman"/>
                <a:ea typeface="Noto Serif CJK SC"/>
              </a:rPr>
              <a:t>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72968"/>
            <a:ext cx="3027578" cy="2560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256032" indent="-256032">
              <a:lnSpc>
                <a:spcPct val="135000"/>
              </a:lnSpc>
              <a:defRPr sz="1400"/>
            </a:pPr>
            <a:r>
              <a:rPr sz="1400" b="0" u="none">
                <a:solidFill>
                  <a:srgbClr val="9F5647"/>
                </a:solidFill>
                <a:latin typeface="Times New Roman"/>
                <a:ea typeface="Noto Serif CJK SC"/>
              </a:rPr>
              <a:t>· </a:t>
            </a:r>
            <a:r>
              <a:rPr sz="1400" b="0" u="none">
                <a:solidFill>
                  <a:srgbClr val="2B2620"/>
                </a:solidFill>
                <a:latin typeface="Times New Roman"/>
                <a:ea typeface="Noto Serif CJK SC"/>
              </a:rPr>
              <a:t>耻学于师之弊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9497" y="2295144"/>
            <a:ext cx="12700" cy="310896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99178" y="2606040"/>
            <a:ext cx="3393338" cy="3291840"/>
          </a:xfrm>
          <a:prstGeom prst="roundRect">
            <a:avLst>
              <a:gd name="adj" fmla="val 5000"/>
            </a:avLst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3770" y="2734056"/>
            <a:ext cx="3064154" cy="3657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3B3226"/>
                </a:solidFill>
                <a:latin typeface="Times New Roman"/>
                <a:ea typeface="Noto Serif CJK SC"/>
              </a:rPr>
              <a:t>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2058" y="3172968"/>
            <a:ext cx="3027578" cy="2560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256032" indent="-256032">
              <a:lnSpc>
                <a:spcPct val="135000"/>
              </a:lnSpc>
              <a:defRPr sz="1400"/>
            </a:pPr>
            <a:r>
              <a:rPr sz="1400" b="0" u="none">
                <a:solidFill>
                  <a:srgbClr val="9F5647"/>
                </a:solidFill>
                <a:latin typeface="Times New Roman"/>
                <a:ea typeface="Noto Serif CJK SC"/>
              </a:rPr>
              <a:t>· </a:t>
            </a:r>
            <a:r>
              <a:rPr sz="1400" b="0" u="none">
                <a:solidFill>
                  <a:srgbClr val="2B2620"/>
                </a:solidFill>
                <a:latin typeface="Times New Roman"/>
                <a:ea typeface="Noto Serif CJK SC"/>
              </a:rPr>
              <a:t>从师而学之理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57155" y="2295144"/>
            <a:ext cx="12700" cy="310896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66836" y="2606040"/>
            <a:ext cx="3393338" cy="3291840"/>
          </a:xfrm>
          <a:prstGeom prst="roundRect">
            <a:avLst>
              <a:gd name="adj" fmla="val 5000"/>
            </a:avLst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1428" y="2734056"/>
            <a:ext cx="3064154" cy="3657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3B3226"/>
                </a:solidFill>
                <a:latin typeface="Times New Roman"/>
                <a:ea typeface="Noto Serif CJK SC"/>
              </a:rPr>
              <a:t>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9716" y="3172968"/>
            <a:ext cx="3027578" cy="2560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256032" indent="-256032">
              <a:lnSpc>
                <a:spcPct val="135000"/>
              </a:lnSpc>
              <a:defRPr sz="1400"/>
            </a:pPr>
            <a:r>
              <a:rPr sz="1400" b="0" u="none">
                <a:solidFill>
                  <a:srgbClr val="9F5647"/>
                </a:solidFill>
                <a:latin typeface="Times New Roman"/>
                <a:ea typeface="Noto Serif CJK SC"/>
              </a:rPr>
              <a:t>· </a:t>
            </a:r>
            <a:r>
              <a:rPr sz="1400" b="0" u="none">
                <a:solidFill>
                  <a:srgbClr val="2B2620"/>
                </a:solidFill>
                <a:latin typeface="Times New Roman"/>
                <a:ea typeface="Noto Serif CJK SC"/>
              </a:rPr>
              <a:t>圣人无常师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一轮复习文言文《师说》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B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985455" cy="56692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3B3226"/>
                </a:solidFill>
                <a:latin typeface="Times New Roman"/>
                <a:ea typeface="Noto Serif CJK SC"/>
              </a:rPr>
              <a:t>五、当堂检测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66399" y="384048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66399" y="402336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Noto Serif CJK SC"/>
              </a:rPr>
              <a:t>练习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94415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2B2620"/>
                </a:solidFill>
                <a:latin typeface="Times New Roman"/>
                <a:ea typeface="Noto Serif CJK SC"/>
              </a:rPr>
              <a:t>1. 下列句中加点词的意义和用法相同的一项是（　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49806"/>
            <a:ext cx="5437479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800"/>
            </a:pPr>
            <a:r>
              <a:rPr sz="1800" b="1" u="none">
                <a:solidFill>
                  <a:srgbClr val="9F5647"/>
                </a:solidFill>
                <a:latin typeface="Times New Roman"/>
                <a:ea typeface="Noto Serif CJK SC"/>
              </a:rPr>
              <a:t>A．</a:t>
            </a:r>
            <a:r>
              <a:rPr sz="1800" b="0" u="none">
                <a:solidFill>
                  <a:srgbClr val="2B2620"/>
                </a:solidFill>
                <a:latin typeface="Times New Roman"/>
                <a:ea typeface="Noto Serif CJK SC"/>
              </a:rPr>
              <a:t>师道之不传也久矣／句读之不知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1749806"/>
            <a:ext cx="5437479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800"/>
            </a:pPr>
            <a:r>
              <a:rPr sz="1800" b="1" u="none">
                <a:solidFill>
                  <a:srgbClr val="9F5647"/>
                </a:solidFill>
                <a:latin typeface="Times New Roman"/>
                <a:ea typeface="Noto Serif CJK SC"/>
              </a:rPr>
              <a:t>B．</a:t>
            </a:r>
            <a:r>
              <a:rPr sz="1800" b="0" u="none">
                <a:solidFill>
                  <a:srgbClr val="2B2620"/>
                </a:solidFill>
                <a:latin typeface="Times New Roman"/>
                <a:ea typeface="Noto Serif CJK SC"/>
              </a:rPr>
              <a:t>其闻道也固先乎吾／其皆出于此乎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44166"/>
            <a:ext cx="5437479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800"/>
            </a:pPr>
            <a:r>
              <a:rPr sz="1800" b="1" u="none">
                <a:solidFill>
                  <a:srgbClr val="9F5647"/>
                </a:solidFill>
                <a:latin typeface="Times New Roman"/>
                <a:ea typeface="Noto Serif CJK SC"/>
              </a:rPr>
              <a:t>C．</a:t>
            </a:r>
            <a:r>
              <a:rPr sz="1800" b="0" u="none">
                <a:solidFill>
                  <a:srgbClr val="2B2620"/>
                </a:solidFill>
                <a:latin typeface="Times New Roman"/>
                <a:ea typeface="Noto Serif CJK SC"/>
              </a:rPr>
              <a:t>于其身也，则耻师焉／不拘于时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2344166"/>
            <a:ext cx="5437479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800"/>
            </a:pPr>
            <a:r>
              <a:rPr sz="1800" b="1" u="none">
                <a:solidFill>
                  <a:srgbClr val="9F5647"/>
                </a:solidFill>
                <a:latin typeface="Times New Roman"/>
                <a:ea typeface="Noto Serif CJK SC"/>
              </a:rPr>
              <a:t>D．</a:t>
            </a:r>
            <a:r>
              <a:rPr sz="1800" b="0" u="none">
                <a:solidFill>
                  <a:srgbClr val="2B2620"/>
                </a:solidFill>
                <a:latin typeface="Times New Roman"/>
                <a:ea typeface="Noto Serif CJK SC"/>
              </a:rPr>
              <a:t>吾从而师之／巫医乐师百工之人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一轮复习文言文《师说》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B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985455" cy="56692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3B3226"/>
                </a:solidFill>
                <a:latin typeface="Times New Roman"/>
                <a:ea typeface="Noto Serif CJK SC"/>
              </a:rPr>
              <a:t>五、当堂检测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66399" y="384048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66399" y="402336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Noto Serif CJK SC"/>
              </a:rPr>
              <a:t>练习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94415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2B2620"/>
                </a:solidFill>
                <a:latin typeface="Times New Roman"/>
                <a:ea typeface="Noto Serif CJK SC"/>
              </a:rPr>
              <a:t>2. 翻译：是故弟子不必不如师，师不必贤于弟子。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一轮复习文言文《师说》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331720"/>
            <a:ext cx="128016" cy="1371600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3657600" cy="14630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8800"/>
            </a:pPr>
            <a:r>
              <a:rPr sz="8800" b="1" u="none">
                <a:solidFill>
                  <a:srgbClr val="F7F2E8"/>
                </a:solidFill>
                <a:latin typeface="Times New Roman"/>
                <a:ea typeface="Noto Serif CJK SC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9905695" cy="10058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3B3226"/>
                </a:solidFill>
                <a:latin typeface="Times New Roman"/>
                <a:ea typeface="Noto Serif CJK SC"/>
              </a:rPr>
              <a:t>参考答案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19920000">
            <a:off x="11018520" y="201168"/>
            <a:ext cx="777240" cy="310896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720000">
            <a:off x="11475720" y="502920"/>
            <a:ext cx="640080" cy="256032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21120000">
            <a:off x="10835640" y="658368"/>
            <a:ext cx="566928" cy="219456"/>
          </a:xfrm>
          <a:prstGeom prst="ellipse">
            <a:avLst/>
          </a:prstGeom>
          <a:solidFill>
            <a:srgbClr val="E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91695" cy="12700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3152"/>
            <a:ext cx="11094415" cy="32918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300"/>
            </a:pPr>
            <a:r>
              <a:rPr sz="1300" b="1" u="none">
                <a:solidFill>
                  <a:srgbClr val="C00000"/>
                </a:solidFill>
                <a:latin typeface="Times New Roman"/>
                <a:ea typeface="Noto Serif CJK SC"/>
              </a:rPr>
              <a:t>温馨提示：</a:t>
            </a:r>
            <a:r>
              <a:rPr sz="1300" b="0" u="none">
                <a:solidFill>
                  <a:srgbClr val="2B2620"/>
                </a:solidFill>
                <a:latin typeface="Times New Roman"/>
                <a:ea typeface="Noto Serif CJK SC"/>
              </a:rPr>
              <a:t>一轮复习文言文《师说》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"/>
            <a:ext cx="9265615" cy="71323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2B2620"/>
                </a:solidFill>
                <a:latin typeface="Times New Roman"/>
                <a:ea typeface="Noto Sans CJK SC"/>
              </a:rPr>
              <a:t>参考答案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2B2620"/>
                </a:solidFill>
                <a:latin typeface="Times New Roman"/>
                <a:ea typeface="Noto Serif CJK SC"/>
              </a:rPr>
              <a:t>1. A</a:t>
            </a:r>
          </a:p>
          <a:p>
            <a:pPr algn="l" marL="475488" indent="-475488">
              <a:lnSpc>
                <a:spcPct val="135000"/>
              </a:lnSpc>
              <a:spcBef>
                <a:spcPts val="1400"/>
              </a:spcBef>
            </a:pPr>
            <a:r>
              <a:rPr sz="2600" b="0" u="none">
                <a:solidFill>
                  <a:srgbClr val="2B2620"/>
                </a:solidFill>
                <a:latin typeface="Times New Roman"/>
                <a:ea typeface="Noto Serif CJK SC"/>
              </a:rPr>
              <a:t>2. 因此学生不一定不如老师，老师也不一定比学生贤能。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一轮复习文言文《师说》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F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637215" cy="822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3800"/>
            </a:pPr>
            <a:r>
              <a:rPr sz="3800" b="1" u="none">
                <a:solidFill>
                  <a:srgbClr val="3B3226"/>
                </a:solidFill>
                <a:latin typeface="Times New Roman"/>
                <a:ea typeface="Noto Serif CJK SC"/>
              </a:rPr>
              <a:t>本节课小结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52928"/>
            <a:ext cx="10454335" cy="299923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11480" indent="-411480">
              <a:lnSpc>
                <a:spcPct val="135000"/>
              </a:lnSpc>
              <a:defRPr sz="2300"/>
            </a:pPr>
            <a:r>
              <a:rPr sz="2300" b="0" u="none">
                <a:solidFill>
                  <a:srgbClr val="9F5647"/>
                </a:solidFill>
                <a:latin typeface="Times New Roman"/>
                <a:ea typeface="Noto Serif CJK SC"/>
              </a:rPr>
              <a:t>✔ </a:t>
            </a:r>
            <a:r>
              <a:rPr sz="2300" b="0" u="none">
                <a:solidFill>
                  <a:srgbClr val="2B2620"/>
                </a:solidFill>
                <a:latin typeface="Times New Roman"/>
                <a:ea typeface="Noto Serif CJK SC"/>
              </a:rPr>
              <a:t>掌握「师、传、道、惑」等 17 个重点实词与 5 个虚词的意义用法。</a:t>
            </a:r>
          </a:p>
          <a:p>
            <a:pPr algn="l" marL="411480" indent="-411480">
              <a:lnSpc>
                <a:spcPct val="135000"/>
              </a:lnSpc>
              <a:spcBef>
                <a:spcPts val="1000"/>
              </a:spcBef>
            </a:pPr>
            <a:r>
              <a:rPr sz="2300" b="0" u="none">
                <a:solidFill>
                  <a:srgbClr val="9F5647"/>
                </a:solidFill>
                <a:latin typeface="Times New Roman"/>
                <a:ea typeface="Noto Serif CJK SC"/>
              </a:rPr>
              <a:t>✔ </a:t>
            </a:r>
            <a:r>
              <a:rPr sz="2300" b="0" u="none">
                <a:solidFill>
                  <a:srgbClr val="2B2620"/>
                </a:solidFill>
                <a:latin typeface="Times New Roman"/>
                <a:ea typeface="Noto Serif CJK SC"/>
              </a:rPr>
              <a:t>能辨析名词意动、形容词作名词等词类活用，并准确翻译四种特殊句式。</a:t>
            </a:r>
          </a:p>
          <a:p>
            <a:pPr algn="l" marL="411480" indent="-411480">
              <a:lnSpc>
                <a:spcPct val="135000"/>
              </a:lnSpc>
              <a:spcBef>
                <a:spcPts val="1000"/>
              </a:spcBef>
            </a:pPr>
            <a:r>
              <a:rPr sz="2300" b="0" u="none">
                <a:solidFill>
                  <a:srgbClr val="9F5647"/>
                </a:solidFill>
                <a:latin typeface="Times New Roman"/>
                <a:ea typeface="Noto Serif CJK SC"/>
              </a:rPr>
              <a:t>✔ </a:t>
            </a:r>
            <a:r>
              <a:rPr sz="2300" b="0" u="none">
                <a:solidFill>
                  <a:srgbClr val="2B2620"/>
                </a:solidFill>
                <a:latin typeface="Times New Roman"/>
                <a:ea typeface="Noto Serif CJK SC"/>
              </a:rPr>
              <a:t>能梳理论证结构，说出「破立结合」的论证特点。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54335" cy="34747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400"/>
            </a:pPr>
            <a:r>
              <a:rPr sz="1400" b="0" u="none">
                <a:solidFill>
                  <a:srgbClr val="64748B"/>
                </a:solidFill>
                <a:latin typeface="Times New Roman"/>
                <a:ea typeface="Noto Serif CJK SC"/>
              </a:rPr>
              <a:t>胶州四中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5989320"/>
            <a:ext cx="685800" cy="34747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400"/>
            </a:pPr>
            <a:r>
              <a:rPr sz="1400" b="0" u="none">
                <a:solidFill>
                  <a:srgbClr val="64748B"/>
                </a:solidFill>
                <a:latin typeface="Times New Roman"/>
                <a:ea typeface="Noto Serif CJK SC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