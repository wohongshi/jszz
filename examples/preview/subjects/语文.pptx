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25735" y="960120"/>
            <a:ext cx="1371600" cy="4754880"/>
          </a:xfrm>
          <a:prstGeom prst="rect">
            <a:avLst/>
          </a:prstGeom>
          <a:noFill/>
        </p:spPr>
        <p:txBody>
          <a:bodyPr wrap="none" anchor="t" lIns="54864" rIns="54864" tIns="0" bIns="0" vert="eaVert">
            <a:spAutoFit/>
          </a:bodyPr>
          <a:lstStyle/>
          <a:p>
            <a:pPr algn="ctr">
              <a:lnSpc>
                <a:spcPct val="100000"/>
              </a:lnSpc>
              <a:defRPr sz="2800"/>
            </a:pPr>
            <a:r>
              <a:rPr sz="2800" b="1" u="none">
                <a:solidFill>
                  <a:srgbClr val="1C1B19"/>
                </a:solidFill>
                <a:latin typeface="Times New Roman"/>
                <a:ea typeface="Noto Serif CJK SC"/>
              </a:rPr>
              <a:t>一轮复习文言文《师说》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91495" y="50749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91495" y="5166360"/>
            <a:ext cx="658368" cy="5029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4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erif CJK SC"/>
              </a:rPr>
              <a:t>语
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5852160" cy="6400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000"/>
            </a:pPr>
            <a:r>
              <a:rPr sz="2000" b="0" u="none">
                <a:solidFill>
                  <a:srgbClr val="4A4034"/>
                </a:solidFill>
                <a:latin typeface="Times New Roman"/>
                <a:ea typeface="Noto Serif CJK SC"/>
              </a:rPr>
              <a:t>高三语文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514600"/>
            <a:ext cx="1005840" cy="28575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5852160" cy="23774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60000"/>
              </a:lnSpc>
              <a:defRPr sz="1300"/>
            </a:pPr>
            <a:r>
              <a:rPr sz="1300" b="0" u="none">
                <a:solidFill>
                  <a:srgbClr val="6B6257"/>
                </a:solidFill>
                <a:latin typeface="Times New Roman"/>
                <a:ea typeface="Noto Serif CJK SC"/>
              </a:rPr>
              <a:t>胶州四中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3657600" cy="1554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9200"/>
            </a:pPr>
            <a:r>
              <a:rPr sz="9200" b="1" u="none">
                <a:solidFill>
                  <a:srgbClr val="A6322A"/>
                </a:solidFill>
                <a:latin typeface="Times New Roman"/>
                <a:ea typeface="Noto Serif CJK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34640"/>
            <a:ext cx="10180015" cy="10972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FFFFFF"/>
                </a:solidFill>
                <a:latin typeface="Times New Roman"/>
                <a:ea typeface="Noto Serif CJK SC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688775" y="2011680"/>
            <a:ext cx="365760" cy="2377440"/>
          </a:xfrm>
          <a:prstGeom prst="roundRect">
            <a:avLst>
              <a:gd name="adj" fmla="val 20000"/>
            </a:avLst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88775" y="2103120"/>
            <a:ext cx="365760" cy="2194560"/>
          </a:xfrm>
          <a:prstGeom prst="rect">
            <a:avLst/>
          </a:prstGeom>
          <a:noFill/>
        </p:spPr>
        <p:txBody>
          <a:bodyPr wrap="square" anchor="ctr" lIns="54864" rIns="54864" tIns="0" bIns="0" vert="eaVert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erif CJK SC"/>
              </a:rPr>
              <a:t>导入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688775" y="457200"/>
            <a:ext cx="73152" cy="1463040"/>
          </a:xfrm>
          <a:prstGeom prst="rect">
            <a:avLst/>
          </a:prstGeom>
          <a:solidFill>
            <a:srgbClr val="D9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530352"/>
            <a:ext cx="54864" cy="43891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9631375" cy="5029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C1B19"/>
                </a:solidFill>
                <a:latin typeface="Times New Roman"/>
                <a:ea typeface="Noto Serif CJK SC"/>
              </a:rPr>
              <a:t>学习目标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A6322A"/>
                </a:solidFill>
                <a:latin typeface="Times New Roman"/>
                <a:ea typeface="Noto Serif CJK SC"/>
              </a:rPr>
              <a:t>▪ </a:t>
            </a:r>
            <a:r>
              <a:rPr sz="2600" b="0" u="none">
                <a:solidFill>
                  <a:srgbClr val="23211E"/>
                </a:solidFill>
                <a:latin typeface="Times New Roman"/>
                <a:ea typeface="Noto Serif CJK SC"/>
              </a:rPr>
              <a:t>掌握「师、传、道、惑」等 17 个重点实词与 5 个虚词的意义用法。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600" b="0" u="none">
                <a:solidFill>
                  <a:srgbClr val="A6322A"/>
                </a:solidFill>
                <a:latin typeface="Times New Roman"/>
                <a:ea typeface="Noto Serif CJK SC"/>
              </a:rPr>
              <a:t>▪ </a:t>
            </a:r>
            <a:r>
              <a:rPr sz="2600" b="0" u="none">
                <a:solidFill>
                  <a:srgbClr val="23211E"/>
                </a:solidFill>
                <a:latin typeface="Times New Roman"/>
                <a:ea typeface="Noto Serif CJK SC"/>
              </a:rPr>
              <a:t>能辨析名词意动、形容词作名词等词类活用，并准确翻译四种特殊句式。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600" b="0" u="none">
                <a:solidFill>
                  <a:srgbClr val="A6322A"/>
                </a:solidFill>
                <a:latin typeface="Times New Roman"/>
                <a:ea typeface="Noto Serif CJK SC"/>
              </a:rPr>
              <a:t>▪ </a:t>
            </a:r>
            <a:r>
              <a:rPr sz="2600" b="0" u="none">
                <a:solidFill>
                  <a:srgbClr val="23211E"/>
                </a:solidFill>
                <a:latin typeface="Times New Roman"/>
                <a:ea typeface="Noto Serif CJK SC"/>
              </a:rPr>
              <a:t>能梳理论证结构，说出「破立结合」的论证特点。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一轮复习文言文《师说》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688775" y="457200"/>
            <a:ext cx="73152" cy="1463040"/>
          </a:xfrm>
          <a:prstGeom prst="rect">
            <a:avLst/>
          </a:prstGeom>
          <a:solidFill>
            <a:srgbClr val="D9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530352"/>
            <a:ext cx="54864" cy="43891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9631375" cy="5029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C1B19"/>
                </a:solidFill>
                <a:latin typeface="Times New Roman"/>
                <a:ea typeface="Noto Serif CJK SC"/>
              </a:rPr>
              <a:t>一、重点文言字词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200"/>
            </a:pPr>
            <a:r>
              <a:rPr sz="2200" b="0" u="none">
                <a:solidFill>
                  <a:srgbClr val="23211E"/>
                </a:solidFill>
                <a:latin typeface="Times New Roman"/>
                <a:ea typeface="Noto Serif CJK SC"/>
              </a:rPr>
              <a:t>1. 古之学者必有师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200" b="0" u="none">
                <a:solidFill>
                  <a:srgbClr val="23211E"/>
                </a:solidFill>
                <a:latin typeface="Times New Roman"/>
                <a:ea typeface="Noto Serif CJK SC"/>
              </a:rPr>
              <a:t>2. 师者，所以传道受业解惑也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200" b="0" u="none">
                <a:solidFill>
                  <a:srgbClr val="23211E"/>
                </a:solidFill>
                <a:latin typeface="Times New Roman"/>
                <a:ea typeface="Noto Serif CJK SC"/>
              </a:rPr>
              <a:t>3. 生乎吾前，其闻道也固先乎吾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200" b="0" u="none">
                <a:solidFill>
                  <a:srgbClr val="23211E"/>
                </a:solidFill>
                <a:latin typeface="Times New Roman"/>
                <a:ea typeface="Noto Serif CJK SC"/>
              </a:rPr>
              <a:t>4. 吾师道也，夫庸知其年之先后生于吾乎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200" b="0" u="none">
                <a:solidFill>
                  <a:srgbClr val="23211E"/>
                </a:solidFill>
                <a:latin typeface="Times New Roman"/>
                <a:ea typeface="Noto Serif CJK SC"/>
              </a:rPr>
              <a:t>5. 是故无贵无贱，无长无少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200" b="0" u="none">
                <a:solidFill>
                  <a:srgbClr val="23211E"/>
                </a:solidFill>
                <a:latin typeface="Times New Roman"/>
                <a:ea typeface="Noto Serif CJK SC"/>
              </a:rPr>
              <a:t>6. 今之众人，其下圣人也亦远矣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200" b="0" u="none">
                <a:solidFill>
                  <a:srgbClr val="23211E"/>
                </a:solidFill>
                <a:latin typeface="Times New Roman"/>
                <a:ea typeface="Noto Serif CJK SC"/>
              </a:rPr>
              <a:t>7. 圣人之所以为圣，愚人之所以为愚，其皆出于此乎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一轮复习文言文《师说》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688775" y="457200"/>
            <a:ext cx="73152" cy="1463040"/>
          </a:xfrm>
          <a:prstGeom prst="rect">
            <a:avLst/>
          </a:prstGeom>
          <a:solidFill>
            <a:srgbClr val="D9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530352"/>
            <a:ext cx="54864" cy="43891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9631375" cy="5029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C1B19"/>
                </a:solidFill>
                <a:latin typeface="Times New Roman"/>
                <a:ea typeface="Noto Serif CJK SC"/>
              </a:rPr>
              <a:t>二、词类活用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400"/>
            </a:pPr>
            <a:r>
              <a:rPr sz="2400" b="0" u="none">
                <a:solidFill>
                  <a:srgbClr val="23211E"/>
                </a:solidFill>
                <a:latin typeface="Times New Roman"/>
                <a:ea typeface="Noto Serif CJK SC"/>
              </a:rPr>
              <a:t>1. 吾从而师之（名词的意动用法：以……为师）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400" b="0" u="none">
                <a:solidFill>
                  <a:srgbClr val="23211E"/>
                </a:solidFill>
                <a:latin typeface="Times New Roman"/>
                <a:ea typeface="Noto Serif CJK SC"/>
              </a:rPr>
              <a:t>2. 其下圣人也亦远矣（名词作动词：低于）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400" b="0" u="none">
                <a:solidFill>
                  <a:srgbClr val="23211E"/>
                </a:solidFill>
                <a:latin typeface="Times New Roman"/>
                <a:ea typeface="Noto Serif CJK SC"/>
              </a:rPr>
              <a:t>3. 是故圣益圣，愚益愚（形容词作名词：圣人、愚人）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400" b="0" u="none">
                <a:solidFill>
                  <a:srgbClr val="23211E"/>
                </a:solidFill>
                <a:latin typeface="Times New Roman"/>
                <a:ea typeface="Noto Serif CJK SC"/>
              </a:rPr>
              <a:t>4. 小学而大遗（形容词作名词：小的方面、大的方面）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400" b="0" u="none">
                <a:solidFill>
                  <a:srgbClr val="23211E"/>
                </a:solidFill>
                <a:latin typeface="Times New Roman"/>
                <a:ea typeface="Noto Serif CJK SC"/>
              </a:rPr>
              <a:t>5. 君子不齿（名词作动词：并列、排列）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一轮复习文言文《师说》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688775" y="457200"/>
            <a:ext cx="73152" cy="1463040"/>
          </a:xfrm>
          <a:prstGeom prst="rect">
            <a:avLst/>
          </a:prstGeom>
          <a:solidFill>
            <a:srgbClr val="D9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530352"/>
            <a:ext cx="54864" cy="43891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9631375" cy="5029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C1B19"/>
                </a:solidFill>
                <a:latin typeface="Times New Roman"/>
                <a:ea typeface="Noto Serif CJK SC"/>
              </a:rPr>
              <a:t>三、特殊句式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A6322A"/>
                </a:solidFill>
                <a:latin typeface="Times New Roman"/>
                <a:ea typeface="Noto Serif CJK SC"/>
              </a:rPr>
              <a:t>▪ </a:t>
            </a:r>
            <a:r>
              <a:rPr sz="2600" b="0" u="none">
                <a:solidFill>
                  <a:srgbClr val="23211E"/>
                </a:solidFill>
                <a:latin typeface="Times New Roman"/>
                <a:ea typeface="Noto Serif CJK SC"/>
              </a:rPr>
              <a:t>判断句：师者，所以传道受业解惑也。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600" b="0" u="none">
                <a:solidFill>
                  <a:srgbClr val="A6322A"/>
                </a:solidFill>
                <a:latin typeface="Times New Roman"/>
                <a:ea typeface="Noto Serif CJK SC"/>
              </a:rPr>
              <a:t>▪ </a:t>
            </a:r>
            <a:r>
              <a:rPr sz="2600" b="0" u="none">
                <a:solidFill>
                  <a:srgbClr val="23211E"/>
                </a:solidFill>
                <a:latin typeface="Times New Roman"/>
                <a:ea typeface="Noto Serif CJK SC"/>
              </a:rPr>
              <a:t>宾语前置：句读之不知，惑之不解。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600" b="0" u="none">
                <a:solidFill>
                  <a:srgbClr val="A6322A"/>
                </a:solidFill>
                <a:latin typeface="Times New Roman"/>
                <a:ea typeface="Noto Serif CJK SC"/>
              </a:rPr>
              <a:t>▪ </a:t>
            </a:r>
            <a:r>
              <a:rPr sz="2600" b="0" u="none">
                <a:solidFill>
                  <a:srgbClr val="23211E"/>
                </a:solidFill>
                <a:latin typeface="Times New Roman"/>
                <a:ea typeface="Noto Serif CJK SC"/>
              </a:rPr>
              <a:t>被动句：不拘于时。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600" b="0" u="none">
                <a:solidFill>
                  <a:srgbClr val="A6322A"/>
                </a:solidFill>
                <a:latin typeface="Times New Roman"/>
                <a:ea typeface="Noto Serif CJK SC"/>
              </a:rPr>
              <a:t>▪ </a:t>
            </a:r>
            <a:r>
              <a:rPr sz="2600" b="0" u="none">
                <a:solidFill>
                  <a:srgbClr val="23211E"/>
                </a:solidFill>
                <a:latin typeface="Times New Roman"/>
                <a:ea typeface="Noto Serif CJK SC"/>
              </a:rPr>
              <a:t>状语后置：学于余。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一轮复习文言文《师说》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688775" y="457200"/>
            <a:ext cx="73152" cy="1463040"/>
          </a:xfrm>
          <a:prstGeom prst="rect">
            <a:avLst/>
          </a:prstGeom>
          <a:solidFill>
            <a:srgbClr val="D9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530352"/>
            <a:ext cx="54864" cy="43891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9631375" cy="5029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C1B19"/>
                </a:solidFill>
                <a:latin typeface="Times New Roman"/>
                <a:ea typeface="Noto Serif CJK SC"/>
              </a:rPr>
              <a:t>三、特殊句式｜引文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566928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300"/>
            </a:pPr>
            <a:r>
              <a:rPr sz="1300" b="0" u="none">
                <a:solidFill>
                  <a:srgbClr val="A6322A"/>
                </a:solidFill>
                <a:latin typeface="Times New Roman"/>
                <a:ea typeface="Noto Serif CJK SC"/>
              </a:rPr>
              <a:t>—— 原文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10545775" cy="4206240"/>
          </a:xfrm>
          <a:prstGeom prst="rect">
            <a:avLst/>
          </a:prstGeom>
          <a:solidFill>
            <a:srgbClr val="F3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463040"/>
            <a:ext cx="73152" cy="4206240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600200"/>
            <a:ext cx="9539935" cy="39319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85000"/>
              </a:lnSpc>
              <a:defRPr sz="2600"/>
            </a:pPr>
            <a:r>
              <a:rPr sz="2600" b="0" u="none">
                <a:solidFill>
                  <a:srgbClr val="23211E"/>
                </a:solidFill>
                <a:latin typeface="Times New Roman"/>
                <a:ea typeface="Noto Serif CJK SC"/>
              </a:rPr>
              <a:t>师者，所以传道受业解惑也。……道之所存，师之所存也。（节选）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9082735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300"/>
            </a:pPr>
            <a:r>
              <a:rPr sz="1300" b="0" u="none">
                <a:solidFill>
                  <a:srgbClr val="6B6257"/>
                </a:solidFill>
                <a:latin typeface="Times New Roman"/>
                <a:ea typeface="Noto Serif CJK SC"/>
              </a:rPr>
              <a:t>—— 韩愈《师说》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一轮复习文言文《师说》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688775" y="457200"/>
            <a:ext cx="73152" cy="1463040"/>
          </a:xfrm>
          <a:prstGeom prst="rect">
            <a:avLst/>
          </a:prstGeom>
          <a:solidFill>
            <a:srgbClr val="D9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530352"/>
            <a:ext cx="54864" cy="43891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9631375" cy="5029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C1B19"/>
                </a:solidFill>
                <a:latin typeface="Times New Roman"/>
                <a:ea typeface="Noto Serif CJK SC"/>
              </a:rPr>
              <a:t>四、论证结构｜概念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566928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300"/>
            </a:pPr>
            <a:r>
              <a:rPr sz="1300" b="0" u="none">
                <a:solidFill>
                  <a:srgbClr val="A6322A"/>
                </a:solidFill>
                <a:latin typeface="Times New Roman"/>
                <a:ea typeface="Noto Serif CJK SC"/>
              </a:rPr>
              <a:t>—— 归纳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2847" y="1325880"/>
            <a:ext cx="2286000" cy="713232"/>
          </a:xfrm>
          <a:prstGeom prst="roundRect">
            <a:avLst>
              <a:gd name="adj" fmla="val 18000"/>
            </a:avLst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2847" y="1325880"/>
            <a:ext cx="2286000" cy="71323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000"/>
            </a:pPr>
            <a:r>
              <a:rPr sz="2000" b="1" u="none">
                <a:solidFill>
                  <a:srgbClr val="FFFFFF"/>
                </a:solidFill>
                <a:latin typeface="Times New Roman"/>
                <a:ea typeface="Noto Serif CJK SC"/>
              </a:rPr>
              <a:t>师道之不传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9497" y="2039112"/>
            <a:ext cx="12700" cy="25603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63040" y="2295144"/>
            <a:ext cx="9265615" cy="12700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1839" y="2295144"/>
            <a:ext cx="12700" cy="310896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606040"/>
            <a:ext cx="3393338" cy="3291840"/>
          </a:xfrm>
          <a:prstGeom prst="roundRect">
            <a:avLst>
              <a:gd name="adj" fmla="val 5000"/>
            </a:avLst>
          </a:prstGeom>
          <a:solidFill>
            <a:srgbClr val="F3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734056"/>
            <a:ext cx="3064154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1C1B19"/>
                </a:solidFill>
                <a:latin typeface="Times New Roman"/>
                <a:ea typeface="Noto Serif CJK SC"/>
              </a:rPr>
              <a:t>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72968"/>
            <a:ext cx="3027578" cy="2560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256032" indent="-256032">
              <a:lnSpc>
                <a:spcPct val="135000"/>
              </a:lnSpc>
              <a:defRPr sz="1400"/>
            </a:pPr>
            <a:r>
              <a:rPr sz="1400" b="0" u="none">
                <a:solidFill>
                  <a:srgbClr val="A6322A"/>
                </a:solidFill>
                <a:latin typeface="Times New Roman"/>
                <a:ea typeface="Noto Serif CJK SC"/>
              </a:rPr>
              <a:t>· </a:t>
            </a:r>
            <a:r>
              <a:rPr sz="1400" b="0" u="none">
                <a:solidFill>
                  <a:srgbClr val="23211E"/>
                </a:solidFill>
                <a:latin typeface="Times New Roman"/>
                <a:ea typeface="Noto Serif CJK SC"/>
              </a:rPr>
              <a:t>耻学于师之弊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497" y="2295144"/>
            <a:ext cx="12700" cy="310896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99178" y="2606040"/>
            <a:ext cx="3393338" cy="3291840"/>
          </a:xfrm>
          <a:prstGeom prst="roundRect">
            <a:avLst>
              <a:gd name="adj" fmla="val 5000"/>
            </a:avLst>
          </a:prstGeom>
          <a:solidFill>
            <a:srgbClr val="F3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3770" y="2734056"/>
            <a:ext cx="3064154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1C1B19"/>
                </a:solidFill>
                <a:latin typeface="Times New Roman"/>
                <a:ea typeface="Noto Serif CJK SC"/>
              </a:rPr>
              <a:t>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2058" y="3172968"/>
            <a:ext cx="3027578" cy="2560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256032" indent="-256032">
              <a:lnSpc>
                <a:spcPct val="135000"/>
              </a:lnSpc>
              <a:defRPr sz="1400"/>
            </a:pPr>
            <a:r>
              <a:rPr sz="1400" b="0" u="none">
                <a:solidFill>
                  <a:srgbClr val="A6322A"/>
                </a:solidFill>
                <a:latin typeface="Times New Roman"/>
                <a:ea typeface="Noto Serif CJK SC"/>
              </a:rPr>
              <a:t>· </a:t>
            </a:r>
            <a:r>
              <a:rPr sz="1400" b="0" u="none">
                <a:solidFill>
                  <a:srgbClr val="23211E"/>
                </a:solidFill>
                <a:latin typeface="Times New Roman"/>
                <a:ea typeface="Noto Serif CJK SC"/>
              </a:rPr>
              <a:t>从师而学之理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57155" y="2295144"/>
            <a:ext cx="12700" cy="310896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66836" y="2606040"/>
            <a:ext cx="3393338" cy="3291840"/>
          </a:xfrm>
          <a:prstGeom prst="roundRect">
            <a:avLst>
              <a:gd name="adj" fmla="val 5000"/>
            </a:avLst>
          </a:prstGeom>
          <a:solidFill>
            <a:srgbClr val="F3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1428" y="2734056"/>
            <a:ext cx="3064154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1C1B19"/>
                </a:solidFill>
                <a:latin typeface="Times New Roman"/>
                <a:ea typeface="Noto Serif CJK SC"/>
              </a:rPr>
              <a:t>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9716" y="3172968"/>
            <a:ext cx="3027578" cy="2560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256032" indent="-256032">
              <a:lnSpc>
                <a:spcPct val="135000"/>
              </a:lnSpc>
              <a:defRPr sz="1400"/>
            </a:pPr>
            <a:r>
              <a:rPr sz="1400" b="0" u="none">
                <a:solidFill>
                  <a:srgbClr val="A6322A"/>
                </a:solidFill>
                <a:latin typeface="Times New Roman"/>
                <a:ea typeface="Noto Serif CJK SC"/>
              </a:rPr>
              <a:t>· </a:t>
            </a:r>
            <a:r>
              <a:rPr sz="1400" b="0" u="none">
                <a:solidFill>
                  <a:srgbClr val="23211E"/>
                </a:solidFill>
                <a:latin typeface="Times New Roman"/>
                <a:ea typeface="Noto Serif CJK SC"/>
              </a:rPr>
              <a:t>圣人无常师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一轮复习文言文《师说》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442656" cy="54864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FFFFFF"/>
                </a:solidFill>
                <a:latin typeface="Times New Roman"/>
                <a:ea typeface="Noto Serif CJK SC"/>
              </a:rPr>
              <a:t>五、当堂检测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219456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237744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erif CJK SC"/>
              </a:rPr>
              <a:t>练习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11094415" cy="2103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200"/>
            </a:pPr>
            <a:r>
              <a:rPr sz="2200" b="0" u="none">
                <a:solidFill>
                  <a:srgbClr val="23211E"/>
                </a:solidFill>
                <a:latin typeface="Times New Roman"/>
                <a:ea typeface="Noto Serif CJK SC"/>
              </a:rPr>
              <a:t>1. 下列句中加点词的意义和用法相同的一项是（　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49806"/>
            <a:ext cx="5437479" cy="5486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365760" indent="-365760">
              <a:lnSpc>
                <a:spcPct val="125000"/>
              </a:lnSpc>
              <a:defRPr sz="1800"/>
            </a:pPr>
            <a:r>
              <a:rPr sz="1800" b="1" u="none">
                <a:solidFill>
                  <a:srgbClr val="A6322A"/>
                </a:solidFill>
                <a:latin typeface="Times New Roman"/>
                <a:ea typeface="Noto Serif CJK SC"/>
              </a:rPr>
              <a:t>A．</a:t>
            </a:r>
            <a:r>
              <a:rPr sz="1800" b="0" u="none">
                <a:solidFill>
                  <a:srgbClr val="23211E"/>
                </a:solidFill>
                <a:latin typeface="Times New Roman"/>
                <a:ea typeface="Noto Serif CJK SC"/>
              </a:rPr>
              <a:t>师道之不传也久矣／句读之不知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749806"/>
            <a:ext cx="5437479" cy="5486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365760" indent="-365760">
              <a:lnSpc>
                <a:spcPct val="125000"/>
              </a:lnSpc>
              <a:defRPr sz="1800"/>
            </a:pPr>
            <a:r>
              <a:rPr sz="1800" b="1" u="none">
                <a:solidFill>
                  <a:srgbClr val="A6322A"/>
                </a:solidFill>
                <a:latin typeface="Times New Roman"/>
                <a:ea typeface="Noto Serif CJK SC"/>
              </a:rPr>
              <a:t>B．</a:t>
            </a:r>
            <a:r>
              <a:rPr sz="1800" b="0" u="none">
                <a:solidFill>
                  <a:srgbClr val="23211E"/>
                </a:solidFill>
                <a:latin typeface="Times New Roman"/>
                <a:ea typeface="Noto Serif CJK SC"/>
              </a:rPr>
              <a:t>其闻道也固先乎吾／其皆出于此乎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44166"/>
            <a:ext cx="5437479" cy="5486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365760" indent="-365760">
              <a:lnSpc>
                <a:spcPct val="125000"/>
              </a:lnSpc>
              <a:defRPr sz="1800"/>
            </a:pPr>
            <a:r>
              <a:rPr sz="1800" b="1" u="none">
                <a:solidFill>
                  <a:srgbClr val="A6322A"/>
                </a:solidFill>
                <a:latin typeface="Times New Roman"/>
                <a:ea typeface="Noto Serif CJK SC"/>
              </a:rPr>
              <a:t>C．</a:t>
            </a:r>
            <a:r>
              <a:rPr sz="1800" b="0" u="none">
                <a:solidFill>
                  <a:srgbClr val="23211E"/>
                </a:solidFill>
                <a:latin typeface="Times New Roman"/>
                <a:ea typeface="Noto Serif CJK SC"/>
              </a:rPr>
              <a:t>于其身也，则耻师焉／不拘于时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2344166"/>
            <a:ext cx="5437479" cy="5486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365760" indent="-365760">
              <a:lnSpc>
                <a:spcPct val="125000"/>
              </a:lnSpc>
              <a:defRPr sz="1800"/>
            </a:pPr>
            <a:r>
              <a:rPr sz="1800" b="1" u="none">
                <a:solidFill>
                  <a:srgbClr val="A6322A"/>
                </a:solidFill>
                <a:latin typeface="Times New Roman"/>
                <a:ea typeface="Noto Serif CJK SC"/>
              </a:rPr>
              <a:t>D．</a:t>
            </a:r>
            <a:r>
              <a:rPr sz="1800" b="0" u="none">
                <a:solidFill>
                  <a:srgbClr val="23211E"/>
                </a:solidFill>
                <a:latin typeface="Times New Roman"/>
                <a:ea typeface="Noto Serif CJK SC"/>
              </a:rPr>
              <a:t>吾从而师之／巫医乐师百工之人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一轮复习文言文《师说》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442656" cy="54864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FFFFFF"/>
                </a:solidFill>
                <a:latin typeface="Times New Roman"/>
                <a:ea typeface="Noto Serif CJK SC"/>
              </a:rPr>
              <a:t>五、当堂检测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219456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237744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erif CJK SC"/>
              </a:rPr>
              <a:t>练习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11094415" cy="2103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200"/>
            </a:pPr>
            <a:r>
              <a:rPr sz="2200" b="0" u="none">
                <a:solidFill>
                  <a:srgbClr val="23211E"/>
                </a:solidFill>
                <a:latin typeface="Times New Roman"/>
                <a:ea typeface="Noto Serif CJK SC"/>
              </a:rPr>
              <a:t>2. 翻译：是故弟子不必不如师，师不必贤于弟子。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一轮复习文言文《师说》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3657600" cy="1554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9200"/>
            </a:pPr>
            <a:r>
              <a:rPr sz="9200" b="1" u="none">
                <a:solidFill>
                  <a:srgbClr val="A6322A"/>
                </a:solidFill>
                <a:latin typeface="Times New Roman"/>
                <a:ea typeface="Noto Serif CJK S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34640"/>
            <a:ext cx="10180015" cy="10972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FFFFFF"/>
                </a:solidFill>
                <a:latin typeface="Times New Roman"/>
                <a:ea typeface="Noto Serif CJK SC"/>
              </a:rPr>
              <a:t>参考答案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688775" y="457200"/>
            <a:ext cx="73152" cy="1463040"/>
          </a:xfrm>
          <a:prstGeom prst="rect">
            <a:avLst/>
          </a:prstGeom>
          <a:solidFill>
            <a:srgbClr val="D9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2700"/>
          </a:xfrm>
          <a:prstGeom prst="rect">
            <a:avLst/>
          </a:prstGeom>
          <a:solidFill>
            <a:srgbClr val="B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530352"/>
            <a:ext cx="54864" cy="43891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9631375" cy="5029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C1B19"/>
                </a:solidFill>
                <a:latin typeface="Times New Roman"/>
                <a:ea typeface="Noto Serif CJK SC"/>
              </a:rPr>
              <a:t>参考答案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566928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300"/>
            </a:pPr>
            <a:r>
              <a:rPr sz="1300" b="0" u="none">
                <a:solidFill>
                  <a:srgbClr val="A6322A"/>
                </a:solidFill>
                <a:latin typeface="Times New Roman"/>
                <a:ea typeface="Noto Serif CJK SC"/>
              </a:rPr>
              <a:t>—— 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23211E"/>
                </a:solidFill>
                <a:latin typeface="Times New Roman"/>
                <a:ea typeface="Noto Serif CJK SC"/>
              </a:rPr>
              <a:t>1. A</a:t>
            </a:r>
          </a:p>
          <a:p>
            <a:pPr algn="l" marL="475488" indent="-475488">
              <a:lnSpc>
                <a:spcPct val="135000"/>
              </a:lnSpc>
              <a:spcBef>
                <a:spcPts val="1400"/>
              </a:spcBef>
            </a:pPr>
            <a:r>
              <a:rPr sz="2600" b="0" u="none">
                <a:solidFill>
                  <a:srgbClr val="23211E"/>
                </a:solidFill>
                <a:latin typeface="Times New Roman"/>
                <a:ea typeface="Noto Serif CJK SC"/>
              </a:rPr>
              <a:t>2. 因此学生不一定不如老师，老师也不一定比学生贤能。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一轮复习文言文《师说》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A6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637215" cy="8229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3800"/>
            </a:pPr>
            <a:r>
              <a:rPr sz="3800" b="1" u="none">
                <a:solidFill>
                  <a:srgbClr val="1C1B19"/>
                </a:solidFill>
                <a:latin typeface="Times New Roman"/>
                <a:ea typeface="Noto Serif CJK SC"/>
              </a:rPr>
              <a:t>本节课小结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454335" cy="42519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11480" indent="-411480">
              <a:lnSpc>
                <a:spcPct val="135000"/>
              </a:lnSpc>
              <a:defRPr sz="2300"/>
            </a:pPr>
            <a:r>
              <a:rPr sz="2300" b="0" u="none">
                <a:solidFill>
                  <a:srgbClr val="A6322A"/>
                </a:solidFill>
                <a:latin typeface="Times New Roman"/>
                <a:ea typeface="Noto Serif CJK SC"/>
              </a:rPr>
              <a:t>✔ </a:t>
            </a:r>
            <a:r>
              <a:rPr sz="2300" b="0" u="none">
                <a:solidFill>
                  <a:srgbClr val="23211E"/>
                </a:solidFill>
                <a:latin typeface="Times New Roman"/>
                <a:ea typeface="Noto Serif CJK SC"/>
              </a:rPr>
              <a:t>掌握「师、传、道、惑」等 17 个重点实词与 5 个虚词的意义用法。</a:t>
            </a:r>
          </a:p>
          <a:p>
            <a:pPr algn="l" marL="411480" indent="-411480">
              <a:lnSpc>
                <a:spcPct val="135000"/>
              </a:lnSpc>
              <a:spcBef>
                <a:spcPts val="1000"/>
              </a:spcBef>
            </a:pPr>
            <a:r>
              <a:rPr sz="2300" b="0" u="none">
                <a:solidFill>
                  <a:srgbClr val="A6322A"/>
                </a:solidFill>
                <a:latin typeface="Times New Roman"/>
                <a:ea typeface="Noto Serif CJK SC"/>
              </a:rPr>
              <a:t>✔ </a:t>
            </a:r>
            <a:r>
              <a:rPr sz="2300" b="0" u="none">
                <a:solidFill>
                  <a:srgbClr val="23211E"/>
                </a:solidFill>
                <a:latin typeface="Times New Roman"/>
                <a:ea typeface="Noto Serif CJK SC"/>
              </a:rPr>
              <a:t>能辨析名词意动、形容词作名词等词类活用，并准确翻译四种特殊句式。</a:t>
            </a:r>
          </a:p>
          <a:p>
            <a:pPr algn="l" marL="411480" indent="-411480">
              <a:lnSpc>
                <a:spcPct val="135000"/>
              </a:lnSpc>
              <a:spcBef>
                <a:spcPts val="1000"/>
              </a:spcBef>
            </a:pPr>
            <a:r>
              <a:rPr sz="2300" b="0" u="none">
                <a:solidFill>
                  <a:srgbClr val="A6322A"/>
                </a:solidFill>
                <a:latin typeface="Times New Roman"/>
                <a:ea typeface="Noto Serif CJK SC"/>
              </a:rPr>
              <a:t>✔ </a:t>
            </a:r>
            <a:r>
              <a:rPr sz="2300" b="0" u="none">
                <a:solidFill>
                  <a:srgbClr val="23211E"/>
                </a:solidFill>
                <a:latin typeface="Times New Roman"/>
                <a:ea typeface="Noto Serif CJK SC"/>
              </a:rPr>
              <a:t>能梳理论证结构，说出「破立结合」的论证特点。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10454335" cy="34747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400"/>
            </a:pPr>
            <a:r>
              <a:rPr sz="1400" b="0" u="none">
                <a:solidFill>
                  <a:srgbClr val="64748B"/>
                </a:solidFill>
                <a:latin typeface="Times New Roman"/>
                <a:ea typeface="Noto Serif CJK SC"/>
              </a:rPr>
              <a:t>胶州四中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5989320"/>
            <a:ext cx="685800" cy="34747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400"/>
            </a:pPr>
            <a:r>
              <a:rPr sz="1400" b="0" u="none">
                <a:solidFill>
                  <a:srgbClr val="64748B"/>
                </a:solidFill>
                <a:latin typeface="Times New Roman"/>
                <a:ea typeface="Noto Serif CJK SC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