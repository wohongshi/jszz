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88575" y="932688"/>
            <a:ext cx="1645920" cy="9525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88575" y="832104"/>
            <a:ext cx="9525" cy="100584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225735" y="882396"/>
            <a:ext cx="9525" cy="50292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362895" y="882396"/>
            <a:ext cx="9525" cy="50292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500055" y="832104"/>
            <a:ext cx="9525" cy="100584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637215" y="882396"/>
            <a:ext cx="9525" cy="50292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774375" y="882396"/>
            <a:ext cx="9525" cy="50292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911535" y="832104"/>
            <a:ext cx="9525" cy="100584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048695" y="882396"/>
            <a:ext cx="9525" cy="50292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185855" y="882396"/>
            <a:ext cx="9525" cy="50292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323015" y="832104"/>
            <a:ext cx="9525" cy="100584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460175" y="882396"/>
            <a:ext cx="9525" cy="50292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597335" y="882396"/>
            <a:ext cx="9525" cy="50292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166360"/>
            <a:ext cx="9525" cy="274320"/>
          </a:xfrm>
          <a:prstGeom prst="rect">
            <a:avLst/>
          </a:prstGeom>
          <a:solidFill>
            <a:srgbClr val="3A53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6000" y="5303520"/>
            <a:ext cx="9525" cy="137160"/>
          </a:xfrm>
          <a:prstGeom prst="rect">
            <a:avLst/>
          </a:prstGeom>
          <a:solidFill>
            <a:srgbClr val="3A53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03360" y="5303520"/>
            <a:ext cx="9525" cy="137160"/>
          </a:xfrm>
          <a:prstGeom prst="rect">
            <a:avLst/>
          </a:prstGeom>
          <a:solidFill>
            <a:srgbClr val="3A53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80721" y="5303520"/>
            <a:ext cx="9525" cy="137160"/>
          </a:xfrm>
          <a:prstGeom prst="rect">
            <a:avLst/>
          </a:prstGeom>
          <a:solidFill>
            <a:srgbClr val="3A53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658081" y="5303520"/>
            <a:ext cx="9525" cy="137160"/>
          </a:xfrm>
          <a:prstGeom prst="rect">
            <a:avLst/>
          </a:prstGeom>
          <a:solidFill>
            <a:srgbClr val="3A53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935441" y="5166360"/>
            <a:ext cx="9525" cy="274320"/>
          </a:xfrm>
          <a:prstGeom prst="rect">
            <a:avLst/>
          </a:prstGeom>
          <a:solidFill>
            <a:srgbClr val="3A53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212802" y="5303520"/>
            <a:ext cx="9525" cy="137160"/>
          </a:xfrm>
          <a:prstGeom prst="rect">
            <a:avLst/>
          </a:prstGeom>
          <a:solidFill>
            <a:srgbClr val="3A53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90162" y="5303520"/>
            <a:ext cx="9525" cy="137160"/>
          </a:xfrm>
          <a:prstGeom prst="rect">
            <a:avLst/>
          </a:prstGeom>
          <a:solidFill>
            <a:srgbClr val="3A53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67523" y="5303520"/>
            <a:ext cx="9525" cy="137160"/>
          </a:xfrm>
          <a:prstGeom prst="rect">
            <a:avLst/>
          </a:prstGeom>
          <a:solidFill>
            <a:srgbClr val="3A53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44883" y="5303520"/>
            <a:ext cx="9525" cy="137160"/>
          </a:xfrm>
          <a:prstGeom prst="rect">
            <a:avLst/>
          </a:prstGeom>
          <a:solidFill>
            <a:srgbClr val="3A53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22243" y="5166360"/>
            <a:ext cx="9525" cy="274320"/>
          </a:xfrm>
          <a:prstGeom prst="rect">
            <a:avLst/>
          </a:prstGeom>
          <a:solidFill>
            <a:srgbClr val="3A53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599604" y="5303520"/>
            <a:ext cx="9525" cy="137160"/>
          </a:xfrm>
          <a:prstGeom prst="rect">
            <a:avLst/>
          </a:prstGeom>
          <a:solidFill>
            <a:srgbClr val="3A53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876964" y="5303520"/>
            <a:ext cx="9525" cy="137160"/>
          </a:xfrm>
          <a:prstGeom prst="rect">
            <a:avLst/>
          </a:prstGeom>
          <a:solidFill>
            <a:srgbClr val="3A53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54324" y="5303520"/>
            <a:ext cx="9525" cy="137160"/>
          </a:xfrm>
          <a:prstGeom prst="rect">
            <a:avLst/>
          </a:prstGeom>
          <a:solidFill>
            <a:srgbClr val="3A53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431685" y="5303520"/>
            <a:ext cx="9525" cy="137160"/>
          </a:xfrm>
          <a:prstGeom prst="rect">
            <a:avLst/>
          </a:prstGeom>
          <a:solidFill>
            <a:srgbClr val="3A53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709045" y="5166360"/>
            <a:ext cx="9525" cy="274320"/>
          </a:xfrm>
          <a:prstGeom prst="rect">
            <a:avLst/>
          </a:prstGeom>
          <a:solidFill>
            <a:srgbClr val="3A53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986406" y="5303520"/>
            <a:ext cx="9525" cy="137160"/>
          </a:xfrm>
          <a:prstGeom prst="rect">
            <a:avLst/>
          </a:prstGeom>
          <a:solidFill>
            <a:srgbClr val="3A53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263766" y="5303520"/>
            <a:ext cx="9525" cy="137160"/>
          </a:xfrm>
          <a:prstGeom prst="rect">
            <a:avLst/>
          </a:prstGeom>
          <a:solidFill>
            <a:srgbClr val="3A53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41126" y="5303520"/>
            <a:ext cx="9525" cy="137160"/>
          </a:xfrm>
          <a:prstGeom prst="rect">
            <a:avLst/>
          </a:prstGeom>
          <a:solidFill>
            <a:srgbClr val="3A53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18487" y="5303520"/>
            <a:ext cx="9525" cy="137160"/>
          </a:xfrm>
          <a:prstGeom prst="rect">
            <a:avLst/>
          </a:prstGeom>
          <a:solidFill>
            <a:srgbClr val="3A53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95847" y="5166360"/>
            <a:ext cx="9525" cy="274320"/>
          </a:xfrm>
          <a:prstGeom prst="rect">
            <a:avLst/>
          </a:prstGeom>
          <a:solidFill>
            <a:srgbClr val="3A53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73207" y="5303520"/>
            <a:ext cx="9525" cy="137160"/>
          </a:xfrm>
          <a:prstGeom prst="rect">
            <a:avLst/>
          </a:prstGeom>
          <a:solidFill>
            <a:srgbClr val="3A53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650568" y="5303520"/>
            <a:ext cx="9525" cy="137160"/>
          </a:xfrm>
          <a:prstGeom prst="rect">
            <a:avLst/>
          </a:prstGeom>
          <a:solidFill>
            <a:srgbClr val="3A53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927928" y="5303520"/>
            <a:ext cx="9525" cy="137160"/>
          </a:xfrm>
          <a:prstGeom prst="rect">
            <a:avLst/>
          </a:prstGeom>
          <a:solidFill>
            <a:srgbClr val="3A53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205289" y="5303520"/>
            <a:ext cx="9525" cy="137160"/>
          </a:xfrm>
          <a:prstGeom prst="rect">
            <a:avLst/>
          </a:prstGeom>
          <a:solidFill>
            <a:srgbClr val="3A53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482649" y="5166360"/>
            <a:ext cx="9525" cy="274320"/>
          </a:xfrm>
          <a:prstGeom prst="rect">
            <a:avLst/>
          </a:prstGeom>
          <a:solidFill>
            <a:srgbClr val="3A53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760009" y="5303520"/>
            <a:ext cx="9525" cy="137160"/>
          </a:xfrm>
          <a:prstGeom prst="rect">
            <a:avLst/>
          </a:prstGeom>
          <a:solidFill>
            <a:srgbClr val="3A53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37370" y="5303520"/>
            <a:ext cx="9525" cy="137160"/>
          </a:xfrm>
          <a:prstGeom prst="rect">
            <a:avLst/>
          </a:prstGeom>
          <a:solidFill>
            <a:srgbClr val="3A53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314730" y="5303520"/>
            <a:ext cx="9525" cy="137160"/>
          </a:xfrm>
          <a:prstGeom prst="rect">
            <a:avLst/>
          </a:prstGeom>
          <a:solidFill>
            <a:srgbClr val="3A53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592090" y="5303520"/>
            <a:ext cx="9525" cy="137160"/>
          </a:xfrm>
          <a:prstGeom prst="rect">
            <a:avLst/>
          </a:prstGeom>
          <a:solidFill>
            <a:srgbClr val="3A53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869451" y="5166360"/>
            <a:ext cx="9525" cy="274320"/>
          </a:xfrm>
          <a:prstGeom prst="rect">
            <a:avLst/>
          </a:prstGeom>
          <a:solidFill>
            <a:srgbClr val="3A53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146811" y="5303520"/>
            <a:ext cx="9525" cy="137160"/>
          </a:xfrm>
          <a:prstGeom prst="rect">
            <a:avLst/>
          </a:prstGeom>
          <a:solidFill>
            <a:srgbClr val="3A53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424172" y="5303520"/>
            <a:ext cx="9525" cy="137160"/>
          </a:xfrm>
          <a:prstGeom prst="rect">
            <a:avLst/>
          </a:prstGeom>
          <a:solidFill>
            <a:srgbClr val="3A53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701532" y="5303520"/>
            <a:ext cx="9525" cy="137160"/>
          </a:xfrm>
          <a:prstGeom prst="rect">
            <a:avLst/>
          </a:prstGeom>
          <a:solidFill>
            <a:srgbClr val="3A53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978892" y="5303520"/>
            <a:ext cx="9525" cy="137160"/>
          </a:xfrm>
          <a:prstGeom prst="rect">
            <a:avLst/>
          </a:prstGeom>
          <a:solidFill>
            <a:srgbClr val="3A53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256253" y="5166360"/>
            <a:ext cx="9525" cy="274320"/>
          </a:xfrm>
          <a:prstGeom prst="rect">
            <a:avLst/>
          </a:prstGeom>
          <a:solidFill>
            <a:srgbClr val="3A53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533613" y="5303520"/>
            <a:ext cx="9525" cy="137160"/>
          </a:xfrm>
          <a:prstGeom prst="rect">
            <a:avLst/>
          </a:prstGeom>
          <a:solidFill>
            <a:srgbClr val="3A53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0810973" y="5303520"/>
            <a:ext cx="9525" cy="137160"/>
          </a:xfrm>
          <a:prstGeom prst="rect">
            <a:avLst/>
          </a:prstGeom>
          <a:solidFill>
            <a:srgbClr val="3A53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1088334" y="5303520"/>
            <a:ext cx="9525" cy="137160"/>
          </a:xfrm>
          <a:prstGeom prst="rect">
            <a:avLst/>
          </a:prstGeom>
          <a:solidFill>
            <a:srgbClr val="3A53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1365694" y="5303520"/>
            <a:ext cx="9525" cy="137160"/>
          </a:xfrm>
          <a:prstGeom prst="rect">
            <a:avLst/>
          </a:prstGeom>
          <a:solidFill>
            <a:srgbClr val="3A53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8640" y="5440680"/>
            <a:ext cx="11094415" cy="12700"/>
          </a:xfrm>
          <a:prstGeom prst="rect">
            <a:avLst/>
          </a:prstGeom>
          <a:solidFill>
            <a:srgbClr val="5C7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2960" y="1783080"/>
            <a:ext cx="10180015" cy="192024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20000"/>
              </a:lnSpc>
              <a:defRPr sz="2700"/>
            </a:pPr>
            <a:r>
              <a:rPr sz="2700" b="1" u="none">
                <a:solidFill>
                  <a:srgbClr val="FFFFFF"/>
                </a:solidFill>
                <a:latin typeface="Times New Roman"/>
                <a:ea typeface="Noto Sans CJK SC"/>
              </a:rPr>
              <a:t>第02讲 匀变速直线运动的规律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8680" y="3703320"/>
            <a:ext cx="10180015" cy="7315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900"/>
            </a:pPr>
            <a:r>
              <a:rPr sz="1900" b="0" u="none">
                <a:solidFill>
                  <a:srgbClr val="C7D3E4"/>
                </a:solidFill>
                <a:latin typeface="Times New Roman"/>
                <a:ea typeface="Noto Sans CJK SC"/>
              </a:rPr>
              <a:t>高三物理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68680" y="4389120"/>
            <a:ext cx="10180015" cy="4572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200"/>
            </a:pPr>
            <a:r>
              <a:rPr sz="1200" b="0" u="none">
                <a:solidFill>
                  <a:srgbClr val="8FA2BC"/>
                </a:solidFill>
                <a:latin typeface="Times New Roman"/>
                <a:ea typeface="Noto Sans CJK SC"/>
              </a:rPr>
              <a:t>胶州四中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545775" y="749808"/>
            <a:ext cx="914400" cy="40233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545775" y="777240"/>
            <a:ext cx="914400" cy="36576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30000"/>
              </a:lnSpc>
              <a:defRPr sz="1300"/>
            </a:pPr>
            <a:r>
              <a:rPr sz="1300" b="1" u="none">
                <a:solidFill>
                  <a:srgbClr val="10233F"/>
                </a:solidFill>
                <a:latin typeface="Times New Roman"/>
                <a:ea typeface="Noto Sans CJK SC"/>
              </a:rPr>
              <a:t>学案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188720"/>
            <a:ext cx="3657600" cy="155448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9200"/>
            </a:pPr>
            <a:r>
              <a:rPr sz="9200" b="1" u="none">
                <a:solidFill>
                  <a:srgbClr val="E8A33D"/>
                </a:solidFill>
                <a:latin typeface="Times New Roman"/>
                <a:ea typeface="Noto Sans CJK SC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834640"/>
            <a:ext cx="10180015" cy="109728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4000"/>
            </a:pPr>
            <a:r>
              <a:rPr sz="4000" b="1" u="none">
                <a:solidFill>
                  <a:srgbClr val="FFFFFF"/>
                </a:solidFill>
                <a:latin typeface="Times New Roman"/>
                <a:ea typeface="Noto Sans CJK SC"/>
              </a:rPr>
              <a:t>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688775" y="2011680"/>
            <a:ext cx="365760" cy="237744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88775" y="2103120"/>
            <a:ext cx="365760" cy="2194560"/>
          </a:xfrm>
          <a:prstGeom prst="rect">
            <a:avLst/>
          </a:prstGeom>
          <a:noFill/>
        </p:spPr>
        <p:txBody>
          <a:bodyPr wrap="square" anchor="ctr" lIns="54864" rIns="54864" tIns="0" bIns="0" vert="eaVert">
            <a:spAutoFit/>
          </a:bodyPr>
          <a:lstStyle/>
          <a:p>
            <a:pPr algn="ctr">
              <a:lnSpc>
                <a:spcPct val="130000"/>
              </a:lnSpc>
              <a:defRPr sz="1500"/>
            </a:pPr>
            <a:r>
              <a:rPr sz="1500" b="1" u="none">
                <a:solidFill>
                  <a:srgbClr val="FFFFFF"/>
                </a:solidFill>
                <a:latin typeface="Times New Roman"/>
                <a:ea typeface="Noto Sans CJK SC"/>
              </a:rPr>
              <a:t>导入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88575" y="932688"/>
            <a:ext cx="1645920" cy="9525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88575" y="832104"/>
            <a:ext cx="9525" cy="100584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25735" y="882396"/>
            <a:ext cx="9525" cy="50292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362895" y="882396"/>
            <a:ext cx="9525" cy="50292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00055" y="832104"/>
            <a:ext cx="9525" cy="100584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37215" y="882396"/>
            <a:ext cx="9525" cy="50292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774375" y="882396"/>
            <a:ext cx="9525" cy="50292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11535" y="832104"/>
            <a:ext cx="9525" cy="100584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048695" y="882396"/>
            <a:ext cx="9525" cy="50292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185855" y="882396"/>
            <a:ext cx="9525" cy="50292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323015" y="832104"/>
            <a:ext cx="9525" cy="100584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60175" y="882396"/>
            <a:ext cx="9525" cy="50292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597335" y="882396"/>
            <a:ext cx="9525" cy="50292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0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786384"/>
            <a:ext cx="12191695" cy="3657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128016"/>
            <a:ext cx="8442656" cy="53035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2800"/>
            </a:pPr>
            <a:r>
              <a:rPr sz="2800" b="1" u="none">
                <a:solidFill>
                  <a:srgbClr val="FFFFFF"/>
                </a:solidFill>
                <a:latin typeface="Times New Roman"/>
                <a:ea typeface="Noto Sans CJK SC"/>
              </a:rPr>
              <a:t>学习目标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9456" y="1417320"/>
            <a:ext cx="365760" cy="2194560"/>
          </a:xfrm>
          <a:prstGeom prst="roundRect">
            <a:avLst>
              <a:gd name="adj" fmla="val 18000"/>
            </a:avLst>
          </a:prstGeom>
          <a:solidFill>
            <a:srgbClr val="10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9456" y="1508760"/>
            <a:ext cx="365760" cy="2011680"/>
          </a:xfrm>
          <a:prstGeom prst="rect">
            <a:avLst/>
          </a:prstGeom>
          <a:noFill/>
        </p:spPr>
        <p:txBody>
          <a:bodyPr wrap="square" anchor="ctr" lIns="54864" rIns="54864" tIns="0" bIns="0" vert="eaVert">
            <a:spAutoFit/>
          </a:bodyPr>
          <a:lstStyle/>
          <a:p>
            <a:pPr algn="ctr">
              <a:lnSpc>
                <a:spcPct val="130000"/>
              </a:lnSpc>
              <a:defRPr sz="1500"/>
            </a:pPr>
            <a:r>
              <a:rPr sz="1500" b="1" u="none">
                <a:solidFill>
                  <a:srgbClr val="FFFFFF"/>
                </a:solidFill>
                <a:latin typeface="Times New Roman"/>
                <a:ea typeface="Noto Sans CJK SC"/>
              </a:rPr>
              <a:t>知识梳理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1325880"/>
            <a:ext cx="10500055" cy="4873752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 marL="475488" indent="-475488">
              <a:lnSpc>
                <a:spcPct val="135000"/>
              </a:lnSpc>
              <a:defRPr sz="2600"/>
            </a:pPr>
            <a:r>
              <a:rPr sz="2600" b="0" u="none">
                <a:solidFill>
                  <a:srgbClr val="E8A33D"/>
                </a:solidFill>
                <a:latin typeface="Times New Roman"/>
                <a:ea typeface="Noto Sans CJK SC"/>
              </a:rPr>
              <a:t>▪ </a:t>
            </a:r>
            <a:r>
              <a:rPr sz="2600" b="0" u="none">
                <a:solidFill>
                  <a:srgbClr val="16212F"/>
                </a:solidFill>
                <a:latin typeface="Times New Roman"/>
                <a:ea typeface="Noto Sans CJK SC"/>
              </a:rPr>
              <a:t>掌握速度、位移、速度—位移三个基本关系式，能按「缺谁求谁」选公式。</a:t>
            </a:r>
          </a:p>
          <a:p>
            <a:pPr algn="l" marL="475488" indent="-475488">
              <a:lnSpc>
                <a:spcPct val="135000"/>
              </a:lnSpc>
              <a:spcBef>
                <a:spcPts val="1000"/>
              </a:spcBef>
            </a:pPr>
            <a:r>
              <a:rPr sz="2600" b="0" u="none">
                <a:solidFill>
                  <a:srgbClr val="E8A33D"/>
                </a:solidFill>
                <a:latin typeface="Times New Roman"/>
                <a:ea typeface="Noto Sans CJK SC"/>
              </a:rPr>
              <a:t>▪ </a:t>
            </a:r>
            <a:r>
              <a:rPr sz="2600" b="0" u="none">
                <a:solidFill>
                  <a:srgbClr val="16212F"/>
                </a:solidFill>
                <a:latin typeface="Times New Roman"/>
                <a:ea typeface="Noto Sans CJK SC"/>
              </a:rPr>
              <a:t>会用 v-t 图像面积求位移，能处理刹车类与多过程问题。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345936"/>
            <a:ext cx="859536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Noto Sans CJK SC"/>
              </a:rPr>
              <a:t>胶州四中 · 第02讲 匀变速直线运动的规律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8695" y="6345936"/>
            <a:ext cx="68580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r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Noto Sans CJK S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188720"/>
            <a:ext cx="3657600" cy="155448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9200"/>
            </a:pPr>
            <a:r>
              <a:rPr sz="9200" b="1" u="none">
                <a:solidFill>
                  <a:srgbClr val="E8A33D"/>
                </a:solidFill>
                <a:latin typeface="Times New Roman"/>
                <a:ea typeface="Noto Sans CJK SC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834640"/>
            <a:ext cx="10180015" cy="109728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4000"/>
            </a:pPr>
            <a:r>
              <a:rPr sz="4000" b="1" u="none">
                <a:solidFill>
                  <a:srgbClr val="FFFFFF"/>
                </a:solidFill>
                <a:latin typeface="Times New Roman"/>
                <a:ea typeface="Noto Sans CJK SC"/>
              </a:rPr>
              <a:t>考情分析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88575" y="932688"/>
            <a:ext cx="1645920" cy="9525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88575" y="832104"/>
            <a:ext cx="9525" cy="100584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25735" y="882396"/>
            <a:ext cx="9525" cy="50292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362895" y="882396"/>
            <a:ext cx="9525" cy="50292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00055" y="832104"/>
            <a:ext cx="9525" cy="100584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37215" y="882396"/>
            <a:ext cx="9525" cy="50292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774375" y="882396"/>
            <a:ext cx="9525" cy="50292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11535" y="832104"/>
            <a:ext cx="9525" cy="100584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048695" y="882396"/>
            <a:ext cx="9525" cy="50292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185855" y="882396"/>
            <a:ext cx="9525" cy="50292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323015" y="832104"/>
            <a:ext cx="9525" cy="100584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60175" y="882396"/>
            <a:ext cx="9525" cy="50292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597335" y="882396"/>
            <a:ext cx="9525" cy="50292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0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786384"/>
            <a:ext cx="12191695" cy="3657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128016"/>
            <a:ext cx="8442656" cy="53035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2800"/>
            </a:pPr>
            <a:r>
              <a:rPr sz="2800" b="1" u="none">
                <a:solidFill>
                  <a:srgbClr val="FFFFFF"/>
                </a:solidFill>
                <a:latin typeface="Times New Roman"/>
                <a:ea typeface="Noto Sans CJK SC"/>
              </a:rPr>
              <a:t>考情分析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731520" y="1371600"/>
          <a:ext cx="10728655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731"/>
                <a:gridCol w="2145731"/>
                <a:gridCol w="2145731"/>
                <a:gridCol w="2145731"/>
                <a:gridCol w="2145731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500" b="1" u="none">
                          <a:solidFill>
                            <a:srgbClr val="FFFFFF"/>
                          </a:solidFill>
                          <a:latin typeface="Times New Roman"/>
                          <a:ea typeface="Noto Sans CJK SC"/>
                        </a:rPr>
                        <a:t>考点</a:t>
                      </a:r>
                    </a:p>
                  </a:txBody>
                  <a:tcPr anchor="ctr" marL="73152" marR="73152"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u="none">
                          <a:solidFill>
                            <a:srgbClr val="FFFFFF"/>
                          </a:solidFill>
                          <a:latin typeface="Times New Roman"/>
                          <a:ea typeface="Noto Sans CJK SC"/>
                        </a:rPr>
                        <a:t>要求</a:t>
                      </a:r>
                    </a:p>
                  </a:txBody>
                  <a:tcPr anchor="ctr" marL="73152" marR="73152"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u="none">
                          <a:solidFill>
                            <a:srgbClr val="FFFFFF"/>
                          </a:solidFill>
                          <a:latin typeface="Times New Roman"/>
                          <a:ea typeface="Noto Sans CJK SC"/>
                        </a:rPr>
                        <a:t>考频</a:t>
                      </a:r>
                    </a:p>
                  </a:txBody>
                  <a:tcPr anchor="ctr" marL="73152" marR="73152"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u="none">
                          <a:solidFill>
                            <a:srgbClr val="FFFFFF"/>
                          </a:solidFill>
                          <a:latin typeface="Times New Roman"/>
                          <a:ea typeface="Noto Sans CJK SC"/>
                        </a:rPr>
                        <a:t>2025</a:t>
                      </a:r>
                    </a:p>
                  </a:txBody>
                  <a:tcPr anchor="ctr" marL="73152" marR="73152"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u="none">
                          <a:solidFill>
                            <a:srgbClr val="FFFFFF"/>
                          </a:solidFill>
                          <a:latin typeface="Times New Roman"/>
                          <a:ea typeface="Noto Sans CJK SC"/>
                        </a:rPr>
                        <a:t>2024</a:t>
                      </a:r>
                    </a:p>
                  </a:txBody>
                  <a:tcPr anchor="ctr" marL="73152" marR="73152">
                    <a:solidFill>
                      <a:srgbClr val="10233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400" b="0" u="none">
                          <a:solidFill>
                            <a:srgbClr val="16212F"/>
                          </a:solidFill>
                          <a:latin typeface="Times New Roman"/>
                          <a:ea typeface="Noto Sans CJK SC"/>
                        </a:rPr>
                        <a:t>三个基本公式</a:t>
                      </a:r>
                    </a:p>
                  </a:txBody>
                  <a:tcPr anchor="ctr" marL="73152" marR="73152"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u="none">
                          <a:solidFill>
                            <a:srgbClr val="16212F"/>
                          </a:solidFill>
                          <a:latin typeface="Times New Roman"/>
                          <a:ea typeface="Noto Sans CJK SC"/>
                        </a:rPr>
                        <a:t>Ⅱ</a:t>
                      </a:r>
                    </a:p>
                  </a:txBody>
                  <a:tcPr anchor="ctr" marL="73152" marR="73152"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u="none">
                          <a:solidFill>
                            <a:srgbClr val="16212F"/>
                          </a:solidFill>
                          <a:latin typeface="Times New Roman"/>
                          <a:ea typeface="Noto Sans CJK SC"/>
                        </a:rPr>
                        <a:t>高频</a:t>
                      </a:r>
                    </a:p>
                  </a:txBody>
                  <a:tcPr anchor="ctr" marL="73152" marR="73152"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u="none">
                          <a:solidFill>
                            <a:srgbClr val="16212F"/>
                          </a:solidFill>
                          <a:latin typeface="Times New Roman"/>
                          <a:ea typeface="Noto Sans CJK SC"/>
                        </a:rPr>
                        <a:t>山东·3</a:t>
                      </a:r>
                    </a:p>
                  </a:txBody>
                  <a:tcPr anchor="ctr" marL="73152" marR="73152"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u="none">
                          <a:solidFill>
                            <a:srgbClr val="16212F"/>
                          </a:solidFill>
                          <a:latin typeface="Times New Roman"/>
                          <a:ea typeface="Noto Sans CJK SC"/>
                        </a:rPr>
                        <a:t>全国·14</a:t>
                      </a:r>
                    </a:p>
                  </a:txBody>
                  <a:tcPr anchor="ctr" marL="73152" marR="73152">
                    <a:solidFill>
                      <a:srgbClr val="EDF1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400" b="0" u="none">
                          <a:solidFill>
                            <a:srgbClr val="16212F"/>
                          </a:solidFill>
                          <a:latin typeface="Times New Roman"/>
                          <a:ea typeface="Noto Sans CJK SC"/>
                        </a:rPr>
                        <a:t>刹车与多过程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u="none">
                          <a:solidFill>
                            <a:srgbClr val="16212F"/>
                          </a:solidFill>
                          <a:latin typeface="Times New Roman"/>
                          <a:ea typeface="Noto Sans CJK SC"/>
                        </a:rPr>
                        <a:t>Ⅱ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u="none">
                          <a:solidFill>
                            <a:srgbClr val="16212F"/>
                          </a:solidFill>
                          <a:latin typeface="Times New Roman"/>
                          <a:ea typeface="Noto Sans CJK SC"/>
                        </a:rPr>
                        <a:t>中频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u="none">
                          <a:solidFill>
                            <a:srgbClr val="16212F"/>
                          </a:solidFill>
                          <a:latin typeface="Times New Roman"/>
                          <a:ea typeface="Noto Sans CJK SC"/>
                        </a:rPr>
                        <a:t>江苏·8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u="none">
                          <a:solidFill>
                            <a:srgbClr val="16212F"/>
                          </a:solidFill>
                          <a:latin typeface="Times New Roman"/>
                          <a:ea typeface="Noto Sans CJK SC"/>
                        </a:rPr>
                        <a:t>——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400" b="0" u="none">
                          <a:solidFill>
                            <a:srgbClr val="16212F"/>
                          </a:solidFill>
                          <a:latin typeface="Times New Roman"/>
                          <a:ea typeface="Noto Sans CJK SC"/>
                        </a:rPr>
                        <a:t>v-t 图像</a:t>
                      </a:r>
                    </a:p>
                  </a:txBody>
                  <a:tcPr anchor="ctr" marL="73152" marR="73152"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u="none">
                          <a:solidFill>
                            <a:srgbClr val="16212F"/>
                          </a:solidFill>
                          <a:latin typeface="Times New Roman"/>
                          <a:ea typeface="Noto Sans CJK SC"/>
                        </a:rPr>
                        <a:t>Ⅰ</a:t>
                      </a:r>
                    </a:p>
                  </a:txBody>
                  <a:tcPr anchor="ctr" marL="73152" marR="73152"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u="none">
                          <a:solidFill>
                            <a:srgbClr val="16212F"/>
                          </a:solidFill>
                          <a:latin typeface="Times New Roman"/>
                          <a:ea typeface="Noto Sans CJK SC"/>
                        </a:rPr>
                        <a:t>高频</a:t>
                      </a:r>
                    </a:p>
                  </a:txBody>
                  <a:tcPr anchor="ctr" marL="73152" marR="73152"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u="none">
                          <a:solidFill>
                            <a:srgbClr val="16212F"/>
                          </a:solidFill>
                          <a:latin typeface="Times New Roman"/>
                          <a:ea typeface="Noto Sans CJK SC"/>
                        </a:rPr>
                        <a:t>湖南·6</a:t>
                      </a:r>
                    </a:p>
                  </a:txBody>
                  <a:tcPr anchor="ctr" marL="73152" marR="73152"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u="none">
                          <a:solidFill>
                            <a:srgbClr val="16212F"/>
                          </a:solidFill>
                          <a:latin typeface="Times New Roman"/>
                          <a:ea typeface="Noto Sans CJK SC"/>
                        </a:rPr>
                        <a:t>浙江·5</a:t>
                      </a:r>
                    </a:p>
                  </a:txBody>
                  <a:tcPr anchor="ctr" marL="73152" marR="73152">
                    <a:solidFill>
                      <a:srgbClr val="EDF1F7"/>
                    </a:solidFill>
                  </a:tcPr>
                </a:tc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345936"/>
            <a:ext cx="859536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Noto Sans CJK SC"/>
              </a:rPr>
              <a:t>胶州四中 · 第02讲 匀变速直线运动的规律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48695" y="6345936"/>
            <a:ext cx="68580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r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Noto Sans CJK S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88575" y="932688"/>
            <a:ext cx="1645920" cy="9525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88575" y="832104"/>
            <a:ext cx="9525" cy="100584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25735" y="882396"/>
            <a:ext cx="9525" cy="50292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362895" y="882396"/>
            <a:ext cx="9525" cy="50292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00055" y="832104"/>
            <a:ext cx="9525" cy="100584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37215" y="882396"/>
            <a:ext cx="9525" cy="50292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774375" y="882396"/>
            <a:ext cx="9525" cy="50292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11535" y="832104"/>
            <a:ext cx="9525" cy="100584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048695" y="882396"/>
            <a:ext cx="9525" cy="50292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185855" y="882396"/>
            <a:ext cx="9525" cy="50292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323015" y="832104"/>
            <a:ext cx="9525" cy="100584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60175" y="882396"/>
            <a:ext cx="9525" cy="50292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597335" y="882396"/>
            <a:ext cx="9525" cy="50292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0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786384"/>
            <a:ext cx="12191695" cy="3657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128016"/>
            <a:ext cx="8442656" cy="53035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2800"/>
            </a:pPr>
            <a:r>
              <a:rPr sz="2800" b="1" u="none">
                <a:solidFill>
                  <a:srgbClr val="FFFFFF"/>
                </a:solidFill>
                <a:latin typeface="Times New Roman"/>
                <a:ea typeface="Noto Sans CJK SC"/>
              </a:rPr>
              <a:t>知识点1 匀变速直线运动的定义及分类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86239" y="201168"/>
            <a:ext cx="2002536" cy="365760"/>
          </a:xfrm>
          <a:prstGeom prst="roundRect">
            <a:avLst>
              <a:gd name="adj" fmla="val 35000"/>
            </a:avLst>
          </a:prstGeom>
          <a:solidFill>
            <a:srgbClr val="2A3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86239" y="219456"/>
            <a:ext cx="2002536" cy="329184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30000"/>
              </a:lnSpc>
              <a:defRPr sz="1100"/>
            </a:pPr>
            <a:r>
              <a:rPr sz="1100" b="1" u="none">
                <a:solidFill>
                  <a:srgbClr val="FFFFFF"/>
                </a:solidFill>
                <a:latin typeface="Times New Roman"/>
                <a:ea typeface="Noto Sans CJK SC"/>
              </a:rPr>
              <a:t>知识点1 匀变速直线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9456" y="1417320"/>
            <a:ext cx="365760" cy="2194560"/>
          </a:xfrm>
          <a:prstGeom prst="roundRect">
            <a:avLst>
              <a:gd name="adj" fmla="val 18000"/>
            </a:avLst>
          </a:prstGeom>
          <a:solidFill>
            <a:srgbClr val="10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9456" y="1508760"/>
            <a:ext cx="365760" cy="2011680"/>
          </a:xfrm>
          <a:prstGeom prst="rect">
            <a:avLst/>
          </a:prstGeom>
          <a:noFill/>
        </p:spPr>
        <p:txBody>
          <a:bodyPr wrap="square" anchor="ctr" lIns="54864" rIns="54864" tIns="0" bIns="0" vert="eaVert">
            <a:spAutoFit/>
          </a:bodyPr>
          <a:lstStyle/>
          <a:p>
            <a:pPr algn="ctr">
              <a:lnSpc>
                <a:spcPct val="130000"/>
              </a:lnSpc>
              <a:defRPr sz="1500"/>
            </a:pPr>
            <a:r>
              <a:rPr sz="1500" b="1" u="none">
                <a:solidFill>
                  <a:srgbClr val="FFFFFF"/>
                </a:solidFill>
                <a:latin typeface="Times New Roman"/>
                <a:ea typeface="Noto Sans CJK SC"/>
              </a:rPr>
              <a:t>知识梳理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1325880"/>
            <a:ext cx="10500055" cy="4873752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 marL="475488" indent="-475488">
              <a:lnSpc>
                <a:spcPct val="135000"/>
              </a:lnSpc>
              <a:defRPr sz="2600"/>
            </a:pPr>
            <a:r>
              <a:rPr sz="2600" b="0" u="none">
                <a:solidFill>
                  <a:srgbClr val="16212F"/>
                </a:solidFill>
                <a:latin typeface="Times New Roman"/>
                <a:ea typeface="Noto Sans CJK SC"/>
              </a:rPr>
              <a:t>1. 定义：物体沿一条直线运动，且 </a:t>
            </a:r>
            <a:r>
              <a:rPr sz="2600" b="0" u="sng">
                <a:solidFill>
                  <a:srgbClr val="16212F"/>
                </a:solidFill>
                <a:latin typeface="Times New Roman"/>
                <a:ea typeface="Noto Sans CJK SC"/>
              </a:rPr>
              <a:t>　　　　</a:t>
            </a:r>
            <a:r>
              <a:rPr sz="2600" b="0" u="none">
                <a:solidFill>
                  <a:srgbClr val="16212F"/>
                </a:solidFill>
                <a:latin typeface="Times New Roman"/>
                <a:ea typeface="Noto Sans CJK SC"/>
              </a:rPr>
              <a:t> 不变的运动。</a:t>
            </a:r>
          </a:p>
          <a:p>
            <a:pPr algn="l" marL="475488" indent="-475488">
              <a:lnSpc>
                <a:spcPct val="135000"/>
              </a:lnSpc>
              <a:spcBef>
                <a:spcPts val="1000"/>
              </a:spcBef>
            </a:pPr>
            <a:r>
              <a:rPr sz="2600" b="0" u="none">
                <a:solidFill>
                  <a:srgbClr val="16212F"/>
                </a:solidFill>
                <a:latin typeface="Times New Roman"/>
                <a:ea typeface="Noto Sans CJK SC"/>
              </a:rPr>
              <a:t>2. 特点：加速度大小和方向都不变，与速度方向是否变化 </a:t>
            </a:r>
            <a:r>
              <a:rPr sz="2600" b="0" u="sng">
                <a:solidFill>
                  <a:srgbClr val="16212F"/>
                </a:solidFill>
                <a:latin typeface="Times New Roman"/>
                <a:ea typeface="Noto Sans CJK SC"/>
              </a:rPr>
              <a:t>　　　</a:t>
            </a:r>
            <a:r>
              <a:rPr sz="2600" b="0" u="none">
                <a:solidFill>
                  <a:srgbClr val="16212F"/>
                </a:solidFill>
                <a:latin typeface="Times New Roman"/>
                <a:ea typeface="Noto Sans CJK SC"/>
              </a:rPr>
              <a:t>。</a:t>
            </a:r>
          </a:p>
          <a:p>
            <a:pPr algn="l" marL="475488" indent="-475488">
              <a:lnSpc>
                <a:spcPct val="135000"/>
              </a:lnSpc>
              <a:spcBef>
                <a:spcPts val="1000"/>
              </a:spcBef>
            </a:pPr>
            <a:r>
              <a:rPr sz="2600" b="0" u="none">
                <a:solidFill>
                  <a:srgbClr val="16212F"/>
                </a:solidFill>
                <a:latin typeface="Times New Roman"/>
                <a:ea typeface="Noto Sans CJK SC"/>
              </a:rPr>
              <a:t>3. 分类：匀加速（a 与 v </a:t>
            </a:r>
            <a:r>
              <a:rPr sz="2600" b="0" u="sng">
                <a:solidFill>
                  <a:srgbClr val="16212F"/>
                </a:solidFill>
                <a:latin typeface="Times New Roman"/>
                <a:ea typeface="Noto Sans CJK SC"/>
              </a:rPr>
              <a:t>　　　</a:t>
            </a:r>
            <a:r>
              <a:rPr sz="2600" b="0" u="none">
                <a:solidFill>
                  <a:srgbClr val="16212F"/>
                </a:solidFill>
                <a:latin typeface="Times New Roman"/>
                <a:ea typeface="Noto Sans CJK SC"/>
              </a:rPr>
              <a:t>）、匀减速（a 与 v </a:t>
            </a:r>
            <a:r>
              <a:rPr sz="2600" b="0" u="sng">
                <a:solidFill>
                  <a:srgbClr val="16212F"/>
                </a:solidFill>
                <a:latin typeface="Times New Roman"/>
                <a:ea typeface="Noto Sans CJK SC"/>
              </a:rPr>
              <a:t>　　　</a:t>
            </a:r>
            <a:r>
              <a:rPr sz="2600" b="0" u="none">
                <a:solidFill>
                  <a:srgbClr val="16212F"/>
                </a:solidFill>
                <a:latin typeface="Times New Roman"/>
                <a:ea typeface="Noto Sans CJK SC"/>
              </a:rPr>
              <a:t>）。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6345936"/>
            <a:ext cx="859536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Noto Sans CJK SC"/>
              </a:rPr>
              <a:t>胶州四中 · 第02讲 匀变速直线运动的规律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48695" y="6345936"/>
            <a:ext cx="68580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r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Noto Sans CJK S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88575" y="932688"/>
            <a:ext cx="1645920" cy="9525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88575" y="832104"/>
            <a:ext cx="9525" cy="100584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25735" y="882396"/>
            <a:ext cx="9525" cy="50292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362895" y="882396"/>
            <a:ext cx="9525" cy="50292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00055" y="832104"/>
            <a:ext cx="9525" cy="100584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37215" y="882396"/>
            <a:ext cx="9525" cy="50292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774375" y="882396"/>
            <a:ext cx="9525" cy="50292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11535" y="832104"/>
            <a:ext cx="9525" cy="100584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048695" y="882396"/>
            <a:ext cx="9525" cy="50292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185855" y="882396"/>
            <a:ext cx="9525" cy="50292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323015" y="832104"/>
            <a:ext cx="9525" cy="100584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60175" y="882396"/>
            <a:ext cx="9525" cy="50292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597335" y="882396"/>
            <a:ext cx="9525" cy="50292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0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786384"/>
            <a:ext cx="12191695" cy="3657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128016"/>
            <a:ext cx="8442656" cy="53035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2800"/>
            </a:pPr>
            <a:r>
              <a:rPr sz="2800" b="1" u="none">
                <a:solidFill>
                  <a:srgbClr val="FFFFFF"/>
                </a:solidFill>
                <a:latin typeface="Times New Roman"/>
                <a:ea typeface="Noto Sans CJK SC"/>
              </a:rPr>
              <a:t>知识点2 三个基本公式｜公式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1371600"/>
            <a:ext cx="10728655" cy="1600200"/>
          </a:xfrm>
          <a:prstGeom prst="roundRect">
            <a:avLst>
              <a:gd name="adj" fmla="val 4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1463040"/>
            <a:ext cx="10180015" cy="141732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20000"/>
              </a:lnSpc>
              <a:defRPr sz="4000"/>
            </a:pPr>
            <a:r>
              <a:rPr sz="4000" b="1" u="none">
                <a:solidFill>
                  <a:srgbClr val="10233F"/>
                </a:solidFill>
                <a:latin typeface="Times New Roman"/>
                <a:ea typeface="Noto Sans CJK SC"/>
              </a:rPr>
              <a:t>v = v₀ + at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703320"/>
            <a:ext cx="5227167" cy="2148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3840480"/>
            <a:ext cx="4769967" cy="41148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500"/>
            </a:pPr>
            <a:r>
              <a:rPr sz="1500" b="1" u="none">
                <a:solidFill>
                  <a:srgbClr val="E8A33D"/>
                </a:solidFill>
                <a:latin typeface="Times New Roman"/>
                <a:ea typeface="Noto Sans CJK SC"/>
              </a:rPr>
              <a:t>条件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297680"/>
            <a:ext cx="4769967" cy="146304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50000"/>
              </a:lnSpc>
              <a:defRPr sz="1600"/>
            </a:pPr>
            <a:r>
              <a:rPr sz="1600" b="0" u="none">
                <a:solidFill>
                  <a:srgbClr val="16212F"/>
                </a:solidFill>
                <a:latin typeface="Times New Roman"/>
                <a:ea typeface="Noto Sans CJK SC"/>
              </a:rPr>
              <a:t>匀变速直线运动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3007" y="3703320"/>
            <a:ext cx="5227167" cy="2148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61607" y="3840480"/>
            <a:ext cx="4769967" cy="41148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500"/>
            </a:pPr>
            <a:r>
              <a:rPr sz="1500" b="1" u="none">
                <a:solidFill>
                  <a:srgbClr val="E8A33D"/>
                </a:solidFill>
                <a:latin typeface="Times New Roman"/>
                <a:ea typeface="Noto Sans CJK SC"/>
              </a:rPr>
              <a:t>结论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1607" y="4297680"/>
            <a:ext cx="4769967" cy="146304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50000"/>
              </a:lnSpc>
              <a:defRPr sz="1600"/>
            </a:pPr>
            <a:r>
              <a:rPr sz="1600" b="0" u="none">
                <a:solidFill>
                  <a:srgbClr val="16212F"/>
                </a:solidFill>
                <a:latin typeface="Times New Roman"/>
                <a:ea typeface="Noto Sans CJK SC"/>
              </a:rPr>
              <a:t>已知 v₀、a、t 求末速度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6345936"/>
            <a:ext cx="859536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Noto Sans CJK SC"/>
              </a:rPr>
              <a:t>胶州四中 · 第02讲 匀变速直线运动的规律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48695" y="6345936"/>
            <a:ext cx="68580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r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Noto Sans CJK S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88575" y="932688"/>
            <a:ext cx="1645920" cy="9525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88575" y="832104"/>
            <a:ext cx="9525" cy="100584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25735" y="882396"/>
            <a:ext cx="9525" cy="50292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362895" y="882396"/>
            <a:ext cx="9525" cy="50292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00055" y="832104"/>
            <a:ext cx="9525" cy="100584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37215" y="882396"/>
            <a:ext cx="9525" cy="50292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774375" y="882396"/>
            <a:ext cx="9525" cy="50292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11535" y="832104"/>
            <a:ext cx="9525" cy="100584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048695" y="882396"/>
            <a:ext cx="9525" cy="50292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185855" y="882396"/>
            <a:ext cx="9525" cy="50292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323015" y="832104"/>
            <a:ext cx="9525" cy="100584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60175" y="882396"/>
            <a:ext cx="9525" cy="50292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597335" y="882396"/>
            <a:ext cx="9525" cy="50292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0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786384"/>
            <a:ext cx="12191695" cy="3657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128016"/>
            <a:ext cx="8442656" cy="53035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2800"/>
            </a:pPr>
            <a:r>
              <a:rPr sz="2800" b="1" u="none">
                <a:solidFill>
                  <a:srgbClr val="FFFFFF"/>
                </a:solidFill>
                <a:latin typeface="Times New Roman"/>
                <a:ea typeface="Noto Sans CJK SC"/>
              </a:rPr>
              <a:t>知识点2 三个基本公式｜公式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1371600"/>
            <a:ext cx="10728655" cy="1600200"/>
          </a:xfrm>
          <a:prstGeom prst="roundRect">
            <a:avLst>
              <a:gd name="adj" fmla="val 4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1463040"/>
            <a:ext cx="10180015" cy="141732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20000"/>
              </a:lnSpc>
              <a:defRPr sz="4000"/>
            </a:pPr>
            <a:r>
              <a:rPr sz="4000" b="1" u="none">
                <a:solidFill>
                  <a:srgbClr val="10233F"/>
                </a:solidFill>
                <a:latin typeface="Times New Roman"/>
                <a:ea typeface="Noto Sans CJK SC"/>
              </a:rPr>
              <a:t>x = v₀t + ½at²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703320"/>
            <a:ext cx="5227167" cy="2148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3840480"/>
            <a:ext cx="4769967" cy="41148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500"/>
            </a:pPr>
            <a:r>
              <a:rPr sz="1500" b="1" u="none">
                <a:solidFill>
                  <a:srgbClr val="E8A33D"/>
                </a:solidFill>
                <a:latin typeface="Times New Roman"/>
                <a:ea typeface="Noto Sans CJK SC"/>
              </a:rPr>
              <a:t>条件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297680"/>
            <a:ext cx="4769967" cy="146304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50000"/>
              </a:lnSpc>
              <a:defRPr sz="1600"/>
            </a:pPr>
            <a:r>
              <a:rPr sz="1600" b="0" u="none">
                <a:solidFill>
                  <a:srgbClr val="16212F"/>
                </a:solidFill>
                <a:latin typeface="Times New Roman"/>
                <a:ea typeface="Noto Sans CJK SC"/>
              </a:rPr>
              <a:t>同上，取初速方向为正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3007" y="3703320"/>
            <a:ext cx="5227167" cy="2148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61607" y="3840480"/>
            <a:ext cx="4769967" cy="41148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500"/>
            </a:pPr>
            <a:r>
              <a:rPr sz="1500" b="1" u="none">
                <a:solidFill>
                  <a:srgbClr val="E8A33D"/>
                </a:solidFill>
                <a:latin typeface="Times New Roman"/>
                <a:ea typeface="Noto Sans CJK SC"/>
              </a:rPr>
              <a:t>结论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1607" y="4297680"/>
            <a:ext cx="4769967" cy="146304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50000"/>
              </a:lnSpc>
              <a:defRPr sz="1600"/>
            </a:pPr>
            <a:r>
              <a:rPr sz="1600" b="0" u="none">
                <a:solidFill>
                  <a:srgbClr val="16212F"/>
                </a:solidFill>
                <a:latin typeface="Times New Roman"/>
                <a:ea typeface="Noto Sans CJK SC"/>
              </a:rPr>
              <a:t>已知 v₀、a、t 求位移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6345936"/>
            <a:ext cx="859536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Noto Sans CJK SC"/>
              </a:rPr>
              <a:t>胶州四中 · 第02讲 匀变速直线运动的规律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48695" y="6345936"/>
            <a:ext cx="68580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r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Noto Sans CJK S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88575" y="932688"/>
            <a:ext cx="1645920" cy="9525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88575" y="832104"/>
            <a:ext cx="9525" cy="100584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25735" y="882396"/>
            <a:ext cx="9525" cy="50292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362895" y="882396"/>
            <a:ext cx="9525" cy="50292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00055" y="832104"/>
            <a:ext cx="9525" cy="100584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37215" y="882396"/>
            <a:ext cx="9525" cy="50292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774375" y="882396"/>
            <a:ext cx="9525" cy="50292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11535" y="832104"/>
            <a:ext cx="9525" cy="100584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048695" y="882396"/>
            <a:ext cx="9525" cy="50292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185855" y="882396"/>
            <a:ext cx="9525" cy="50292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323015" y="832104"/>
            <a:ext cx="9525" cy="100584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60175" y="882396"/>
            <a:ext cx="9525" cy="50292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597335" y="882396"/>
            <a:ext cx="9525" cy="50292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0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786384"/>
            <a:ext cx="12191695" cy="3657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128016"/>
            <a:ext cx="8442656" cy="53035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2800"/>
            </a:pPr>
            <a:r>
              <a:rPr sz="2800" b="1" u="none">
                <a:solidFill>
                  <a:srgbClr val="FFFFFF"/>
                </a:solidFill>
                <a:latin typeface="Times New Roman"/>
                <a:ea typeface="Noto Sans CJK SC"/>
              </a:rPr>
              <a:t>知识点2 三个基本公式｜公式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1371600"/>
            <a:ext cx="10728655" cy="1600200"/>
          </a:xfrm>
          <a:prstGeom prst="roundRect">
            <a:avLst>
              <a:gd name="adj" fmla="val 4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1463040"/>
            <a:ext cx="10180015" cy="141732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20000"/>
              </a:lnSpc>
              <a:defRPr sz="4000"/>
            </a:pPr>
            <a:r>
              <a:rPr sz="4000" b="1" u="none">
                <a:solidFill>
                  <a:srgbClr val="10233F"/>
                </a:solidFill>
                <a:latin typeface="Times New Roman"/>
                <a:ea typeface="Noto Sans CJK SC"/>
              </a:rPr>
              <a:t>v² − v₀² = 2ax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703320"/>
            <a:ext cx="5227167" cy="2148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3840480"/>
            <a:ext cx="4769967" cy="41148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500"/>
            </a:pPr>
            <a:r>
              <a:rPr sz="1500" b="1" u="none">
                <a:solidFill>
                  <a:srgbClr val="E8A33D"/>
                </a:solidFill>
                <a:latin typeface="Times New Roman"/>
                <a:ea typeface="Noto Sans CJK SC"/>
              </a:rPr>
              <a:t>条件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297680"/>
            <a:ext cx="4769967" cy="146304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50000"/>
              </a:lnSpc>
              <a:defRPr sz="1600"/>
            </a:pPr>
            <a:r>
              <a:rPr sz="1600" b="0" u="none">
                <a:solidFill>
                  <a:srgbClr val="16212F"/>
                </a:solidFill>
                <a:latin typeface="Times New Roman"/>
                <a:ea typeface="Noto Sans CJK SC"/>
              </a:rPr>
              <a:t>不涉及时间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3007" y="3703320"/>
            <a:ext cx="5227167" cy="2148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61607" y="3840480"/>
            <a:ext cx="4769967" cy="41148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500"/>
            </a:pPr>
            <a:r>
              <a:rPr sz="1500" b="1" u="none">
                <a:solidFill>
                  <a:srgbClr val="E8A33D"/>
                </a:solidFill>
                <a:latin typeface="Times New Roman"/>
                <a:ea typeface="Noto Sans CJK SC"/>
              </a:rPr>
              <a:t>结论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1607" y="4297680"/>
            <a:ext cx="4769967" cy="146304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50000"/>
              </a:lnSpc>
              <a:defRPr sz="1600"/>
            </a:pPr>
            <a:r>
              <a:rPr sz="1600" b="0" u="none">
                <a:solidFill>
                  <a:srgbClr val="16212F"/>
                </a:solidFill>
                <a:latin typeface="Times New Roman"/>
                <a:ea typeface="Noto Sans CJK SC"/>
              </a:rPr>
              <a:t>已知 v₀、a、x 求末速度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6345936"/>
            <a:ext cx="859536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Noto Sans CJK SC"/>
              </a:rPr>
              <a:t>胶州四中 · 第02讲 匀变速直线运动的规律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48695" y="6345936"/>
            <a:ext cx="68580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r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Noto Sans CJK S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0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442656" cy="54864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2600"/>
            </a:pPr>
            <a:r>
              <a:rPr sz="2600" b="1" u="none">
                <a:solidFill>
                  <a:srgbClr val="FFFFFF"/>
                </a:solidFill>
                <a:latin typeface="Times New Roman"/>
                <a:ea typeface="Noto Sans CJK SC"/>
              </a:rPr>
              <a:t>考向1 刹车类问题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66399" y="219456"/>
            <a:ext cx="676656" cy="365760"/>
          </a:xfrm>
          <a:prstGeom prst="roundRect">
            <a:avLst>
              <a:gd name="adj" fmla="val 30000"/>
            </a:avLst>
          </a:prstGeom>
          <a:solidFill>
            <a:srgbClr val="2E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66399" y="237744"/>
            <a:ext cx="676656" cy="329184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30000"/>
              </a:lnSpc>
              <a:defRPr sz="1100"/>
            </a:pPr>
            <a:r>
              <a:rPr sz="1100" b="1" u="none">
                <a:solidFill>
                  <a:srgbClr val="FFFFFF"/>
                </a:solidFill>
                <a:latin typeface="Times New Roman"/>
                <a:ea typeface="Noto Sans CJK SC"/>
              </a:rPr>
              <a:t>例题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78992"/>
            <a:ext cx="1078992" cy="402336"/>
          </a:xfrm>
          <a:prstGeom prst="roundRect">
            <a:avLst>
              <a:gd name="adj" fmla="val 25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97280"/>
            <a:ext cx="1078992" cy="36576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30000"/>
              </a:lnSpc>
              <a:defRPr sz="1500"/>
            </a:pPr>
            <a:r>
              <a:rPr sz="1500" b="1" u="none">
                <a:solidFill>
                  <a:srgbClr val="FFFFFF"/>
                </a:solidFill>
                <a:latin typeface="Times New Roman"/>
                <a:ea typeface="Noto Sans CJK SC"/>
              </a:rPr>
              <a:t>例1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8122615" cy="21031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45000"/>
              </a:lnSpc>
              <a:defRPr sz="2200"/>
            </a:pPr>
            <a:r>
              <a:rPr sz="2200" b="0" u="none">
                <a:solidFill>
                  <a:srgbClr val="16212F"/>
                </a:solidFill>
                <a:latin typeface="Times New Roman"/>
                <a:ea typeface="Noto Sans CJK SC"/>
              </a:rPr>
              <a:t>（2025·山东济南一模）汽车以 20 m/s 行驶，刹车加速度大小为 5 m/s²。求 6 s 内的位移。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99855" y="1536192"/>
            <a:ext cx="2743200" cy="4572000"/>
          </a:xfrm>
          <a:prstGeom prst="roundRect">
            <a:avLst>
              <a:gd name="adj" fmla="val 5000"/>
            </a:avLst>
          </a:prstGeom>
          <a:solidFill>
            <a:srgbClr val="FDFBF7"/>
          </a:solidFill>
          <a:ln w="12700">
            <a:solidFill>
              <a:srgbClr val="E5C9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899855" y="1536192"/>
            <a:ext cx="64008" cy="457200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82735" y="1645920"/>
            <a:ext cx="2414016" cy="43891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45000"/>
              </a:lnSpc>
              <a:defRPr sz="1400"/>
            </a:pPr>
            <a:r>
              <a:rPr sz="1400" b="1" u="none">
                <a:solidFill>
                  <a:srgbClr val="B42318"/>
                </a:solidFill>
                <a:latin typeface="Times New Roman"/>
                <a:ea typeface="Noto Sans CJK SC"/>
              </a:rPr>
              <a:t>判定要点</a:t>
            </a:r>
          </a:p>
          <a:p>
            <a:pPr algn="l" marL="292608" indent="-292608">
              <a:lnSpc>
                <a:spcPct val="135000"/>
              </a:lnSpc>
              <a:spcBef>
                <a:spcPts val="600"/>
              </a:spcBef>
            </a:pPr>
            <a:r>
              <a:rPr sz="1300" b="1" u="none">
                <a:solidFill>
                  <a:srgbClr val="B42318"/>
                </a:solidFill>
                <a:latin typeface="Times New Roman"/>
                <a:ea typeface="Noto Sans CJK SC"/>
              </a:rPr>
              <a:t>1. </a:t>
            </a:r>
            <a:r>
              <a:rPr sz="1300" b="0" u="none">
                <a:solidFill>
                  <a:srgbClr val="6B2B2B"/>
                </a:solidFill>
                <a:latin typeface="Times New Roman"/>
                <a:ea typeface="Noto Sans CJK SC"/>
              </a:rPr>
              <a:t>刹车问题必须先判断停止时间，再判断所给时间是否超时。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345936"/>
            <a:ext cx="859536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Noto Sans CJK SC"/>
              </a:rPr>
              <a:t>胶州四中 · 第02讲 匀变速直线运动的规律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48695" y="6345936"/>
            <a:ext cx="68580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r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Noto Sans CJK S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0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442656" cy="54864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2600"/>
            </a:pPr>
            <a:r>
              <a:rPr sz="2600" b="1" u="none">
                <a:solidFill>
                  <a:srgbClr val="FFFFFF"/>
                </a:solidFill>
                <a:latin typeface="Times New Roman"/>
                <a:ea typeface="Noto Sans CJK SC"/>
              </a:rPr>
              <a:t>考向1 刹车类问题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66399" y="219456"/>
            <a:ext cx="676656" cy="365760"/>
          </a:xfrm>
          <a:prstGeom prst="roundRect">
            <a:avLst>
              <a:gd name="adj" fmla="val 30000"/>
            </a:avLst>
          </a:prstGeom>
          <a:solidFill>
            <a:srgbClr val="2E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66399" y="237744"/>
            <a:ext cx="676656" cy="329184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30000"/>
              </a:lnSpc>
              <a:defRPr sz="1100"/>
            </a:pPr>
            <a:r>
              <a:rPr sz="1100" b="1" u="none">
                <a:solidFill>
                  <a:srgbClr val="FFFFFF"/>
                </a:solidFill>
                <a:latin typeface="Times New Roman"/>
                <a:ea typeface="Noto Sans CJK SC"/>
              </a:rPr>
              <a:t>例题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97280"/>
            <a:ext cx="1078992" cy="384048"/>
          </a:xfrm>
          <a:prstGeom prst="roundRect">
            <a:avLst>
              <a:gd name="adj" fmla="val 25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15568"/>
            <a:ext cx="1078992" cy="34747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30000"/>
              </a:lnSpc>
              <a:defRPr sz="1400"/>
            </a:pPr>
            <a:r>
              <a:rPr sz="1400" b="1" u="none">
                <a:solidFill>
                  <a:srgbClr val="FFFFFF"/>
                </a:solidFill>
                <a:latin typeface="Times New Roman"/>
                <a:ea typeface="Noto Sans CJK SC"/>
              </a:rPr>
              <a:t>例1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45920"/>
            <a:ext cx="11048695" cy="45720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45000"/>
              </a:lnSpc>
              <a:defRPr sz="2000"/>
            </a:pPr>
            <a:r>
              <a:rPr sz="2000" b="1" u="none">
                <a:solidFill>
                  <a:srgbClr val="E8A33D"/>
                </a:solidFill>
                <a:latin typeface="Times New Roman"/>
                <a:ea typeface="Noto Sans CJK SC"/>
              </a:rPr>
              <a:t>解析　</a:t>
            </a:r>
            <a:r>
              <a:rPr sz="2000" b="0" u="none">
                <a:solidFill>
                  <a:srgbClr val="16212F"/>
                </a:solidFill>
                <a:latin typeface="Times New Roman"/>
                <a:ea typeface="Noto Sans CJK SC"/>
              </a:rPr>
              <a:t>先求刹车时间 t₀ = v₀/|a| = 4 s ＜ 6 s，故 6 s 内位移等于 4 s 内位移，x = v₀t₀/2 = 40 m。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345936"/>
            <a:ext cx="859536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Noto Sans CJK SC"/>
              </a:rPr>
              <a:t>胶州四中 · 第02讲 匀变速直线运动的规律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48695" y="6345936"/>
            <a:ext cx="68580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r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Noto Sans CJK S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88575" y="932688"/>
            <a:ext cx="1645920" cy="9525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88575" y="832104"/>
            <a:ext cx="9525" cy="100584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25735" y="882396"/>
            <a:ext cx="9525" cy="50292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362895" y="882396"/>
            <a:ext cx="9525" cy="50292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00055" y="832104"/>
            <a:ext cx="9525" cy="100584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37215" y="882396"/>
            <a:ext cx="9525" cy="50292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774375" y="882396"/>
            <a:ext cx="9525" cy="50292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11535" y="832104"/>
            <a:ext cx="9525" cy="100584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048695" y="882396"/>
            <a:ext cx="9525" cy="50292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185855" y="882396"/>
            <a:ext cx="9525" cy="50292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323015" y="832104"/>
            <a:ext cx="9525" cy="100584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60175" y="882396"/>
            <a:ext cx="9525" cy="50292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597335" y="882396"/>
            <a:ext cx="9525" cy="50292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0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786384"/>
            <a:ext cx="12191695" cy="3657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128016"/>
            <a:ext cx="8442656" cy="53035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2800"/>
            </a:pPr>
            <a:r>
              <a:rPr sz="2800" b="1" u="none">
                <a:solidFill>
                  <a:srgbClr val="FFFFFF"/>
                </a:solidFill>
                <a:latin typeface="Times New Roman"/>
                <a:ea typeface="Noto Sans CJK SC"/>
              </a:rPr>
              <a:t>特别提醒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701223" y="201168"/>
            <a:ext cx="987552" cy="365760"/>
          </a:xfrm>
          <a:prstGeom prst="roundRect">
            <a:avLst>
              <a:gd name="adj" fmla="val 35000"/>
            </a:avLst>
          </a:prstGeom>
          <a:solidFill>
            <a:srgbClr val="2A3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01223" y="219456"/>
            <a:ext cx="987552" cy="329184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30000"/>
              </a:lnSpc>
              <a:defRPr sz="1100"/>
            </a:pPr>
            <a:r>
              <a:rPr sz="1100" b="1" u="none">
                <a:solidFill>
                  <a:srgbClr val="FFFFFF"/>
                </a:solidFill>
                <a:latin typeface="Times New Roman"/>
                <a:ea typeface="Noto Sans CJK SC"/>
              </a:rPr>
              <a:t>易错提醒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1417320"/>
            <a:ext cx="10728655" cy="3017520"/>
          </a:xfrm>
          <a:prstGeom prst="roundRect">
            <a:avLst>
              <a:gd name="adj" fmla="val 5000"/>
            </a:avLst>
          </a:prstGeom>
          <a:solidFill>
            <a:srgbClr val="FDF2F2"/>
          </a:solidFill>
          <a:ln w="12700">
            <a:solidFill>
              <a:srgbClr val="F3B4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1417320"/>
            <a:ext cx="91440" cy="301752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1645920"/>
            <a:ext cx="10088575" cy="2560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50000"/>
              </a:lnSpc>
              <a:defRPr sz="2200"/>
            </a:pPr>
            <a:r>
              <a:rPr sz="2200" b="0" u="none">
                <a:solidFill>
                  <a:srgbClr val="B42318"/>
                </a:solidFill>
                <a:latin typeface="Times New Roman"/>
                <a:ea typeface="Noto Sans CJK SC"/>
              </a:rPr>
              <a:t>⚠ </a:t>
            </a:r>
            <a:r>
              <a:rPr sz="2200" b="0" u="none">
                <a:solidFill>
                  <a:srgbClr val="8A1B1B"/>
                </a:solidFill>
                <a:latin typeface="Times New Roman"/>
                <a:ea typeface="Noto Sans CJK SC"/>
              </a:rPr>
              <a:t>刹车到停止后不会反向运动。把 6 s 直接代入 x = v₀t + ½at² 会得 30 m，但车在 4 s 时已停，真实位移是 40 m。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6345936"/>
            <a:ext cx="859536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Noto Sans CJK SC"/>
              </a:rPr>
              <a:t>胶州四中 · 第02讲 匀变速直线运动的规律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48695" y="6345936"/>
            <a:ext cx="68580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r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Noto Sans CJK S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88575" y="932688"/>
            <a:ext cx="1645920" cy="9525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88575" y="832104"/>
            <a:ext cx="9525" cy="100584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25735" y="882396"/>
            <a:ext cx="9525" cy="50292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362895" y="882396"/>
            <a:ext cx="9525" cy="50292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00055" y="832104"/>
            <a:ext cx="9525" cy="100584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37215" y="882396"/>
            <a:ext cx="9525" cy="50292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774375" y="882396"/>
            <a:ext cx="9525" cy="50292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11535" y="832104"/>
            <a:ext cx="9525" cy="100584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048695" y="882396"/>
            <a:ext cx="9525" cy="50292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185855" y="882396"/>
            <a:ext cx="9525" cy="50292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323015" y="832104"/>
            <a:ext cx="9525" cy="100584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60175" y="882396"/>
            <a:ext cx="9525" cy="50292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597335" y="882396"/>
            <a:ext cx="9525" cy="50292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0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786384"/>
            <a:ext cx="12191695" cy="3657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128016"/>
            <a:ext cx="8442656" cy="53035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2800"/>
            </a:pPr>
            <a:r>
              <a:rPr sz="2800" b="1" u="none">
                <a:solidFill>
                  <a:srgbClr val="FFFFFF"/>
                </a:solidFill>
                <a:latin typeface="Times New Roman"/>
                <a:ea typeface="Noto Sans CJK SC"/>
              </a:rPr>
              <a:t>课时精练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9456" y="1417320"/>
            <a:ext cx="365760" cy="2194560"/>
          </a:xfrm>
          <a:prstGeom prst="roundRect">
            <a:avLst>
              <a:gd name="adj" fmla="val 18000"/>
            </a:avLst>
          </a:prstGeom>
          <a:solidFill>
            <a:srgbClr val="10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9456" y="1508760"/>
            <a:ext cx="365760" cy="2011680"/>
          </a:xfrm>
          <a:prstGeom prst="rect">
            <a:avLst/>
          </a:prstGeom>
          <a:noFill/>
        </p:spPr>
        <p:txBody>
          <a:bodyPr wrap="square" anchor="ctr" lIns="54864" rIns="54864" tIns="0" bIns="0" vert="eaVert">
            <a:spAutoFit/>
          </a:bodyPr>
          <a:lstStyle/>
          <a:p>
            <a:pPr algn="ctr">
              <a:lnSpc>
                <a:spcPct val="130000"/>
              </a:lnSpc>
              <a:defRPr sz="1500"/>
            </a:pPr>
            <a:r>
              <a:rPr sz="1500" b="1" u="none">
                <a:solidFill>
                  <a:srgbClr val="FFFFFF"/>
                </a:solidFill>
                <a:latin typeface="Times New Roman"/>
                <a:ea typeface="Noto Sans CJK SC"/>
              </a:rPr>
              <a:t>知识梳理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1325880"/>
            <a:ext cx="10500055" cy="4873752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 marL="475488" indent="-475488">
              <a:lnSpc>
                <a:spcPct val="135000"/>
              </a:lnSpc>
              <a:defRPr sz="2600"/>
            </a:pPr>
            <a:r>
              <a:rPr sz="2600" b="0" u="none">
                <a:solidFill>
                  <a:srgbClr val="16212F"/>
                </a:solidFill>
                <a:latin typeface="Times New Roman"/>
                <a:ea typeface="Noto Sans CJK SC"/>
              </a:rPr>
              <a:t>1. 物体做初速度为零的匀加速直线运动，第 1 s 内、第 2 s 内、第 3 s 内的位移之比为（　　）</a:t>
            </a:r>
          </a:p>
          <a:p>
            <a:pPr algn="l" marL="475488" indent="-475488">
              <a:lnSpc>
                <a:spcPct val="135000"/>
              </a:lnSpc>
              <a:spcBef>
                <a:spcPts val="1000"/>
              </a:spcBef>
            </a:pPr>
            <a:r>
              <a:rPr sz="2600" b="0" u="none">
                <a:solidFill>
                  <a:srgbClr val="E8A33D"/>
                </a:solidFill>
                <a:latin typeface="Times New Roman"/>
                <a:ea typeface="Noto Sans CJK SC"/>
              </a:rPr>
              <a:t>▪ </a:t>
            </a:r>
            <a:r>
              <a:rPr sz="2600" b="0" u="none">
                <a:solidFill>
                  <a:srgbClr val="16212F"/>
                </a:solidFill>
                <a:latin typeface="Times New Roman"/>
                <a:ea typeface="Noto Sans CJK SC"/>
              </a:rPr>
              <a:t>A. 1∶2∶3　B. 1∶3∶5　C. 1∶4∶9　D. 1∶1∶1</a:t>
            </a:r>
          </a:p>
          <a:p>
            <a:pPr algn="l" marL="475488" indent="-475488">
              <a:lnSpc>
                <a:spcPct val="135000"/>
              </a:lnSpc>
              <a:spcBef>
                <a:spcPts val="1000"/>
              </a:spcBef>
            </a:pPr>
            <a:r>
              <a:rPr sz="2600" b="0" u="none">
                <a:solidFill>
                  <a:srgbClr val="16212F"/>
                </a:solidFill>
                <a:latin typeface="Times New Roman"/>
                <a:ea typeface="Noto Sans CJK SC"/>
              </a:rPr>
              <a:t>2. 汽车以 10 m/s 匀速行驶，刹车加速度大小为 2 m/s²，则 8 s 内位移为 ____ m。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345936"/>
            <a:ext cx="859536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Noto Sans CJK SC"/>
              </a:rPr>
              <a:t>胶州四中 · 第02讲 匀变速直线运动的规律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8695" y="6345936"/>
            <a:ext cx="68580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r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Noto Sans CJK SC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188720"/>
            <a:ext cx="3657600" cy="155448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9200"/>
            </a:pPr>
            <a:r>
              <a:rPr sz="9200" b="1" u="none">
                <a:solidFill>
                  <a:srgbClr val="E8A33D"/>
                </a:solidFill>
                <a:latin typeface="Times New Roman"/>
                <a:ea typeface="Noto Sans CJK SC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834640"/>
            <a:ext cx="10180015" cy="109728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4000"/>
            </a:pPr>
            <a:r>
              <a:rPr sz="4000" b="1" u="none">
                <a:solidFill>
                  <a:srgbClr val="FFFFFF"/>
                </a:solidFill>
                <a:latin typeface="Times New Roman"/>
                <a:ea typeface="Noto Sans CJK SC"/>
              </a:rPr>
              <a:t>参考答案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88575" y="932688"/>
            <a:ext cx="1645920" cy="9525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88575" y="832104"/>
            <a:ext cx="9525" cy="100584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25735" y="882396"/>
            <a:ext cx="9525" cy="50292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362895" y="882396"/>
            <a:ext cx="9525" cy="50292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00055" y="832104"/>
            <a:ext cx="9525" cy="100584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37215" y="882396"/>
            <a:ext cx="9525" cy="50292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774375" y="882396"/>
            <a:ext cx="9525" cy="50292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11535" y="832104"/>
            <a:ext cx="9525" cy="100584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048695" y="882396"/>
            <a:ext cx="9525" cy="50292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185855" y="882396"/>
            <a:ext cx="9525" cy="50292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323015" y="832104"/>
            <a:ext cx="9525" cy="100584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60175" y="882396"/>
            <a:ext cx="9525" cy="50292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597335" y="882396"/>
            <a:ext cx="9525" cy="50292"/>
          </a:xfrm>
          <a:prstGeom prst="rect">
            <a:avLst/>
          </a:prstGeom>
          <a:solidFill>
            <a:srgbClr val="C6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0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786384"/>
            <a:ext cx="12191695" cy="3657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128016"/>
            <a:ext cx="8442656" cy="53035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2800"/>
            </a:pPr>
            <a:r>
              <a:rPr sz="2800" b="1" u="none">
                <a:solidFill>
                  <a:srgbClr val="FFFFFF"/>
                </a:solidFill>
                <a:latin typeface="Times New Roman"/>
                <a:ea typeface="Noto Sans CJK SC"/>
              </a:rPr>
              <a:t>参考答案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039551" y="201168"/>
            <a:ext cx="649224" cy="365760"/>
          </a:xfrm>
          <a:prstGeom prst="roundRect">
            <a:avLst>
              <a:gd name="adj" fmla="val 35000"/>
            </a:avLst>
          </a:prstGeom>
          <a:solidFill>
            <a:srgbClr val="2A3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039551" y="219456"/>
            <a:ext cx="649224" cy="329184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30000"/>
              </a:lnSpc>
              <a:defRPr sz="1100"/>
            </a:pPr>
            <a:r>
              <a:rPr sz="1100" b="1" u="none">
                <a:solidFill>
                  <a:srgbClr val="FFFFFF"/>
                </a:solidFill>
                <a:latin typeface="Times New Roman"/>
                <a:ea typeface="Noto Sans CJK SC"/>
              </a:rPr>
              <a:t>答案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1325880"/>
            <a:ext cx="10637215" cy="4873752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 marL="475488" indent="-475488">
              <a:lnSpc>
                <a:spcPct val="135000"/>
              </a:lnSpc>
              <a:defRPr sz="2600"/>
            </a:pPr>
            <a:r>
              <a:rPr sz="2600" b="0" u="none">
                <a:solidFill>
                  <a:srgbClr val="16212F"/>
                </a:solidFill>
                <a:latin typeface="Times New Roman"/>
                <a:ea typeface="Noto Sans CJK SC"/>
              </a:rPr>
              <a:t>1. B</a:t>
            </a:r>
          </a:p>
          <a:p>
            <a:pPr algn="l" marL="475488" indent="-475488">
              <a:lnSpc>
                <a:spcPct val="135000"/>
              </a:lnSpc>
              <a:spcBef>
                <a:spcPts val="1000"/>
              </a:spcBef>
            </a:pPr>
            <a:r>
              <a:rPr sz="2600" b="0" u="none">
                <a:solidFill>
                  <a:srgbClr val="16212F"/>
                </a:solidFill>
                <a:latin typeface="Times New Roman"/>
                <a:ea typeface="Noto Sans CJK SC"/>
              </a:rPr>
              <a:t>2. 25（刹车时间 5 s，8 s 内位移等于 5 s 内位移）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345936"/>
            <a:ext cx="859536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Noto Sans CJK SC"/>
              </a:rPr>
              <a:t>胶州四中 · 第02讲 匀变速直线运动的规律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8695" y="6345936"/>
            <a:ext cx="68580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r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Noto Sans CJK SC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731520"/>
            <a:ext cx="10637215" cy="82296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3800"/>
            </a:pPr>
            <a:r>
              <a:rPr sz="3800" b="1" u="none">
                <a:solidFill>
                  <a:srgbClr val="10233F"/>
                </a:solidFill>
                <a:latin typeface="Times New Roman"/>
                <a:ea typeface="Noto Sans CJK SC"/>
              </a:rPr>
              <a:t>本节课小结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10454335" cy="425196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 marL="411480" indent="-411480">
              <a:lnSpc>
                <a:spcPct val="135000"/>
              </a:lnSpc>
              <a:defRPr sz="2300"/>
            </a:pPr>
            <a:r>
              <a:rPr sz="2300" b="0" u="none">
                <a:solidFill>
                  <a:srgbClr val="E8A33D"/>
                </a:solidFill>
                <a:latin typeface="Times New Roman"/>
                <a:ea typeface="Noto Sans CJK SC"/>
              </a:rPr>
              <a:t>✔ </a:t>
            </a:r>
            <a:r>
              <a:rPr sz="2300" b="0" u="none">
                <a:solidFill>
                  <a:srgbClr val="16212F"/>
                </a:solidFill>
                <a:latin typeface="Times New Roman"/>
                <a:ea typeface="Noto Sans CJK SC"/>
              </a:rPr>
              <a:t>掌握速度、位移、速度—位移三个基本关系式，能按「缺谁求谁」选公式。</a:t>
            </a:r>
          </a:p>
          <a:p>
            <a:pPr algn="l" marL="411480" indent="-411480">
              <a:lnSpc>
                <a:spcPct val="135000"/>
              </a:lnSpc>
              <a:spcBef>
                <a:spcPts val="1000"/>
              </a:spcBef>
            </a:pPr>
            <a:r>
              <a:rPr sz="2300" b="0" u="none">
                <a:solidFill>
                  <a:srgbClr val="E8A33D"/>
                </a:solidFill>
                <a:latin typeface="Times New Roman"/>
                <a:ea typeface="Noto Sans CJK SC"/>
              </a:rPr>
              <a:t>✔ </a:t>
            </a:r>
            <a:r>
              <a:rPr sz="2300" b="0" u="none">
                <a:solidFill>
                  <a:srgbClr val="16212F"/>
                </a:solidFill>
                <a:latin typeface="Times New Roman"/>
                <a:ea typeface="Noto Sans CJK SC"/>
              </a:rPr>
              <a:t>会用 v-t 图像面积求位移，能处理刹车类与多过程问题。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989320"/>
            <a:ext cx="10454335" cy="347472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400"/>
            </a:pPr>
            <a:r>
              <a:rPr sz="1400" b="0" u="none">
                <a:solidFill>
                  <a:srgbClr val="64748B"/>
                </a:solidFill>
                <a:latin typeface="Times New Roman"/>
                <a:ea typeface="Noto Sans CJK SC"/>
              </a:rPr>
              <a:t>胶州四中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8695" y="5989320"/>
            <a:ext cx="685800" cy="347472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r">
              <a:lnSpc>
                <a:spcPct val="130000"/>
              </a:lnSpc>
              <a:defRPr sz="1400"/>
            </a:pPr>
            <a:r>
              <a:rPr sz="1400" b="0" u="none">
                <a:solidFill>
                  <a:srgbClr val="64748B"/>
                </a:solidFill>
                <a:latin typeface="Times New Roman"/>
                <a:ea typeface="Noto Sans CJK SC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