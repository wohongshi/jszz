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0" y="2103120"/>
            <a:ext cx="5669280" cy="4709160"/>
          </a:xfrm>
          <a:prstGeom prst="ellipse">
            <a:avLst/>
          </a:prstGeom>
          <a:noFill/>
          <a:ln w="25400">
            <a:solidFill>
              <a:srgbClr val="3A5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23760" y="3063240"/>
            <a:ext cx="4023360" cy="2834640"/>
          </a:xfrm>
          <a:prstGeom prst="ellipse">
            <a:avLst/>
          </a:prstGeom>
          <a:noFill/>
          <a:ln w="15875">
            <a:solidFill>
              <a:srgbClr val="2E4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29800" y="2788920"/>
            <a:ext cx="219456" cy="219456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7436815" cy="19202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20000"/>
              </a:lnSpc>
              <a:defRPr sz="2700"/>
            </a:pPr>
            <a:r>
              <a:rPr sz="2700" b="1" u="none">
                <a:solidFill>
                  <a:srgbClr val="FFFFFF"/>
                </a:solidFill>
                <a:latin typeface="Times New Roman"/>
                <a:ea typeface="Noto Serif CJK SC"/>
              </a:rPr>
              <a:t>第02讲 匀变速直线运动的规律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3794760"/>
            <a:ext cx="1005840" cy="28575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7436815" cy="7315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900"/>
            </a:pPr>
            <a:r>
              <a:rPr sz="1900" b="0" u="none">
                <a:solidFill>
                  <a:srgbClr val="C7D3E4"/>
                </a:solidFill>
                <a:latin typeface="Times New Roman"/>
                <a:ea typeface="Noto Serif CJK SC"/>
              </a:rPr>
              <a:t>高三物理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7436815" cy="457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200"/>
            </a:pPr>
            <a:r>
              <a:rPr sz="1200" b="0" u="none">
                <a:solidFill>
                  <a:srgbClr val="8FA2BC"/>
                </a:solidFill>
                <a:latin typeface="Times New Roman"/>
                <a:ea typeface="Noto Serif CJK SC"/>
              </a:rPr>
              <a:t>胶州四中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45775" y="749808"/>
            <a:ext cx="914400" cy="40233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5775" y="777240"/>
            <a:ext cx="914400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1B3A6B"/>
                </a:solidFill>
                <a:latin typeface="Times New Roman"/>
                <a:ea typeface="Noto Serif CJK SC"/>
              </a:rPr>
              <a:t>学案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2F5597"/>
                </a:solidFill>
                <a:latin typeface="Times New Roman"/>
                <a:ea typeface="Noto Serif CJK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erif CJK SC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84048" cy="86868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2011680" cy="38404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导入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" y="1417320"/>
            <a:ext cx="365760" cy="2194560"/>
          </a:xfrm>
          <a:prstGeom prst="roundRect">
            <a:avLst>
              <a:gd name="adj" fmla="val 1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1508760"/>
            <a:ext cx="365760" cy="201168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知识梳理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50005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2F5597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掌握速度、位移、速度—位移三个基本关系式，能按「缺谁求谁」选公式。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2F5597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会用 v-t 图像面积求位移，能处理刹车类与多过程问题。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2F5597"/>
                </a:solidFill>
                <a:latin typeface="Times New Roman"/>
                <a:ea typeface="Noto Serif CJK S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erif CJK SC"/>
              </a:rPr>
              <a:t>考情分析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考情分析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500" b="1" u="none">
                          <a:solidFill>
                            <a:srgbClr val="FFFFFF"/>
                          </a:solidFill>
                          <a:latin typeface="Times New Roman"/>
                          <a:ea typeface="Noto Serif CJK SC"/>
                        </a:rPr>
                        <a:t>考点</a:t>
                      </a:r>
                    </a:p>
                  </a:txBody>
                  <a:tcPr anchor="ctr" marL="73152" marR="73152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u="none">
                          <a:solidFill>
                            <a:srgbClr val="FFFFFF"/>
                          </a:solidFill>
                          <a:latin typeface="Times New Roman"/>
                          <a:ea typeface="Noto Serif CJK SC"/>
                        </a:rPr>
                        <a:t>要求</a:t>
                      </a:r>
                    </a:p>
                  </a:txBody>
                  <a:tcPr anchor="ctr" marL="73152" marR="73152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u="none">
                          <a:solidFill>
                            <a:srgbClr val="FFFFFF"/>
                          </a:solidFill>
                          <a:latin typeface="Times New Roman"/>
                          <a:ea typeface="Noto Serif CJK SC"/>
                        </a:rPr>
                        <a:t>考频</a:t>
                      </a:r>
                    </a:p>
                  </a:txBody>
                  <a:tcPr anchor="ctr" marL="73152" marR="73152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u="none">
                          <a:solidFill>
                            <a:srgbClr val="FFFFFF"/>
                          </a:solidFill>
                          <a:latin typeface="Times New Roman"/>
                          <a:ea typeface="Noto Serif CJK SC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u="none">
                          <a:solidFill>
                            <a:srgbClr val="FFFFFF"/>
                          </a:solidFill>
                          <a:latin typeface="Times New Roman"/>
                          <a:ea typeface="Noto Serif CJK SC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三个基本公式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Ⅱ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高频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山东·3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全国·14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刹车与多过程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中频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江苏·8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——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v-t 图像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Ⅰ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高频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湖南·6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none">
                          <a:solidFill>
                            <a:srgbClr val="16212F"/>
                          </a:solidFill>
                          <a:latin typeface="Times New Roman"/>
                          <a:ea typeface="Noto Serif CJK SC"/>
                        </a:rPr>
                        <a:t>浙江·5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知识点1 匀变速直线运动的定义及分类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" y="1417320"/>
            <a:ext cx="365760" cy="2194560"/>
          </a:xfrm>
          <a:prstGeom prst="roundRect">
            <a:avLst>
              <a:gd name="adj" fmla="val 1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1508760"/>
            <a:ext cx="365760" cy="201168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知识梳理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50005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1. 定义：物体沿一条直线运动，且 </a:t>
            </a:r>
            <a:r>
              <a:rPr sz="2600" b="0" u="sng">
                <a:solidFill>
                  <a:srgbClr val="16212F"/>
                </a:solidFill>
                <a:latin typeface="Times New Roman"/>
                <a:ea typeface="Noto Serif CJK SC"/>
              </a:rPr>
              <a:t>　　　　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 不变的运动。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2. 特点：加速度大小和方向都不变，与速度方向是否变化 </a:t>
            </a:r>
            <a:r>
              <a:rPr sz="2600" b="0" u="sng">
                <a:solidFill>
                  <a:srgbClr val="16212F"/>
                </a:solidFill>
                <a:latin typeface="Times New Roman"/>
                <a:ea typeface="Noto Serif CJK SC"/>
              </a:rPr>
              <a:t>　　　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3. 分类：匀加速（a 与 v </a:t>
            </a:r>
            <a:r>
              <a:rPr sz="2600" b="0" u="sng">
                <a:solidFill>
                  <a:srgbClr val="16212F"/>
                </a:solidFill>
                <a:latin typeface="Times New Roman"/>
                <a:ea typeface="Noto Serif CJK SC"/>
              </a:rPr>
              <a:t>　　　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）、匀减速（a 与 v </a:t>
            </a:r>
            <a:r>
              <a:rPr sz="2600" b="0" u="sng">
                <a:solidFill>
                  <a:srgbClr val="16212F"/>
                </a:solidFill>
                <a:latin typeface="Times New Roman"/>
                <a:ea typeface="Noto Serif CJK SC"/>
              </a:rPr>
              <a:t>　　　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知识点2 三个基本公式｜公式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4000"/>
            </a:pPr>
            <a:r>
              <a:rPr sz="4000" b="1" u="none">
                <a:solidFill>
                  <a:srgbClr val="1B3A6B"/>
                </a:solidFill>
                <a:latin typeface="Times New Roman"/>
                <a:ea typeface="Noto Serif CJK SC"/>
              </a:rPr>
              <a:t>v = v₀ +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匀变速直线运动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已知 v₀、a、t 求末速度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知识点2 三个基本公式｜公式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4000"/>
            </a:pPr>
            <a:r>
              <a:rPr sz="4000" b="1" u="none">
                <a:solidFill>
                  <a:srgbClr val="1B3A6B"/>
                </a:solidFill>
                <a:latin typeface="Times New Roman"/>
                <a:ea typeface="Noto Serif CJK SC"/>
              </a:rPr>
              <a:t>x = v₀t + ½at²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同上，取初速方向为正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已知 v₀、a、t 求位移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知识点2 三个基本公式｜公式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4000"/>
            </a:pPr>
            <a:r>
              <a:rPr sz="4000" b="1" u="none">
                <a:solidFill>
                  <a:srgbClr val="1B3A6B"/>
                </a:solidFill>
                <a:latin typeface="Times New Roman"/>
                <a:ea typeface="Noto Serif CJK SC"/>
              </a:rPr>
              <a:t>v² − v₀² = 2ax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不涉及时间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5597"/>
                </a:solidFill>
                <a:latin typeface="Times New Roman"/>
                <a:ea typeface="Noto Serif CJK SC"/>
              </a:rPr>
              <a:t>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12F"/>
                </a:solidFill>
                <a:latin typeface="Times New Roman"/>
                <a:ea typeface="Noto Serif CJK SC"/>
              </a:rPr>
              <a:t>已知 v₀、a、x 求末速度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985455" cy="56692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1B3A6B"/>
                </a:solidFill>
                <a:latin typeface="Times New Roman"/>
                <a:ea typeface="Noto Serif CJK SC"/>
              </a:rPr>
              <a:t>考向1 刹车类问题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66399" y="384048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66399" y="402336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erif CJK SC"/>
              </a:rPr>
              <a:t>例题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078992"/>
            <a:ext cx="1078992" cy="402336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78992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例1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81226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12F"/>
                </a:solidFill>
                <a:latin typeface="Times New Roman"/>
                <a:ea typeface="Noto Serif CJK SC"/>
              </a:rPr>
              <a:t>（2025·山东济南一模）汽车以 20 m/s 行驶，刹车加速度大小为 5 m/s²。求 6 s 内的位移。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99855" y="1536192"/>
            <a:ext cx="2743200" cy="1024128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2700">
            <a:solidFill>
              <a:srgbClr val="E5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9855" y="1536192"/>
            <a:ext cx="64008" cy="10241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2735" y="1645920"/>
            <a:ext cx="2414016" cy="84124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2000"/>
              </a:lnSpc>
              <a:defRPr sz="1300"/>
            </a:pPr>
            <a:r>
              <a:rPr sz="1300" b="1" u="none">
                <a:solidFill>
                  <a:srgbClr val="C00000"/>
                </a:solidFill>
                <a:latin typeface="Times New Roman"/>
                <a:ea typeface="Noto Serif CJK SC"/>
              </a:rPr>
              <a:t>判定要点</a:t>
            </a:r>
          </a:p>
          <a:p>
            <a:pPr algn="l" marL="292608" indent="-292608">
              <a:lnSpc>
                <a:spcPct val="135000"/>
              </a:lnSpc>
              <a:spcBef>
                <a:spcPts val="400"/>
              </a:spcBef>
            </a:pPr>
            <a:r>
              <a:rPr sz="1200" b="1" u="none">
                <a:solidFill>
                  <a:srgbClr val="C00000"/>
                </a:solidFill>
                <a:latin typeface="Times New Roman"/>
                <a:ea typeface="Noto Serif CJK SC"/>
              </a:rPr>
              <a:t>1. </a:t>
            </a:r>
            <a:r>
              <a:rPr sz="1200" b="0" u="none">
                <a:solidFill>
                  <a:srgbClr val="6B2B2B"/>
                </a:solidFill>
                <a:latin typeface="Times New Roman"/>
                <a:ea typeface="Noto Serif CJK SC"/>
              </a:rPr>
              <a:t>刹车问题必须先判断停止时间，再判断所给时间是否超时。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985455" cy="56692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1B3A6B"/>
                </a:solidFill>
                <a:latin typeface="Times New Roman"/>
                <a:ea typeface="Noto Serif CJK SC"/>
              </a:rPr>
              <a:t>考向1 刹车类问题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66399" y="384048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66399" y="402336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erif CJK SC"/>
              </a:rPr>
              <a:t>例题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097280"/>
            <a:ext cx="1078992" cy="384048"/>
          </a:xfrm>
          <a:prstGeom prst="roundRect">
            <a:avLst>
              <a:gd name="adj" fmla="val 25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15568"/>
            <a:ext cx="1078992" cy="34747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400"/>
            </a:pPr>
            <a:r>
              <a:rPr sz="1400" b="1" u="none">
                <a:solidFill>
                  <a:srgbClr val="FFFFFF"/>
                </a:solidFill>
                <a:latin typeface="Times New Roman"/>
                <a:ea typeface="Noto Serif CJK SC"/>
              </a:rPr>
              <a:t>例1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11048695" cy="45720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000"/>
            </a:pPr>
            <a:r>
              <a:rPr sz="2000" b="1" u="none">
                <a:solidFill>
                  <a:srgbClr val="2F5597"/>
                </a:solidFill>
                <a:latin typeface="Times New Roman"/>
                <a:ea typeface="Noto Serif CJK SC"/>
              </a:rPr>
              <a:t>解析　</a:t>
            </a:r>
            <a:r>
              <a:rPr sz="2000" b="0" u="none">
                <a:solidFill>
                  <a:srgbClr val="16212F"/>
                </a:solidFill>
                <a:latin typeface="Times New Roman"/>
                <a:ea typeface="Noto Serif CJK SC"/>
              </a:rPr>
              <a:t>先求刹车时间 t₀ = v₀/|a| = 4 s ＜ 6 s，故 6 s 内位移等于 4 s 内位移，x = v₀t₀/2 = 40 m。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特别提醒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75488"/>
            <a:ext cx="987552" cy="365760"/>
          </a:xfrm>
          <a:prstGeom prst="roundRect">
            <a:avLst>
              <a:gd name="adj" fmla="val 35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01223" y="493776"/>
            <a:ext cx="987552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2F5597"/>
                </a:solidFill>
                <a:latin typeface="Times New Roman"/>
                <a:ea typeface="Noto Serif CJK SC"/>
              </a:rPr>
              <a:t>易错提醒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10728655" cy="301752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F3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17320"/>
            <a:ext cx="91440" cy="3017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45920"/>
            <a:ext cx="10088575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2200"/>
            </a:pPr>
            <a:r>
              <a:rPr sz="2200" b="0" u="none">
                <a:solidFill>
                  <a:srgbClr val="C00000"/>
                </a:solidFill>
                <a:latin typeface="Times New Roman"/>
                <a:ea typeface="Noto Serif CJK SC"/>
              </a:rPr>
              <a:t>⚠ </a:t>
            </a:r>
            <a:r>
              <a:rPr sz="2200" b="0" u="none">
                <a:solidFill>
                  <a:srgbClr val="8A1B1B"/>
                </a:solidFill>
                <a:latin typeface="Times New Roman"/>
                <a:ea typeface="Noto Serif CJK SC"/>
              </a:rPr>
              <a:t>刹车到停止后不会反向运动。把 6 s 直接代入 x = v₀t + ½at² 会得 30 m，但车在 4 s 时已停，真实位移是 40 m。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课时精练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" y="1417320"/>
            <a:ext cx="365760" cy="2194560"/>
          </a:xfrm>
          <a:prstGeom prst="roundRect">
            <a:avLst>
              <a:gd name="adj" fmla="val 1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1508760"/>
            <a:ext cx="365760" cy="201168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erif CJK SC"/>
              </a:rPr>
              <a:t>知识梳理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50005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1. 物体做初速度为零的匀加速直线运动，第 1 s 内、第 2 s 内、第 3 s 内的位移之比为（　　）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2F5597"/>
                </a:solidFill>
                <a:latin typeface="Times New Roman"/>
                <a:ea typeface="Noto Serif CJK SC"/>
              </a:rPr>
              <a:t>▪ </a:t>
            </a: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A. 1∶2∶3　B. 1∶3∶5　C. 1∶4∶9　D. 1∶1∶1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2. 汽车以 10 m/s 匀速行驶，刹车加速度大小为 2 m/s²，则 8 s 内位移为 ____ m。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2F5597"/>
                </a:solidFill>
                <a:latin typeface="Times New Roman"/>
                <a:ea typeface="Noto Serif CJK S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erif CJK SC"/>
              </a:rPr>
              <a:t>参考答案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55480" y="256032"/>
            <a:ext cx="2377440" cy="237744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566928"/>
            <a:ext cx="1737360" cy="1737360"/>
          </a:xfrm>
          <a:prstGeom prst="ellipse">
            <a:avLst/>
          </a:prstGeom>
          <a:noFill/>
          <a:ln w="15875">
            <a:solidFill>
              <a:srgbClr val="E3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899855" cy="65836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1B3A6B"/>
                </a:solidFill>
                <a:latin typeface="Times New Roman"/>
                <a:ea typeface="Noto Serif CJK SC"/>
              </a:rPr>
              <a:t>参考答案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4415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1. B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12F"/>
                </a:solidFill>
                <a:latin typeface="Times New Roman"/>
                <a:ea typeface="Noto Serif CJK SC"/>
              </a:rPr>
              <a:t>2. 25（刹车时间 5 s，8 s 内位移等于 5 s 内位移）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1B3A6B"/>
                </a:solidFill>
                <a:latin typeface="Times New Roman"/>
                <a:ea typeface="Noto Serif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36392"/>
            <a:ext cx="10454335" cy="271576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2F5597"/>
                </a:solidFill>
                <a:latin typeface="Times New Roman"/>
                <a:ea typeface="Noto Serif CJK SC"/>
              </a:rPr>
              <a:t>✔ </a:t>
            </a:r>
            <a:r>
              <a:rPr sz="2300" b="0" u="none">
                <a:solidFill>
                  <a:srgbClr val="16212F"/>
                </a:solidFill>
                <a:latin typeface="Times New Roman"/>
                <a:ea typeface="Noto Serif CJK SC"/>
              </a:rPr>
              <a:t>掌握速度、位移、速度—位移三个基本关系式，能按「缺谁求谁」选公式。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2F5597"/>
                </a:solidFill>
                <a:latin typeface="Times New Roman"/>
                <a:ea typeface="Noto Serif CJK SC"/>
              </a:rPr>
              <a:t>✔ </a:t>
            </a:r>
            <a:r>
              <a:rPr sz="2300" b="0" u="none">
                <a:solidFill>
                  <a:srgbClr val="16212F"/>
                </a:solidFill>
                <a:latin typeface="Times New Roman"/>
                <a:ea typeface="Noto Serif CJK SC"/>
              </a:rPr>
              <a:t>会用 v-t 图像面积求位移，能处理刹车类与多过程问题。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063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063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6639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6639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1" u="none">
                <a:solidFill>
                  <a:srgbClr val="FFFFFF"/>
                </a:solidFill>
                <a:latin typeface="Times New Roman"/>
                <a:ea typeface="Noto Serif CJK SC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159" y="6382512"/>
            <a:ext cx="310896" cy="292608"/>
          </a:xfrm>
          <a:prstGeom prst="roundRect">
            <a:avLst>
              <a:gd name="adj" fmla="val 18000"/>
            </a:avLst>
          </a:prstGeom>
          <a:solidFill>
            <a:srgbClr val="E4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2159" y="6400800"/>
            <a:ext cx="310896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6B7785"/>
                </a:solidFill>
                <a:latin typeface="Times New Roman"/>
                <a:ea typeface="Noto Serif CJK SC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7498079" cy="274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erif CJK SC"/>
              </a:rPr>
              <a:t>胶州四中 · 第02讲 匀变速直线运动的规律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