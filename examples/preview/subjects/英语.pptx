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40983" y="0"/>
            <a:ext cx="91440" cy="685800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5364345" cy="21945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20000"/>
              </a:lnSpc>
              <a:defRPr sz="1700"/>
            </a:pPr>
            <a:r>
              <a:rPr sz="1700" b="1" u="none">
                <a:solidFill>
                  <a:srgbClr val="1B2559"/>
                </a:solidFill>
                <a:latin typeface="Times New Roman"/>
                <a:ea typeface="Noto Sans CJK SC"/>
              </a:rPr>
              <a:t>高三英语一轮复习 话题1 学校及家庭生活 No.4 基础检测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8767" y="1737360"/>
            <a:ext cx="5120511" cy="21945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900"/>
            </a:pPr>
            <a:r>
              <a:rPr sz="1900" b="0" u="none">
                <a:solidFill>
                  <a:srgbClr val="FFFFFF"/>
                </a:solidFill>
                <a:latin typeface="Times New Roman"/>
                <a:ea typeface="Noto Sans CJK SC"/>
              </a:rPr>
              <a:t>高三英语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8767" y="4114800"/>
            <a:ext cx="5120511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200"/>
            </a:pPr>
            <a:r>
              <a:rPr sz="1200" b="0" u="none">
                <a:solidFill>
                  <a:srgbClr val="C9CEE8"/>
                </a:solidFill>
                <a:latin typeface="Times New Roman"/>
                <a:ea typeface="Noto Sans CJK SC"/>
              </a:rPr>
              <a:t>胶州四中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4487" y="5394960"/>
            <a:ext cx="4876678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400"/>
            </a:pPr>
            <a:r>
              <a:rPr sz="1400" b="1" u="none">
                <a:solidFill>
                  <a:srgbClr val="D6336C"/>
                </a:solidFill>
                <a:latin typeface="Times New Roman"/>
                <a:ea typeface="Noto Sans CJK SC"/>
              </a:rPr>
              <a:t>学案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D6336C"/>
                </a:solidFill>
                <a:latin typeface="Times New Roman"/>
                <a:ea typeface="Noto Sans CJK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Noto Sans CJK SC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88775" y="2011680"/>
            <a:ext cx="365760" cy="237744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88775" y="2103120"/>
            <a:ext cx="365760" cy="219456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ans CJK SC"/>
              </a:rPr>
              <a:t>导入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91440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4632844" cy="9144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2656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B2559"/>
                </a:solidFill>
                <a:latin typeface="Times New Roman"/>
                <a:ea typeface="Noto Sans CJK SC"/>
              </a:rPr>
              <a:t>学习目标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D6336C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A1F36"/>
                </a:solidFill>
                <a:latin typeface="Times New Roman"/>
                <a:ea typeface="Noto Sans CJK SC"/>
              </a:rPr>
              <a:t>掌握本话题 20 个核心词块，能完成词形变化与单句填空。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D6336C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A1F36"/>
                </a:solidFill>
                <a:latin typeface="Times New Roman"/>
                <a:ea typeface="Noto Sans CJK SC"/>
              </a:rPr>
              <a:t>能用「动作 + 情绪」描写完成读后续写片段。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高三英语一轮复习 话题1 学校及家庭生活 No.4 基础检测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91440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4632844" cy="9144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2656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B2559"/>
                </a:solidFill>
                <a:latin typeface="Times New Roman"/>
                <a:ea typeface="Noto Sans CJK SC"/>
              </a:rPr>
              <a:t>一、单词拼写（每空1分，共10分）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457200"/>
            <a:ext cx="2606040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200"/>
            </a:pPr>
            <a:r>
              <a:rPr sz="1200" b="1" u="none">
                <a:solidFill>
                  <a:srgbClr val="D6336C"/>
                </a:solidFill>
                <a:latin typeface="Times New Roman"/>
                <a:ea typeface="Noto Sans CJK SC"/>
              </a:rPr>
              <a:t>一、单词拼写（每空1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200"/>
            </a:pPr>
            <a:r>
              <a:rPr sz="2200" b="0" u="none">
                <a:solidFill>
                  <a:srgbClr val="1A1F36"/>
                </a:solidFill>
                <a:latin typeface="Times New Roman"/>
                <a:ea typeface="Noto Sans CJK SC"/>
              </a:rPr>
              <a:t>1. The first day at senior high left a deep ____________ (印象) on me.</a:t>
            </a:r>
          </a:p>
          <a:p>
            <a:pPr algn="l" marL="475488" indent="-475488">
              <a:lnSpc>
                <a:spcPct val="135000"/>
              </a:lnSpc>
              <a:spcBef>
                <a:spcPts val="600"/>
              </a:spcBef>
            </a:pPr>
            <a:r>
              <a:rPr sz="2200" b="0" u="none">
                <a:solidFill>
                  <a:srgbClr val="1A1F36"/>
                </a:solidFill>
                <a:latin typeface="Times New Roman"/>
                <a:ea typeface="Noto Sans CJK SC"/>
              </a:rPr>
              <a:t>2. She is ________________ (好奇的) about everything new in senior high school.</a:t>
            </a:r>
          </a:p>
          <a:p>
            <a:pPr algn="l" marL="475488" indent="-475488">
              <a:lnSpc>
                <a:spcPct val="135000"/>
              </a:lnSpc>
              <a:spcBef>
                <a:spcPts val="600"/>
              </a:spcBef>
            </a:pPr>
            <a:r>
              <a:rPr sz="2200" b="0" u="none">
                <a:solidFill>
                  <a:srgbClr val="1A1F36"/>
                </a:solidFill>
                <a:latin typeface="Times New Roman"/>
                <a:ea typeface="Noto Sans CJK SC"/>
              </a:rPr>
              <a:t>3. We need to ________________ (申请) for the student club before Friday.</a:t>
            </a:r>
          </a:p>
          <a:p>
            <a:pPr algn="l" marL="475488" indent="-475488">
              <a:lnSpc>
                <a:spcPct val="135000"/>
              </a:lnSpc>
              <a:spcBef>
                <a:spcPts val="600"/>
              </a:spcBef>
            </a:pPr>
            <a:r>
              <a:rPr sz="2200" b="0" u="none">
                <a:solidFill>
                  <a:srgbClr val="1A1F36"/>
                </a:solidFill>
                <a:latin typeface="Times New Roman"/>
                <a:ea typeface="Noto Sans CJK SC"/>
              </a:rPr>
              <a:t>4. He tried to ________________ (探索) different ways to solve the problem.</a:t>
            </a:r>
          </a:p>
          <a:p>
            <a:pPr algn="l" marL="475488" indent="-475488">
              <a:lnSpc>
                <a:spcPct val="135000"/>
              </a:lnSpc>
              <a:spcBef>
                <a:spcPts val="600"/>
              </a:spcBef>
            </a:pPr>
            <a:r>
              <a:rPr sz="2200" b="0" u="none">
                <a:solidFill>
                  <a:srgbClr val="1A1F36"/>
                </a:solidFill>
                <a:latin typeface="Times New Roman"/>
                <a:ea typeface="Noto Sans CJK SC"/>
              </a:rPr>
              <a:t>5. You should ________________ (组织) your time well at senior high.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高三英语一轮复习 话题1 学校及家庭生活 No.4 基础检测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91440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4632844" cy="9144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2656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B2559"/>
                </a:solidFill>
                <a:latin typeface="Times New Roman"/>
                <a:ea typeface="Noto Sans CJK SC"/>
              </a:rPr>
              <a:t>二、词性转换（每空1分，共10分）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457200"/>
            <a:ext cx="2606040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200"/>
            </a:pPr>
            <a:r>
              <a:rPr sz="1200" b="1" u="none">
                <a:solidFill>
                  <a:srgbClr val="D6336C"/>
                </a:solidFill>
                <a:latin typeface="Times New Roman"/>
                <a:ea typeface="Noto Sans CJK SC"/>
              </a:rPr>
              <a:t>二、词性转换（每空1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400"/>
            </a:pPr>
            <a:r>
              <a:rPr sz="2400" b="0" u="none">
                <a:solidFill>
                  <a:srgbClr val="1A1F36"/>
                </a:solidFill>
                <a:latin typeface="Times New Roman"/>
                <a:ea typeface="Noto Sans CJK SC"/>
              </a:rPr>
              <a:t>1. curious → ____________ (n.)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A1F36"/>
                </a:solidFill>
                <a:latin typeface="Times New Roman"/>
                <a:ea typeface="Noto Sans CJK SC"/>
              </a:rPr>
              <a:t>2. impress → ____________ (n.)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A1F36"/>
                </a:solidFill>
                <a:latin typeface="Times New Roman"/>
                <a:ea typeface="Noto Sans CJK SC"/>
              </a:rPr>
              <a:t>3. organize → ____________ (n.)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A1F36"/>
                </a:solidFill>
                <a:latin typeface="Times New Roman"/>
                <a:ea typeface="Noto Sans CJK SC"/>
              </a:rPr>
              <a:t>4. argue → ____________ (n.)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A1F36"/>
                </a:solidFill>
                <a:latin typeface="Times New Roman"/>
                <a:ea typeface="Noto Sans CJK SC"/>
              </a:rPr>
              <a:t>5. confident → ____________ (n.)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高三英语一轮复习 话题1 学校及家庭生活 No.4 基础检测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91440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4632844" cy="9144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2656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B2559"/>
                </a:solidFill>
                <a:latin typeface="Times New Roman"/>
                <a:ea typeface="Noto Sans CJK SC"/>
              </a:rPr>
              <a:t>三、读后续写微写作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D6336C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A1F36"/>
                </a:solidFill>
                <a:latin typeface="Times New Roman"/>
                <a:ea typeface="Noto Sans CJK SC"/>
              </a:rPr>
              <a:t>动作链：turn one's head toward → catch sight of → freeze on the spot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D6336C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A1F36"/>
                </a:solidFill>
                <a:latin typeface="Times New Roman"/>
                <a:ea typeface="Noto Sans CJK SC"/>
              </a:rPr>
              <a:t>情绪链：heart pounding → a lump in one's throat → breathe a sigh of relief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高三英语一轮复习 话题1 学校及家庭生活 No.4 基础检测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91440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4632844" cy="9144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2656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B2559"/>
                </a:solidFill>
                <a:latin typeface="Times New Roman"/>
                <a:ea typeface="Noto Sans CJK SC"/>
              </a:rPr>
              <a:t>三、读后续写微写作｜对照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9497" y="1417320"/>
            <a:ext cx="12700" cy="4709160"/>
          </a:xfrm>
          <a:prstGeom prst="rect">
            <a:avLst/>
          </a:prstGeom>
          <a:solidFill>
            <a:srgbClr val="DC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5227167" cy="40233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1" u="none">
                <a:solidFill>
                  <a:srgbClr val="1B2559"/>
                </a:solidFill>
                <a:latin typeface="Times New Roman"/>
                <a:ea typeface="Noto Sans CJK SC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5227167" cy="4389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1900"/>
            </a:pPr>
            <a:r>
              <a:rPr sz="1900" b="0" u="none">
                <a:solidFill>
                  <a:srgbClr val="1A1F36"/>
                </a:solidFill>
                <a:latin typeface="Times New Roman"/>
                <a:ea typeface="Noto Sans CJK SC"/>
              </a:rPr>
              <a:t>He turned his head toward the door, his hands trembling, his heart pounding.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325880"/>
            <a:ext cx="5227167" cy="40233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1" u="none">
                <a:solidFill>
                  <a:srgbClr val="D6336C"/>
                </a:solidFill>
                <a:latin typeface="Times New Roman"/>
                <a:ea typeface="Noto Sans CJK SC"/>
              </a:rPr>
              <a:t>中文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783080"/>
            <a:ext cx="5227167" cy="4389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1900"/>
            </a:pPr>
            <a:r>
              <a:rPr sz="1900" b="0" u="none">
                <a:solidFill>
                  <a:srgbClr val="1A1F36"/>
                </a:solidFill>
                <a:latin typeface="Times New Roman"/>
                <a:ea typeface="Noto Sans CJK SC"/>
              </a:rPr>
              <a:t>他转头看向门口，双手发抖，心怦怦直跳。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高三英语一轮复习 话题1 学校及家庭生活 No.4 基础检测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91440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4632844" cy="9144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2656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B2559"/>
                </a:solidFill>
                <a:latin typeface="Times New Roman"/>
                <a:ea typeface="Noto Sans CJK SC"/>
              </a:rPr>
              <a:t>四、话题评测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400"/>
            </a:pPr>
            <a:r>
              <a:rPr sz="2400" b="0" u="none">
                <a:solidFill>
                  <a:srgbClr val="1A1F36"/>
                </a:solidFill>
                <a:latin typeface="Times New Roman"/>
                <a:ea typeface="Noto Sans CJK SC"/>
              </a:rPr>
              <a:t>1. What matters most in choosing an academic pathway?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D6336C"/>
                </a:solidFill>
                <a:latin typeface="Times New Roman"/>
                <a:ea typeface="Noto Sans CJK SC"/>
              </a:rPr>
              <a:t>▪ </a:t>
            </a:r>
            <a:r>
              <a:rPr sz="2400" b="0" u="none">
                <a:solidFill>
                  <a:srgbClr val="1A1F36"/>
                </a:solidFill>
                <a:latin typeface="Times New Roman"/>
                <a:ea typeface="Noto Sans CJK SC"/>
              </a:rPr>
              <a:t>A. Personal interest　B. Parents' advice　C. School ranking　D. Future salary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A1F36"/>
                </a:solidFill>
                <a:latin typeface="Times New Roman"/>
                <a:ea typeface="Noto Sans CJK SC"/>
              </a:rPr>
              <a:t>2. Which of the following is the author's attitude toward school clubs?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D6336C"/>
                </a:solidFill>
                <a:latin typeface="Times New Roman"/>
                <a:ea typeface="Noto Sans CJK SC"/>
              </a:rPr>
              <a:t>▪ </a:t>
            </a:r>
            <a:r>
              <a:rPr sz="2400" b="0" u="none">
                <a:solidFill>
                  <a:srgbClr val="1A1F36"/>
                </a:solidFill>
                <a:latin typeface="Times New Roman"/>
                <a:ea typeface="Noto Sans CJK SC"/>
              </a:rPr>
              <a:t>A. Doubtful　B. Supportive　C. Indifferent　D. Critical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高三英语一轮复习 话题1 学校及家庭生活 No.4 基础检测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D6336C"/>
                </a:solidFill>
                <a:latin typeface="Times New Roman"/>
                <a:ea typeface="Noto Sans CJK S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Noto Sans CJK SC"/>
              </a:rPr>
              <a:t>参考答案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91440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4632844" cy="9144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2656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B2559"/>
                </a:solidFill>
                <a:latin typeface="Times New Roman"/>
                <a:ea typeface="Noto Sans CJK SC"/>
              </a:rPr>
              <a:t>参考答案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457200"/>
            <a:ext cx="2606040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200"/>
            </a:pPr>
            <a:r>
              <a:rPr sz="1200" b="1" u="none">
                <a:solidFill>
                  <a:srgbClr val="D6336C"/>
                </a:solidFill>
                <a:latin typeface="Times New Roman"/>
                <a:ea typeface="Noto Sans CJK SC"/>
              </a:rPr>
              <a:t>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A1F36"/>
                </a:solidFill>
                <a:latin typeface="Times New Roman"/>
                <a:ea typeface="Noto Sans CJK SC"/>
              </a:rPr>
              <a:t>1. impression　2. curious　3. apply　4. explore　5. organize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D6336C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A1F36"/>
                </a:solidFill>
                <a:latin typeface="Times New Roman"/>
                <a:ea typeface="Noto Sans CJK SC"/>
              </a:rPr>
              <a:t>词性转换：curiosity / impression / organization / argument / confidence 话题评测：1. A　2. 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高三英语一轮复习 话题1 学校及家庭生活 No.4 基础检测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37215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3800"/>
            </a:pPr>
            <a:r>
              <a:rPr sz="3800" b="1" u="none">
                <a:solidFill>
                  <a:srgbClr val="1B2559"/>
                </a:solidFill>
                <a:latin typeface="Times New Roman"/>
                <a:ea typeface="Noto Sans CJK SC"/>
              </a:rPr>
              <a:t>本节课小结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4335" cy="4251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11480" indent="-411480">
              <a:lnSpc>
                <a:spcPct val="135000"/>
              </a:lnSpc>
              <a:defRPr sz="2300"/>
            </a:pPr>
            <a:r>
              <a:rPr sz="2300" b="0" u="none">
                <a:solidFill>
                  <a:srgbClr val="D6336C"/>
                </a:solidFill>
                <a:latin typeface="Times New Roman"/>
                <a:ea typeface="Noto Sans CJK SC"/>
              </a:rPr>
              <a:t>✔ </a:t>
            </a:r>
            <a:r>
              <a:rPr sz="2300" b="0" u="none">
                <a:solidFill>
                  <a:srgbClr val="1A1F36"/>
                </a:solidFill>
                <a:latin typeface="Times New Roman"/>
                <a:ea typeface="Noto Sans CJK SC"/>
              </a:rPr>
              <a:t>掌握本话题 20 个核心词块，能完成词形变化与单句填空。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D6336C"/>
                </a:solidFill>
                <a:latin typeface="Times New Roman"/>
                <a:ea typeface="Noto Sans CJK SC"/>
              </a:rPr>
              <a:t>✔ </a:t>
            </a:r>
            <a:r>
              <a:rPr sz="2300" b="0" u="none">
                <a:solidFill>
                  <a:srgbClr val="1A1F36"/>
                </a:solidFill>
                <a:latin typeface="Times New Roman"/>
                <a:ea typeface="Noto Sans CJK SC"/>
              </a:rPr>
              <a:t>能用「动作 + 情绪」描写完成读后续写片段。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Noto Sans CJK SC"/>
              </a:rPr>
              <a:t>胶州四中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5989320"/>
            <a:ext cx="685800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Noto Sans CJK SC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