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042855" y="256032"/>
            <a:ext cx="960120" cy="182880"/>
          </a:xfrm>
          <a:prstGeom prst="roundRect">
            <a:avLst/>
          </a:prstGeom>
          <a:solidFill>
            <a:srgbClr val="BF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1140135" y="713232"/>
            <a:ext cx="658368" cy="182880"/>
          </a:xfrm>
          <a:prstGeom prst="roundRect">
            <a:avLst/>
          </a:prstGeom>
          <a:solidFill>
            <a:srgbClr val="FB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463040"/>
            <a:ext cx="9753356" cy="17373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20000"/>
              </a:lnSpc>
              <a:defRPr sz="2000"/>
            </a:pPr>
            <a:r>
              <a:rPr sz="2000" b="1" u="none">
                <a:solidFill>
                  <a:srgbClr val="C00000"/>
                </a:solidFill>
                <a:latin typeface="Times New Roman"/>
                <a:ea typeface="Noto Sans CJK SC"/>
              </a:rPr>
              <a:t>高三英语一轮复习 话题1 学校及家庭生活 No.4 基础检测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429000"/>
            <a:ext cx="3108960" cy="548640"/>
          </a:xfrm>
          <a:prstGeom prst="roundRect">
            <a:avLst>
              <a:gd name="adj" fmla="val 12000"/>
            </a:avLst>
          </a:prstGeom>
          <a:solidFill>
            <a:srgbClr val="FFE6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456432"/>
            <a:ext cx="3108960" cy="493776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700"/>
            </a:pPr>
            <a:r>
              <a:rPr sz="1700" b="1" u="none">
                <a:solidFill>
                  <a:srgbClr val="16323A"/>
                </a:solidFill>
                <a:latin typeface="Times New Roman"/>
                <a:ea typeface="Noto Sans CJK SC"/>
              </a:rPr>
              <a:t>Learning aims: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206240"/>
            <a:ext cx="9814255" cy="137160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384048" indent="-384048">
              <a:lnSpc>
                <a:spcPct val="135000"/>
              </a:lnSpc>
              <a:defRPr sz="1800"/>
            </a:pPr>
            <a:r>
              <a:rPr sz="1800" b="1" u="none">
                <a:solidFill>
                  <a:srgbClr val="0B6E75"/>
                </a:solidFill>
                <a:latin typeface="Times New Roman"/>
                <a:ea typeface="Noto Sans CJK SC"/>
              </a:rPr>
              <a:t>1. </a:t>
            </a:r>
            <a:r>
              <a:rPr sz="1800" b="0" u="none">
                <a:solidFill>
                  <a:srgbClr val="16323A"/>
                </a:solidFill>
                <a:latin typeface="Times New Roman"/>
                <a:ea typeface="Noto Sans CJK SC"/>
              </a:rPr>
              <a:t>高三英语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623560"/>
            <a:ext cx="9814255" cy="45720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300"/>
            </a:pPr>
            <a:r>
              <a:rPr sz="1300" b="0" u="none">
                <a:solidFill>
                  <a:srgbClr val="7A8698"/>
                </a:solidFill>
                <a:latin typeface="Times New Roman"/>
                <a:ea typeface="Noto Sans CJK SC"/>
              </a:rPr>
              <a:t>胶州四中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00639" y="841248"/>
            <a:ext cx="859536" cy="420624"/>
          </a:xfrm>
          <a:prstGeom prst="roundRect">
            <a:avLst>
              <a:gd name="adj" fmla="val 30000"/>
            </a:avLst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00639" y="868680"/>
            <a:ext cx="859536" cy="365760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1300"/>
            </a:pPr>
            <a:r>
              <a:rPr sz="1300" b="1" u="none">
                <a:solidFill>
                  <a:srgbClr val="FFFFFF"/>
                </a:solidFill>
                <a:latin typeface="Times New Roman"/>
                <a:ea typeface="Noto Sans CJK SC"/>
              </a:rPr>
              <a:t>学案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331720"/>
            <a:ext cx="128016" cy="1371600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234440"/>
            <a:ext cx="3657600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8800"/>
            </a:pPr>
            <a:r>
              <a:rPr sz="8800" b="1" u="none">
                <a:solidFill>
                  <a:srgbClr val="E8F6F7"/>
                </a:solidFill>
                <a:latin typeface="Times New Roman"/>
                <a:ea typeface="Noto Sans CJK SC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9905695" cy="10058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4000"/>
            </a:pPr>
            <a:r>
              <a:rPr sz="4000" b="1" u="none">
                <a:solidFill>
                  <a:srgbClr val="0B6E75"/>
                </a:solidFill>
                <a:latin typeface="Times New Roman"/>
                <a:ea typeface="Noto Sans CJK SC"/>
              </a:rPr>
              <a:t>学习目标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011680"/>
            <a:ext cx="384048" cy="868680"/>
          </a:xfrm>
          <a:prstGeom prst="roundRect">
            <a:avLst>
              <a:gd name="adj" fmla="val 20000"/>
            </a:avLst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011680"/>
            <a:ext cx="2011680" cy="384048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500"/>
            </a:pPr>
            <a:r>
              <a:rPr sz="1500" b="1" u="none">
                <a:solidFill>
                  <a:srgbClr val="00A5B5"/>
                </a:solidFill>
                <a:latin typeface="Times New Roman"/>
                <a:ea typeface="Noto Sans CJK SC"/>
              </a:rPr>
              <a:t>导入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042855" y="256032"/>
            <a:ext cx="960120" cy="182880"/>
          </a:xfrm>
          <a:prstGeom prst="roundRect">
            <a:avLst/>
          </a:prstGeom>
          <a:solidFill>
            <a:srgbClr val="BF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140135" y="713232"/>
            <a:ext cx="658368" cy="182880"/>
          </a:xfrm>
          <a:prstGeom prst="roundRect">
            <a:avLst/>
          </a:prstGeom>
          <a:solidFill>
            <a:srgbClr val="FB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2249424" cy="566928"/>
          </a:xfrm>
          <a:prstGeom prst="roundRect">
            <a:avLst>
              <a:gd name="adj" fmla="val 12000"/>
            </a:avLst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2249424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【学习目标】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00A5B5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6323A"/>
                </a:solidFill>
                <a:latin typeface="Times New Roman"/>
                <a:ea typeface="Noto Sans CJK SC"/>
              </a:rPr>
              <a:t>掌握本话题 20 个核心词块，能完成词形变化与单句填空。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00A5B5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6323A"/>
                </a:solidFill>
                <a:latin typeface="Times New Roman"/>
                <a:ea typeface="Noto Sans CJK SC"/>
              </a:rPr>
              <a:t>能用「动作 + 情绪」描写完成读后续写片段。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高三英语一轮复习 话题1 学校及家庭生活 No.4 基础检测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5575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45575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核心词汇突破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36631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6631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重点句型透视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88775" y="6345936"/>
            <a:ext cx="32004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042855" y="256032"/>
            <a:ext cx="960120" cy="182880"/>
          </a:xfrm>
          <a:prstGeom prst="roundRect">
            <a:avLst/>
          </a:prstGeom>
          <a:solidFill>
            <a:srgbClr val="BF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140135" y="713232"/>
            <a:ext cx="658368" cy="182880"/>
          </a:xfrm>
          <a:prstGeom prst="roundRect">
            <a:avLst/>
          </a:prstGeom>
          <a:solidFill>
            <a:srgbClr val="FB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6291072" cy="566928"/>
          </a:xfrm>
          <a:prstGeom prst="roundRect">
            <a:avLst>
              <a:gd name="adj" fmla="val 12000"/>
            </a:avLst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6291072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【一、单词拼写（每空1分，共10分）】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200"/>
            </a:pPr>
            <a:r>
              <a:rPr sz="2200" b="0" u="none">
                <a:solidFill>
                  <a:srgbClr val="16323A"/>
                </a:solidFill>
                <a:latin typeface="Times New Roman"/>
                <a:ea typeface="Noto Sans CJK SC"/>
              </a:rPr>
              <a:t>1. The first day at senior high left a deep ____________ (印象) on me.</a:t>
            </a:r>
          </a:p>
          <a:p>
            <a:pPr algn="l" marL="475488" indent="-475488">
              <a:lnSpc>
                <a:spcPct val="135000"/>
              </a:lnSpc>
              <a:spcBef>
                <a:spcPts val="600"/>
              </a:spcBef>
            </a:pPr>
            <a:r>
              <a:rPr sz="2200" b="0" u="none">
                <a:solidFill>
                  <a:srgbClr val="16323A"/>
                </a:solidFill>
                <a:latin typeface="Times New Roman"/>
                <a:ea typeface="Noto Sans CJK SC"/>
              </a:rPr>
              <a:t>2. She is ________________ (好奇的) about everything new in senior high school.</a:t>
            </a:r>
          </a:p>
          <a:p>
            <a:pPr algn="l" marL="475488" indent="-475488">
              <a:lnSpc>
                <a:spcPct val="135000"/>
              </a:lnSpc>
              <a:spcBef>
                <a:spcPts val="600"/>
              </a:spcBef>
            </a:pPr>
            <a:r>
              <a:rPr sz="2200" b="0" u="none">
                <a:solidFill>
                  <a:srgbClr val="16323A"/>
                </a:solidFill>
                <a:latin typeface="Times New Roman"/>
                <a:ea typeface="Noto Sans CJK SC"/>
              </a:rPr>
              <a:t>3. We need to ________________ (申请) for the student club before Friday.</a:t>
            </a:r>
          </a:p>
          <a:p>
            <a:pPr algn="l" marL="475488" indent="-475488">
              <a:lnSpc>
                <a:spcPct val="135000"/>
              </a:lnSpc>
              <a:spcBef>
                <a:spcPts val="600"/>
              </a:spcBef>
            </a:pPr>
            <a:r>
              <a:rPr sz="2200" b="0" u="none">
                <a:solidFill>
                  <a:srgbClr val="16323A"/>
                </a:solidFill>
                <a:latin typeface="Times New Roman"/>
                <a:ea typeface="Noto Sans CJK SC"/>
              </a:rPr>
              <a:t>4. He tried to ________________ (探索) different ways to solve the problem.</a:t>
            </a:r>
          </a:p>
          <a:p>
            <a:pPr algn="l" marL="475488" indent="-475488">
              <a:lnSpc>
                <a:spcPct val="135000"/>
              </a:lnSpc>
              <a:spcBef>
                <a:spcPts val="600"/>
              </a:spcBef>
            </a:pPr>
            <a:r>
              <a:rPr sz="2200" b="0" u="none">
                <a:solidFill>
                  <a:srgbClr val="16323A"/>
                </a:solidFill>
                <a:latin typeface="Times New Roman"/>
                <a:ea typeface="Noto Sans CJK SC"/>
              </a:rPr>
              <a:t>5. You should ________________ (组织) your time well at senior high.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高三英语一轮复习 话题1 学校及家庭生活 No.4 基础检测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5575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45575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核心词汇突破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36631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6631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重点句型透视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88775" y="6345936"/>
            <a:ext cx="32004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042855" y="256032"/>
            <a:ext cx="960120" cy="182880"/>
          </a:xfrm>
          <a:prstGeom prst="roundRect">
            <a:avLst/>
          </a:prstGeom>
          <a:solidFill>
            <a:srgbClr val="BF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140135" y="713232"/>
            <a:ext cx="658368" cy="182880"/>
          </a:xfrm>
          <a:prstGeom prst="roundRect">
            <a:avLst/>
          </a:prstGeom>
          <a:solidFill>
            <a:srgbClr val="FB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6291072" cy="566928"/>
          </a:xfrm>
          <a:prstGeom prst="roundRect">
            <a:avLst>
              <a:gd name="adj" fmla="val 12000"/>
            </a:avLst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6291072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【二、词性转换（每空1分，共10分）】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400"/>
            </a:pPr>
            <a:r>
              <a:rPr sz="2400" b="0" u="none">
                <a:solidFill>
                  <a:srgbClr val="16323A"/>
                </a:solidFill>
                <a:latin typeface="Times New Roman"/>
                <a:ea typeface="Noto Sans CJK SC"/>
              </a:rPr>
              <a:t>1. curious → ____________ (n.)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16323A"/>
                </a:solidFill>
                <a:latin typeface="Times New Roman"/>
                <a:ea typeface="Noto Sans CJK SC"/>
              </a:rPr>
              <a:t>2. impress → ____________ (n.)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16323A"/>
                </a:solidFill>
                <a:latin typeface="Times New Roman"/>
                <a:ea typeface="Noto Sans CJK SC"/>
              </a:rPr>
              <a:t>3. organize → ____________ (n.)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16323A"/>
                </a:solidFill>
                <a:latin typeface="Times New Roman"/>
                <a:ea typeface="Noto Sans CJK SC"/>
              </a:rPr>
              <a:t>4. argue → ____________ (n.)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16323A"/>
                </a:solidFill>
                <a:latin typeface="Times New Roman"/>
                <a:ea typeface="Noto Sans CJK SC"/>
              </a:rPr>
              <a:t>5. confident → ____________ (n.)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高三英语一轮复习 话题1 学校及家庭生活 No.4 基础检测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5575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45575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核心词汇突破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36631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6631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重点句型透视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88775" y="6345936"/>
            <a:ext cx="32004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042855" y="256032"/>
            <a:ext cx="960120" cy="182880"/>
          </a:xfrm>
          <a:prstGeom prst="roundRect">
            <a:avLst/>
          </a:prstGeom>
          <a:solidFill>
            <a:srgbClr val="BF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140135" y="713232"/>
            <a:ext cx="658368" cy="182880"/>
          </a:xfrm>
          <a:prstGeom prst="roundRect">
            <a:avLst/>
          </a:prstGeom>
          <a:solidFill>
            <a:srgbClr val="FB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3803904" cy="566928"/>
          </a:xfrm>
          <a:prstGeom prst="roundRect">
            <a:avLst>
              <a:gd name="adj" fmla="val 12000"/>
            </a:avLst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3803904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【三、读后续写微写作】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00A5B5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6323A"/>
                </a:solidFill>
                <a:latin typeface="Times New Roman"/>
                <a:ea typeface="Noto Sans CJK SC"/>
              </a:rPr>
              <a:t>动作链：turn one's head toward → catch sight of → freeze on the spot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00A5B5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6323A"/>
                </a:solidFill>
                <a:latin typeface="Times New Roman"/>
                <a:ea typeface="Noto Sans CJK SC"/>
              </a:rPr>
              <a:t>情绪链：heart pounding → a lump in one's throat → breathe a sigh of relief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高三英语一轮复习 话题1 学校及家庭生活 No.4 基础检测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5575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45575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核心词汇突破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36631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6631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重点句型透视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88775" y="6345936"/>
            <a:ext cx="32004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042855" y="256032"/>
            <a:ext cx="960120" cy="182880"/>
          </a:xfrm>
          <a:prstGeom prst="roundRect">
            <a:avLst/>
          </a:prstGeom>
          <a:solidFill>
            <a:srgbClr val="BF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140135" y="713232"/>
            <a:ext cx="658368" cy="182880"/>
          </a:xfrm>
          <a:prstGeom prst="roundRect">
            <a:avLst/>
          </a:prstGeom>
          <a:solidFill>
            <a:srgbClr val="FB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4736592" cy="566928"/>
          </a:xfrm>
          <a:prstGeom prst="roundRect">
            <a:avLst>
              <a:gd name="adj" fmla="val 12000"/>
            </a:avLst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4736592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【三、读后续写微写作｜对照】</a:t>
            </a:r>
          </a:p>
        </p:txBody>
      </p:sp>
      <p:sp>
        <p:nvSpPr>
          <p:cNvPr id="6" name="Rectangle 5"/>
          <p:cNvSpPr/>
          <p:nvPr/>
        </p:nvSpPr>
        <p:spPr>
          <a:xfrm>
            <a:off x="6089497" y="1417320"/>
            <a:ext cx="12700" cy="4709160"/>
          </a:xfrm>
          <a:prstGeom prst="rect">
            <a:avLst/>
          </a:prstGeom>
          <a:solidFill>
            <a:srgbClr val="DC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325880"/>
            <a:ext cx="5227167" cy="40233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400"/>
            </a:pPr>
            <a:r>
              <a:rPr sz="1400" b="1" u="none">
                <a:solidFill>
                  <a:srgbClr val="0B6E75"/>
                </a:solidFill>
                <a:latin typeface="Times New Roman"/>
                <a:ea typeface="Noto Sans CJK SC"/>
              </a:rPr>
              <a:t>English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5227167" cy="4389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1900"/>
            </a:pPr>
            <a:r>
              <a:rPr sz="1900" b="0" u="none">
                <a:solidFill>
                  <a:srgbClr val="16323A"/>
                </a:solidFill>
                <a:latin typeface="Times New Roman"/>
                <a:ea typeface="Noto Sans CJK SC"/>
              </a:rPr>
              <a:t>He turned his head toward the door, his hands trembling, his heart 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0167" y="1325880"/>
            <a:ext cx="5227167" cy="402336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400"/>
            </a:pPr>
            <a:r>
              <a:rPr sz="1400" b="1" u="none">
                <a:solidFill>
                  <a:srgbClr val="00A5B5"/>
                </a:solidFill>
                <a:latin typeface="Times New Roman"/>
                <a:ea typeface="Noto Sans CJK SC"/>
              </a:rPr>
              <a:t>中文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70167" y="1783080"/>
            <a:ext cx="5227167" cy="43891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45000"/>
              </a:lnSpc>
              <a:defRPr sz="1900"/>
            </a:pPr>
            <a:r>
              <a:rPr sz="1900" b="0" u="none">
                <a:solidFill>
                  <a:srgbClr val="16323A"/>
                </a:solidFill>
                <a:latin typeface="Times New Roman"/>
                <a:ea typeface="Noto Sans CJK SC"/>
              </a:rPr>
              <a:t>他转头看向门口，双手发抖，心怦怦直跳。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高三英语一轮复习 话题1 学校及家庭生活 No.4 基础检测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45575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945575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核心词汇突破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36631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36631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重点句型透视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688775" y="6345936"/>
            <a:ext cx="32004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042855" y="256032"/>
            <a:ext cx="960120" cy="182880"/>
          </a:xfrm>
          <a:prstGeom prst="roundRect">
            <a:avLst/>
          </a:prstGeom>
          <a:solidFill>
            <a:srgbClr val="BF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140135" y="713232"/>
            <a:ext cx="658368" cy="182880"/>
          </a:xfrm>
          <a:prstGeom prst="roundRect">
            <a:avLst/>
          </a:prstGeom>
          <a:solidFill>
            <a:srgbClr val="FB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2871216" cy="566928"/>
          </a:xfrm>
          <a:prstGeom prst="roundRect">
            <a:avLst>
              <a:gd name="adj" fmla="val 12000"/>
            </a:avLst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2871216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【四、话题评测】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400"/>
            </a:pPr>
            <a:r>
              <a:rPr sz="2400" b="0" u="none">
                <a:solidFill>
                  <a:srgbClr val="16323A"/>
                </a:solidFill>
                <a:latin typeface="Times New Roman"/>
                <a:ea typeface="Noto Sans CJK SC"/>
              </a:rPr>
              <a:t>1. What matters most in choosing an academic pathway?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00A5B5"/>
                </a:solidFill>
                <a:latin typeface="Times New Roman"/>
                <a:ea typeface="Noto Sans CJK SC"/>
              </a:rPr>
              <a:t>▪ </a:t>
            </a:r>
            <a:r>
              <a:rPr sz="2400" b="0" u="none">
                <a:solidFill>
                  <a:srgbClr val="16323A"/>
                </a:solidFill>
                <a:latin typeface="Times New Roman"/>
                <a:ea typeface="Noto Sans CJK SC"/>
              </a:rPr>
              <a:t>A. Personal interest　B. Parents' advice　C. School ranking　D. Future salary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16323A"/>
                </a:solidFill>
                <a:latin typeface="Times New Roman"/>
                <a:ea typeface="Noto Sans CJK SC"/>
              </a:rPr>
              <a:t>2. Which of the following is the author's attitude toward school clubs?</a:t>
            </a:r>
          </a:p>
          <a:p>
            <a:pPr algn="l" marL="475488" indent="-475488">
              <a:lnSpc>
                <a:spcPct val="135000"/>
              </a:lnSpc>
              <a:spcBef>
                <a:spcPts val="800"/>
              </a:spcBef>
            </a:pPr>
            <a:r>
              <a:rPr sz="2400" b="0" u="none">
                <a:solidFill>
                  <a:srgbClr val="00A5B5"/>
                </a:solidFill>
                <a:latin typeface="Times New Roman"/>
                <a:ea typeface="Noto Sans CJK SC"/>
              </a:rPr>
              <a:t>▪ </a:t>
            </a:r>
            <a:r>
              <a:rPr sz="2400" b="0" u="none">
                <a:solidFill>
                  <a:srgbClr val="16323A"/>
                </a:solidFill>
                <a:latin typeface="Times New Roman"/>
                <a:ea typeface="Noto Sans CJK SC"/>
              </a:rPr>
              <a:t>A. Doubtful　B. Supportive　C. Indifferent　D. Critical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高三英语一轮复习 话题1 学校及家庭生活 No.4 基础检测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5575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45575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核心词汇突破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36631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6631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重点句型透视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88775" y="6345936"/>
            <a:ext cx="32004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331720"/>
            <a:ext cx="128016" cy="1371600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1234440"/>
            <a:ext cx="3657600" cy="14630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8800"/>
            </a:pPr>
            <a:r>
              <a:rPr sz="8800" b="1" u="none">
                <a:solidFill>
                  <a:srgbClr val="E8F6F7"/>
                </a:solidFill>
                <a:latin typeface="Times New Roman"/>
                <a:ea typeface="Noto Sans CJK SC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9905695" cy="100584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4000"/>
            </a:pPr>
            <a:r>
              <a:rPr sz="4000" b="1" u="none">
                <a:solidFill>
                  <a:srgbClr val="0B6E75"/>
                </a:solidFill>
                <a:latin typeface="Times New Roman"/>
                <a:ea typeface="Noto Sans CJK SC"/>
              </a:rPr>
              <a:t>参考答案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042855" y="256032"/>
            <a:ext cx="960120" cy="182880"/>
          </a:xfrm>
          <a:prstGeom prst="roundRect">
            <a:avLst/>
          </a:prstGeom>
          <a:solidFill>
            <a:srgbClr val="BFE8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140135" y="713232"/>
            <a:ext cx="658368" cy="182880"/>
          </a:xfrm>
          <a:prstGeom prst="roundRect">
            <a:avLst/>
          </a:prstGeom>
          <a:solidFill>
            <a:srgbClr val="FBF3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365760"/>
            <a:ext cx="2249424" cy="566928"/>
          </a:xfrm>
          <a:prstGeom prst="roundRect">
            <a:avLst>
              <a:gd name="adj" fmla="val 12000"/>
            </a:avLst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84048"/>
            <a:ext cx="2249424" cy="530352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2300"/>
            </a:pPr>
            <a:r>
              <a:rPr sz="2300" b="1" u="none">
                <a:solidFill>
                  <a:srgbClr val="FFFFFF"/>
                </a:solidFill>
                <a:latin typeface="Times New Roman"/>
                <a:ea typeface="Noto Sans CJK SC"/>
              </a:rPr>
              <a:t>【参考答案】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10637215" cy="487375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75488" indent="-475488">
              <a:lnSpc>
                <a:spcPct val="135000"/>
              </a:lnSpc>
              <a:defRPr sz="2600"/>
            </a:pPr>
            <a:r>
              <a:rPr sz="2600" b="0" u="none">
                <a:solidFill>
                  <a:srgbClr val="16323A"/>
                </a:solidFill>
                <a:latin typeface="Times New Roman"/>
                <a:ea typeface="Noto Sans CJK SC"/>
              </a:rPr>
              <a:t>1. impression　2. curious　3. apply　4. explore　5. organize</a:t>
            </a:r>
          </a:p>
          <a:p>
            <a:pPr algn="l" marL="475488" indent="-475488">
              <a:lnSpc>
                <a:spcPct val="135000"/>
              </a:lnSpc>
              <a:spcBef>
                <a:spcPts val="1000"/>
              </a:spcBef>
            </a:pPr>
            <a:r>
              <a:rPr sz="2600" b="0" u="none">
                <a:solidFill>
                  <a:srgbClr val="00A5B5"/>
                </a:solidFill>
                <a:latin typeface="Times New Roman"/>
                <a:ea typeface="Noto Sans CJK SC"/>
              </a:rPr>
              <a:t>▪ </a:t>
            </a:r>
            <a:r>
              <a:rPr sz="2600" b="0" u="none">
                <a:solidFill>
                  <a:srgbClr val="16323A"/>
                </a:solidFill>
                <a:latin typeface="Times New Roman"/>
                <a:ea typeface="Noto Sans CJK SC"/>
              </a:rPr>
              <a:t>词性转换：curiosity / impression / organization / argument / confidence 话题评测：1. A　2. B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739128"/>
            <a:ext cx="12191695" cy="118872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345936"/>
            <a:ext cx="7498079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胶州四中 · 高三英语一轮复习 话题1 学校及家庭生活 No.4 基础检测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5575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45575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核心词汇突破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36631" y="6309360"/>
            <a:ext cx="1481328" cy="310896"/>
          </a:xfrm>
          <a:prstGeom prst="roundRect">
            <a:avLst>
              <a:gd name="adj" fmla="val 40000"/>
            </a:avLst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36631" y="6318504"/>
            <a:ext cx="1481328" cy="292608"/>
          </a:xfrm>
          <a:prstGeom prst="rect">
            <a:avLst/>
          </a:prstGeom>
          <a:noFill/>
        </p:spPr>
        <p:txBody>
          <a:bodyPr wrap="square" anchor="ctr" lIns="54864" rIns="54864" tIns="0" bIns="0">
            <a:spAutoFit/>
          </a:bodyPr>
          <a:lstStyle/>
          <a:p>
            <a:pPr algn="ctr">
              <a:lnSpc>
                <a:spcPct val="130000"/>
              </a:lnSpc>
              <a:defRPr sz="900"/>
            </a:pPr>
            <a:r>
              <a:rPr sz="900" b="1" u="none">
                <a:solidFill>
                  <a:srgbClr val="6B7280"/>
                </a:solidFill>
                <a:latin typeface="Times New Roman"/>
                <a:ea typeface="Noto Sans CJK SC"/>
              </a:rPr>
              <a:t>重点句型透视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88775" y="6345936"/>
            <a:ext cx="320040" cy="27432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000"/>
            </a:pPr>
            <a:r>
              <a:rPr sz="1000" b="0" u="none">
                <a:solidFill>
                  <a:srgbClr val="8A94A6"/>
                </a:solidFill>
                <a:latin typeface="Times New Roman"/>
                <a:ea typeface="Noto Sans CJK S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B6E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48272"/>
            <a:ext cx="12191695" cy="109728"/>
          </a:xfrm>
          <a:prstGeom prst="rect">
            <a:avLst/>
          </a:prstGeom>
          <a:solidFill>
            <a:srgbClr val="00A5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005840"/>
            <a:ext cx="10637215" cy="822960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3800"/>
            </a:pPr>
            <a:r>
              <a:rPr sz="3800" b="1" u="none">
                <a:solidFill>
                  <a:srgbClr val="0B6E75"/>
                </a:solidFill>
                <a:latin typeface="Times New Roman"/>
                <a:ea typeface="Noto Sans CJK SC"/>
              </a:rPr>
              <a:t>本节课小结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136392"/>
            <a:ext cx="10454335" cy="2715768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 marL="411480" indent="-411480">
              <a:lnSpc>
                <a:spcPct val="135000"/>
              </a:lnSpc>
              <a:defRPr sz="2300"/>
            </a:pPr>
            <a:r>
              <a:rPr sz="2300" b="0" u="none">
                <a:solidFill>
                  <a:srgbClr val="00A5B5"/>
                </a:solidFill>
                <a:latin typeface="Times New Roman"/>
                <a:ea typeface="Noto Sans CJK SC"/>
              </a:rPr>
              <a:t>✔ </a:t>
            </a:r>
            <a:r>
              <a:rPr sz="2300" b="0" u="none">
                <a:solidFill>
                  <a:srgbClr val="16323A"/>
                </a:solidFill>
                <a:latin typeface="Times New Roman"/>
                <a:ea typeface="Noto Sans CJK SC"/>
              </a:rPr>
              <a:t>掌握本话题 20 个核心词块，能完成词形变化与单句填空。</a:t>
            </a:r>
          </a:p>
          <a:p>
            <a:pPr algn="l" marL="411480" indent="-411480">
              <a:lnSpc>
                <a:spcPct val="135000"/>
              </a:lnSpc>
              <a:spcBef>
                <a:spcPts val="1000"/>
              </a:spcBef>
            </a:pPr>
            <a:r>
              <a:rPr sz="2300" b="0" u="none">
                <a:solidFill>
                  <a:srgbClr val="00A5B5"/>
                </a:solidFill>
                <a:latin typeface="Times New Roman"/>
                <a:ea typeface="Noto Sans CJK SC"/>
              </a:rPr>
              <a:t>✔ </a:t>
            </a:r>
            <a:r>
              <a:rPr sz="2300" b="0" u="none">
                <a:solidFill>
                  <a:srgbClr val="16323A"/>
                </a:solidFill>
                <a:latin typeface="Times New Roman"/>
                <a:ea typeface="Noto Sans CJK SC"/>
              </a:rPr>
              <a:t>能用「动作 + 情绪」描写完成读后续写片段。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989320"/>
            <a:ext cx="10454335" cy="34747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l">
              <a:lnSpc>
                <a:spcPct val="130000"/>
              </a:lnSpc>
              <a:defRPr sz="1400"/>
            </a:pPr>
            <a:r>
              <a:rPr sz="1400" b="0" u="none">
                <a:solidFill>
                  <a:srgbClr val="64748B"/>
                </a:solidFill>
                <a:latin typeface="Times New Roman"/>
                <a:ea typeface="Noto Sans CJK SC"/>
              </a:rPr>
              <a:t>胶州四中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48695" y="5989320"/>
            <a:ext cx="685800" cy="347472"/>
          </a:xfrm>
          <a:prstGeom prst="rect">
            <a:avLst/>
          </a:prstGeom>
          <a:noFill/>
        </p:spPr>
        <p:txBody>
          <a:bodyPr wrap="square" anchor="t" lIns="54864" rIns="54864" tIns="0" bIns="0">
            <a:spAutoFit/>
          </a:bodyPr>
          <a:lstStyle/>
          <a:p>
            <a:pPr algn="r">
              <a:lnSpc>
                <a:spcPct val="130000"/>
              </a:lnSpc>
              <a:defRPr sz="1400"/>
            </a:pPr>
            <a:r>
              <a:rPr sz="1400" b="0" u="none">
                <a:solidFill>
                  <a:srgbClr val="64748B"/>
                </a:solidFill>
                <a:latin typeface="Times New Roman"/>
                <a:ea typeface="Noto Sans CJK SC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