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134295" y="1234440"/>
            <a:ext cx="1554480" cy="1554480"/>
          </a:xfrm>
          <a:prstGeom prst="ellipse">
            <a:avLst/>
          </a:prstGeom>
          <a:noFill/>
          <a:ln w="15875">
            <a:solidFill>
              <a:srgbClr val="DCE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45775" y="1234440"/>
            <a:ext cx="1143000" cy="1143000"/>
          </a:xfrm>
          <a:prstGeom prst="ellipse">
            <a:avLst/>
          </a:prstGeom>
          <a:noFill/>
          <a:ln w="15875">
            <a:solidFill>
              <a:srgbClr val="DCE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57255" y="1234440"/>
            <a:ext cx="731520" cy="731520"/>
          </a:xfrm>
          <a:prstGeom prst="ellipse">
            <a:avLst/>
          </a:prstGeom>
          <a:noFill/>
          <a:ln w="15875">
            <a:solidFill>
              <a:srgbClr val="DCE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F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00780" y="2724912"/>
            <a:ext cx="1554480" cy="585216"/>
          </a:xfrm>
          <a:prstGeom prst="roundRect">
            <a:avLst>
              <a:gd name="adj" fmla="val 18000"/>
            </a:avLst>
          </a:prstGeom>
          <a:solidFill>
            <a:srgbClr val="3F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0780" y="2743200"/>
            <a:ext cx="1554480" cy="54864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500"/>
            </a:pPr>
            <a:r>
              <a:rPr sz="1500" b="1" u="none">
                <a:solidFill>
                  <a:srgbClr val="FFFFFF"/>
                </a:solidFill>
                <a:latin typeface="Times New Roman"/>
                <a:ea typeface="Noto Sans CJK SC"/>
              </a:rPr>
              <a:t>生物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14150" y="1888236"/>
            <a:ext cx="1005840" cy="475488"/>
          </a:xfrm>
          <a:prstGeom prst="roundRect">
            <a:avLst>
              <a:gd name="adj" fmla="val 30000"/>
            </a:avLst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4150" y="1906524"/>
            <a:ext cx="1005840" cy="438912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200"/>
            </a:pPr>
            <a:r>
              <a:rPr sz="1200" b="1" u="none">
                <a:solidFill>
                  <a:srgbClr val="FFFFFF"/>
                </a:solidFill>
                <a:latin typeface="Times New Roman"/>
                <a:ea typeface="Noto Sans CJK SC"/>
              </a:rPr>
              <a:t>结构</a:t>
            </a:r>
          </a:p>
        </p:txBody>
      </p:sp>
      <p:cxnSp>
        <p:nvCxnSpPr>
          <p:cNvPr id="12" name="Connector 11"/>
          <p:cNvCxnSpPr/>
          <p:nvPr/>
        </p:nvCxnSpPr>
        <p:spPr>
          <a:xfrm flipH="1" flipV="1">
            <a:off x="6917070" y="2125980"/>
            <a:ext cx="1860950" cy="891540"/>
          </a:xfrm>
          <a:prstGeom prst="line">
            <a:avLst/>
          </a:prstGeom>
          <a:ln w="12700">
            <a:solidFill>
              <a:srgbClr val="C9D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414150" y="3671316"/>
            <a:ext cx="1005840" cy="475488"/>
          </a:xfrm>
          <a:prstGeom prst="roundRect">
            <a:avLst>
              <a:gd name="adj" fmla="val 30000"/>
            </a:avLst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150" y="3689604"/>
            <a:ext cx="1005840" cy="438912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200"/>
            </a:pPr>
            <a:r>
              <a:rPr sz="1200" b="1" u="none">
                <a:solidFill>
                  <a:srgbClr val="FFFFFF"/>
                </a:solidFill>
                <a:latin typeface="Times New Roman"/>
                <a:ea typeface="Noto Sans CJK SC"/>
              </a:rPr>
              <a:t>功能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6917070" y="3017520"/>
            <a:ext cx="1860950" cy="891540"/>
          </a:xfrm>
          <a:prstGeom prst="line">
            <a:avLst/>
          </a:prstGeom>
          <a:ln w="12700">
            <a:solidFill>
              <a:srgbClr val="C9D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275100" y="996696"/>
            <a:ext cx="1005840" cy="475488"/>
          </a:xfrm>
          <a:prstGeom prst="roundRect">
            <a:avLst>
              <a:gd name="adj" fmla="val 30000"/>
            </a:avLst>
          </a:prstGeom>
          <a:solidFill>
            <a:srgbClr val="E8A8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100" y="1014984"/>
            <a:ext cx="1005840" cy="438912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200"/>
            </a:pPr>
            <a:r>
              <a:rPr sz="1200" b="1" u="none">
                <a:solidFill>
                  <a:srgbClr val="FFFFFF"/>
                </a:solidFill>
                <a:latin typeface="Times New Roman"/>
                <a:ea typeface="Noto Sans CJK SC"/>
              </a:rPr>
              <a:t>特点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8778020" y="1234440"/>
            <a:ext cx="0" cy="1783080"/>
          </a:xfrm>
          <a:prstGeom prst="line">
            <a:avLst/>
          </a:prstGeom>
          <a:ln w="12700">
            <a:solidFill>
              <a:srgbClr val="C9D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0136050" y="1888235"/>
            <a:ext cx="1005840" cy="475488"/>
          </a:xfrm>
          <a:prstGeom prst="roundRect">
            <a:avLst>
              <a:gd name="adj" fmla="val 30000"/>
            </a:avLst>
          </a:prstGeom>
          <a:solidFill>
            <a:srgbClr val="B57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36050" y="1906523"/>
            <a:ext cx="1005840" cy="438912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200"/>
            </a:pPr>
            <a:r>
              <a:rPr sz="1200" b="1" u="none">
                <a:solidFill>
                  <a:srgbClr val="FFFFFF"/>
                </a:solidFill>
                <a:latin typeface="Times New Roman"/>
                <a:ea typeface="Noto Sans CJK SC"/>
              </a:rPr>
              <a:t>应用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8778020" y="2125979"/>
            <a:ext cx="1860950" cy="891541"/>
          </a:xfrm>
          <a:prstGeom prst="line">
            <a:avLst/>
          </a:prstGeom>
          <a:ln w="12700">
            <a:solidFill>
              <a:srgbClr val="C9D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68680" y="1645920"/>
            <a:ext cx="6095847" cy="219456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20000"/>
              </a:lnSpc>
              <a:defRPr sz="3400"/>
            </a:pPr>
            <a:r>
              <a:rPr sz="3400" b="1" u="none">
                <a:solidFill>
                  <a:srgbClr val="3F7A52"/>
                </a:solidFill>
                <a:latin typeface="Times New Roman"/>
                <a:ea typeface="Noto Sans CJK SC"/>
              </a:rPr>
              <a:t>第4讲 细胞膜与细胞核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6112" y="3977639"/>
            <a:ext cx="5852013" cy="566928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" y="4005072"/>
            <a:ext cx="5486262" cy="512064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700"/>
            </a:pPr>
            <a:r>
              <a:rPr sz="1700" b="1" u="none">
                <a:solidFill>
                  <a:srgbClr val="1D2B22"/>
                </a:solidFill>
                <a:latin typeface="Times New Roman"/>
                <a:ea typeface="Noto Sans CJK SC"/>
              </a:rPr>
              <a:t>高三生物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4892040"/>
            <a:ext cx="5852013" cy="45720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200"/>
            </a:pPr>
            <a:r>
              <a:rPr sz="1200" b="0" u="none">
                <a:solidFill>
                  <a:srgbClr val="6B8C85"/>
                </a:solidFill>
                <a:latin typeface="Times New Roman"/>
                <a:ea typeface="Noto Sans CJK SC"/>
              </a:rPr>
              <a:t>胶州四中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112" y="5760720"/>
            <a:ext cx="822960" cy="402336"/>
          </a:xfrm>
          <a:prstGeom prst="roundRect">
            <a:avLst>
              <a:gd name="adj" fmla="val 30000"/>
            </a:avLst>
          </a:prstGeom>
          <a:solidFill>
            <a:srgbClr val="3F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5779008"/>
            <a:ext cx="822960" cy="36576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300"/>
            </a:pPr>
            <a:r>
              <a:rPr sz="1300" b="1" u="none">
                <a:solidFill>
                  <a:srgbClr val="FFFFFF"/>
                </a:solidFill>
                <a:latin typeface="Times New Roman"/>
                <a:ea typeface="Noto Sans CJK SC"/>
              </a:rPr>
              <a:t>学案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134295" y="1234440"/>
            <a:ext cx="1554480" cy="1554480"/>
          </a:xfrm>
          <a:prstGeom prst="ellipse">
            <a:avLst/>
          </a:prstGeom>
          <a:noFill/>
          <a:ln w="15875">
            <a:solidFill>
              <a:srgbClr val="DCE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45775" y="1234440"/>
            <a:ext cx="1143000" cy="1143000"/>
          </a:xfrm>
          <a:prstGeom prst="ellipse">
            <a:avLst/>
          </a:prstGeom>
          <a:noFill/>
          <a:ln w="15875">
            <a:solidFill>
              <a:srgbClr val="DCE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957255" y="1234440"/>
            <a:ext cx="731520" cy="731520"/>
          </a:xfrm>
          <a:prstGeom prst="ellipse">
            <a:avLst/>
          </a:prstGeom>
          <a:noFill/>
          <a:ln w="15875">
            <a:solidFill>
              <a:srgbClr val="DCE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365760"/>
            <a:ext cx="3346704" cy="566928"/>
          </a:xfrm>
          <a:prstGeom prst="roundRect">
            <a:avLst>
              <a:gd name="adj" fmla="val 10000"/>
            </a:avLst>
          </a:prstGeom>
          <a:solidFill>
            <a:srgbClr val="3F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3346704" cy="530352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2300"/>
            </a:pPr>
            <a:r>
              <a:rPr sz="2300" b="1" u="none">
                <a:solidFill>
                  <a:srgbClr val="FFFFFF"/>
                </a:solidFill>
                <a:latin typeface="Times New Roman"/>
                <a:ea typeface="Noto Sans CJK SC"/>
              </a:rPr>
              <a:t>必备知识•精读教材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37215" cy="487375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475488" indent="-475488">
              <a:lnSpc>
                <a:spcPct val="135000"/>
              </a:lnSpc>
              <a:defRPr sz="2400"/>
            </a:pPr>
            <a:r>
              <a:rPr sz="2400" b="0" u="none">
                <a:solidFill>
                  <a:srgbClr val="1D2B22"/>
                </a:solidFill>
                <a:latin typeface="Times New Roman"/>
                <a:ea typeface="Noto Sans CJK SC"/>
              </a:rPr>
              <a:t>1. 细胞膜主要由 </a:t>
            </a:r>
            <a:r>
              <a:rPr sz="2400" b="0" u="sng">
                <a:solidFill>
                  <a:srgbClr val="1D2B22"/>
                </a:solidFill>
                <a:latin typeface="Times New Roman"/>
                <a:ea typeface="Noto Sans CJK SC"/>
              </a:rPr>
              <a:t>　　　</a:t>
            </a:r>
            <a:r>
              <a:rPr sz="2400" b="0" u="none">
                <a:solidFill>
                  <a:srgbClr val="1D2B22"/>
                </a:solidFill>
                <a:latin typeface="Times New Roman"/>
                <a:ea typeface="Noto Sans CJK SC"/>
              </a:rPr>
              <a:t> 和 </a:t>
            </a:r>
            <a:r>
              <a:rPr sz="2400" b="0" u="sng">
                <a:solidFill>
                  <a:srgbClr val="1D2B22"/>
                </a:solidFill>
                <a:latin typeface="Times New Roman"/>
                <a:ea typeface="Noto Sans CJK SC"/>
              </a:rPr>
              <a:t>　　　　</a:t>
            </a:r>
            <a:r>
              <a:rPr sz="2400" b="0" u="none">
                <a:solidFill>
                  <a:srgbClr val="1D2B22"/>
                </a:solidFill>
                <a:latin typeface="Times New Roman"/>
                <a:ea typeface="Noto Sans CJK SC"/>
              </a:rPr>
              <a:t> 组成，此外还有少量糖类。</a:t>
            </a:r>
          </a:p>
          <a:p>
            <a:pPr algn="l" marL="475488" indent="-475488">
              <a:lnSpc>
                <a:spcPct val="135000"/>
              </a:lnSpc>
              <a:spcBef>
                <a:spcPts val="800"/>
              </a:spcBef>
            </a:pPr>
            <a:r>
              <a:rPr sz="2400" b="0" u="none">
                <a:solidFill>
                  <a:srgbClr val="1D2B22"/>
                </a:solidFill>
                <a:latin typeface="Times New Roman"/>
                <a:ea typeface="Noto Sans CJK SC"/>
              </a:rPr>
              <a:t>2. 流动镶嵌模型认为：</a:t>
            </a:r>
            <a:r>
              <a:rPr sz="2400" b="0" u="sng">
                <a:solidFill>
                  <a:srgbClr val="1D2B22"/>
                </a:solidFill>
                <a:latin typeface="Times New Roman"/>
                <a:ea typeface="Noto Sans CJK SC"/>
              </a:rPr>
              <a:t>　　　　　　　</a:t>
            </a:r>
            <a:r>
              <a:rPr sz="2400" b="0" u="none">
                <a:solidFill>
                  <a:srgbClr val="1D2B22"/>
                </a:solidFill>
                <a:latin typeface="Times New Roman"/>
                <a:ea typeface="Noto Sans CJK SC"/>
              </a:rPr>
              <a:t> 构成基本支架，蛋白质分子镶嵌、贯穿或覆盖其中。</a:t>
            </a:r>
          </a:p>
          <a:p>
            <a:pPr algn="l" marL="475488" indent="-475488">
              <a:lnSpc>
                <a:spcPct val="135000"/>
              </a:lnSpc>
              <a:spcBef>
                <a:spcPts val="800"/>
              </a:spcBef>
            </a:pPr>
            <a:r>
              <a:rPr sz="2400" b="0" u="none">
                <a:solidFill>
                  <a:srgbClr val="1D2B22"/>
                </a:solidFill>
                <a:latin typeface="Times New Roman"/>
                <a:ea typeface="Noto Sans CJK SC"/>
              </a:rPr>
              <a:t>3. 细胞膜的结构特点是 </a:t>
            </a:r>
            <a:r>
              <a:rPr sz="2400" b="0" u="sng">
                <a:solidFill>
                  <a:srgbClr val="1D2B22"/>
                </a:solidFill>
                <a:latin typeface="Times New Roman"/>
                <a:ea typeface="Noto Sans CJK SC"/>
              </a:rPr>
              <a:t>　　　　　　　　　</a:t>
            </a:r>
            <a:r>
              <a:rPr sz="2400" b="0" u="none">
                <a:solidFill>
                  <a:srgbClr val="1D2B22"/>
                </a:solidFill>
                <a:latin typeface="Times New Roman"/>
                <a:ea typeface="Noto Sans CJK SC"/>
              </a:rPr>
              <a:t>，功能特性是 </a:t>
            </a:r>
            <a:r>
              <a:rPr sz="2400" b="0" u="sng">
                <a:solidFill>
                  <a:srgbClr val="1D2B22"/>
                </a:solidFill>
                <a:latin typeface="Times New Roman"/>
                <a:ea typeface="Noto Sans CJK SC"/>
              </a:rPr>
              <a:t>　　　　　　</a:t>
            </a:r>
            <a:r>
              <a:rPr sz="2400" b="0" u="none">
                <a:solidFill>
                  <a:srgbClr val="1D2B22"/>
                </a:solidFill>
                <a:latin typeface="Times New Roman"/>
                <a:ea typeface="Noto Sans CJK SC"/>
              </a:rPr>
              <a:t>。</a:t>
            </a:r>
          </a:p>
          <a:p>
            <a:pPr algn="l" marL="475488" indent="-475488">
              <a:lnSpc>
                <a:spcPct val="135000"/>
              </a:lnSpc>
              <a:spcBef>
                <a:spcPts val="800"/>
              </a:spcBef>
            </a:pPr>
            <a:r>
              <a:rPr sz="2400" b="0" u="none">
                <a:solidFill>
                  <a:srgbClr val="70AD47"/>
                </a:solidFill>
                <a:latin typeface="Times New Roman"/>
                <a:ea typeface="Noto Sans CJK SC"/>
              </a:rPr>
              <a:t>▪ </a:t>
            </a:r>
            <a:r>
              <a:rPr sz="2400" b="0" u="none">
                <a:solidFill>
                  <a:srgbClr val="1D2B22"/>
                </a:solidFill>
                <a:latin typeface="Times New Roman"/>
                <a:ea typeface="Noto Sans CJK SC"/>
              </a:rPr>
              <a:t>判断正误：</a:t>
            </a:r>
          </a:p>
          <a:p>
            <a:pPr algn="l" marL="475488" indent="-475488">
              <a:lnSpc>
                <a:spcPct val="135000"/>
              </a:lnSpc>
              <a:spcBef>
                <a:spcPts val="800"/>
              </a:spcBef>
            </a:pPr>
            <a:r>
              <a:rPr sz="2400" b="0" u="none">
                <a:solidFill>
                  <a:srgbClr val="1D2B22"/>
                </a:solidFill>
                <a:latin typeface="Times New Roman"/>
                <a:ea typeface="Noto Sans CJK SC"/>
              </a:rPr>
              <a:t>1. 在细胞膜的控制下，对细胞有害的物质都不能进入细胞（　）</a:t>
            </a:r>
          </a:p>
          <a:p>
            <a:pPr algn="l" marL="475488" indent="-475488">
              <a:lnSpc>
                <a:spcPct val="135000"/>
              </a:lnSpc>
              <a:spcBef>
                <a:spcPts val="800"/>
              </a:spcBef>
            </a:pPr>
            <a:r>
              <a:rPr sz="2400" b="0" u="none">
                <a:solidFill>
                  <a:srgbClr val="1D2B22"/>
                </a:solidFill>
                <a:latin typeface="Times New Roman"/>
                <a:ea typeface="Noto Sans CJK SC"/>
              </a:rPr>
              <a:t>2. 相邻两个细胞的细胞膜接触可实现细胞间的信息传递（　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45936"/>
            <a:ext cx="7498079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胶州四中 · 第4讲 细胞膜与细胞核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345936"/>
            <a:ext cx="68580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134295" y="1234440"/>
            <a:ext cx="1554480" cy="1554480"/>
          </a:xfrm>
          <a:prstGeom prst="ellipse">
            <a:avLst/>
          </a:prstGeom>
          <a:noFill/>
          <a:ln w="15875">
            <a:solidFill>
              <a:srgbClr val="DCE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45775" y="1234440"/>
            <a:ext cx="1143000" cy="1143000"/>
          </a:xfrm>
          <a:prstGeom prst="ellipse">
            <a:avLst/>
          </a:prstGeom>
          <a:noFill/>
          <a:ln w="15875">
            <a:solidFill>
              <a:srgbClr val="DCE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957255" y="1234440"/>
            <a:ext cx="731520" cy="731520"/>
          </a:xfrm>
          <a:prstGeom prst="ellipse">
            <a:avLst/>
          </a:prstGeom>
          <a:noFill/>
          <a:ln w="15875">
            <a:solidFill>
              <a:srgbClr val="DCE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365760"/>
            <a:ext cx="4279392" cy="566928"/>
          </a:xfrm>
          <a:prstGeom prst="roundRect">
            <a:avLst>
              <a:gd name="adj" fmla="val 10000"/>
            </a:avLst>
          </a:prstGeom>
          <a:solidFill>
            <a:srgbClr val="3F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4279392" cy="530352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2300"/>
            </a:pPr>
            <a:r>
              <a:rPr sz="2300" b="1" u="none">
                <a:solidFill>
                  <a:srgbClr val="FFFFFF"/>
                </a:solidFill>
                <a:latin typeface="Times New Roman"/>
                <a:ea typeface="Noto Sans CJK SC"/>
              </a:rPr>
              <a:t>必备知识•精读教材｜概念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0" y="457200"/>
            <a:ext cx="768096" cy="384048"/>
          </a:xfrm>
          <a:prstGeom prst="roundRect">
            <a:avLst>
              <a:gd name="adj" fmla="val 2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475488"/>
            <a:ext cx="768096" cy="347472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200"/>
            </a:pPr>
            <a:r>
              <a:rPr sz="1200" b="1" u="none">
                <a:solidFill>
                  <a:srgbClr val="8A6D1B"/>
                </a:solidFill>
                <a:latin typeface="Times New Roman"/>
                <a:ea typeface="Noto Sans CJK SC"/>
              </a:rPr>
              <a:t>归纳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52847" y="1325880"/>
            <a:ext cx="2286000" cy="713232"/>
          </a:xfrm>
          <a:prstGeom prst="roundRect">
            <a:avLst>
              <a:gd name="adj" fmla="val 18000"/>
            </a:avLst>
          </a:prstGeom>
          <a:solidFill>
            <a:srgbClr val="3F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52847" y="1325880"/>
            <a:ext cx="2286000" cy="713232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2000"/>
            </a:pPr>
            <a:r>
              <a:rPr sz="2000" b="1" u="none">
                <a:solidFill>
                  <a:srgbClr val="FFFFFF"/>
                </a:solidFill>
                <a:latin typeface="Times New Roman"/>
                <a:ea typeface="Noto Sans CJK SC"/>
              </a:rPr>
              <a:t>细胞膜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9497" y="2039112"/>
            <a:ext cx="12700" cy="256032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63040" y="2295144"/>
            <a:ext cx="9265615" cy="127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963381" y="2295144"/>
            <a:ext cx="12700" cy="31089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2606040"/>
            <a:ext cx="2476423" cy="3291840"/>
          </a:xfrm>
          <a:prstGeom prst="roundRect">
            <a:avLst>
              <a:gd name="adj" fmla="val 5000"/>
            </a:avLst>
          </a:prstGeom>
          <a:solidFill>
            <a:srgbClr val="EA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734056"/>
            <a:ext cx="2147239" cy="36576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500"/>
            </a:pPr>
            <a:r>
              <a:rPr sz="1500" b="1" u="none">
                <a:solidFill>
                  <a:srgbClr val="3F7A52"/>
                </a:solidFill>
                <a:latin typeface="Times New Roman"/>
                <a:ea typeface="Noto Sans CJK SC"/>
              </a:rPr>
              <a:t>结构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172968"/>
            <a:ext cx="2110663" cy="2560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256032" indent="-256032">
              <a:lnSpc>
                <a:spcPct val="135000"/>
              </a:lnSpc>
              <a:defRPr sz="1400"/>
            </a:pPr>
            <a:r>
              <a:rPr sz="1400" b="0" u="none">
                <a:solidFill>
                  <a:srgbClr val="70AD47"/>
                </a:solidFill>
                <a:latin typeface="Times New Roman"/>
                <a:ea typeface="Noto Sans CJK SC"/>
              </a:rPr>
              <a:t>· </a:t>
            </a:r>
            <a:r>
              <a:rPr sz="1400" b="0" u="none">
                <a:solidFill>
                  <a:srgbClr val="1D2B22"/>
                </a:solidFill>
                <a:latin typeface="Times New Roman"/>
                <a:ea typeface="Noto Sans CJK SC"/>
              </a:rPr>
              <a:t>磷脂双分子层</a:t>
            </a:r>
          </a:p>
          <a:p>
            <a:pPr algn="l" marL="256032" indent="-256032">
              <a:lnSpc>
                <a:spcPct val="135000"/>
              </a:lnSpc>
              <a:spcBef>
                <a:spcPts val="1000"/>
              </a:spcBef>
            </a:pPr>
            <a:r>
              <a:rPr sz="1400" b="0" u="none">
                <a:solidFill>
                  <a:srgbClr val="70AD47"/>
                </a:solidFill>
                <a:latin typeface="Times New Roman"/>
                <a:ea typeface="Noto Sans CJK SC"/>
              </a:rPr>
              <a:t>· </a:t>
            </a:r>
            <a:r>
              <a:rPr sz="1400" b="0" u="none">
                <a:solidFill>
                  <a:srgbClr val="1D2B22"/>
                </a:solidFill>
                <a:latin typeface="Times New Roman"/>
                <a:ea typeface="Noto Sans CJK SC"/>
              </a:rPr>
              <a:t>蛋白质</a:t>
            </a:r>
          </a:p>
          <a:p>
            <a:pPr algn="l" marL="256032" indent="-256032">
              <a:lnSpc>
                <a:spcPct val="135000"/>
              </a:lnSpc>
              <a:spcBef>
                <a:spcPts val="1000"/>
              </a:spcBef>
            </a:pPr>
            <a:r>
              <a:rPr sz="1400" b="0" u="none">
                <a:solidFill>
                  <a:srgbClr val="70AD47"/>
                </a:solidFill>
                <a:latin typeface="Times New Roman"/>
                <a:ea typeface="Noto Sans CJK SC"/>
              </a:rPr>
              <a:t>· </a:t>
            </a:r>
            <a:r>
              <a:rPr sz="1400" b="0" u="none">
                <a:solidFill>
                  <a:srgbClr val="1D2B22"/>
                </a:solidFill>
                <a:latin typeface="Times New Roman"/>
                <a:ea typeface="Noto Sans CJK SC"/>
              </a:rPr>
              <a:t>糖蛋白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14125" y="2295144"/>
            <a:ext cx="12700" cy="31089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482263" y="2606040"/>
            <a:ext cx="2476423" cy="3291840"/>
          </a:xfrm>
          <a:prstGeom prst="roundRect">
            <a:avLst>
              <a:gd name="adj" fmla="val 5000"/>
            </a:avLst>
          </a:prstGeom>
          <a:solidFill>
            <a:srgbClr val="EA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46855" y="2734056"/>
            <a:ext cx="2147239" cy="36576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500"/>
            </a:pPr>
            <a:r>
              <a:rPr sz="1500" b="1" u="none">
                <a:solidFill>
                  <a:srgbClr val="3F7A52"/>
                </a:solidFill>
                <a:latin typeface="Times New Roman"/>
                <a:ea typeface="Noto Sans CJK SC"/>
              </a:rPr>
              <a:t>功能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65143" y="3172968"/>
            <a:ext cx="2110663" cy="2560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256032" indent="-256032">
              <a:lnSpc>
                <a:spcPct val="135000"/>
              </a:lnSpc>
              <a:defRPr sz="1400"/>
            </a:pPr>
            <a:r>
              <a:rPr sz="1400" b="0" u="none">
                <a:solidFill>
                  <a:srgbClr val="70AD47"/>
                </a:solidFill>
                <a:latin typeface="Times New Roman"/>
                <a:ea typeface="Noto Sans CJK SC"/>
              </a:rPr>
              <a:t>· </a:t>
            </a:r>
            <a:r>
              <a:rPr sz="1400" b="0" u="none">
                <a:solidFill>
                  <a:srgbClr val="1D2B22"/>
                </a:solidFill>
                <a:latin typeface="Times New Roman"/>
                <a:ea typeface="Noto Sans CJK SC"/>
              </a:rPr>
              <a:t>分隔细胞</a:t>
            </a:r>
          </a:p>
          <a:p>
            <a:pPr algn="l" marL="256032" indent="-256032">
              <a:lnSpc>
                <a:spcPct val="135000"/>
              </a:lnSpc>
              <a:spcBef>
                <a:spcPts val="1000"/>
              </a:spcBef>
            </a:pPr>
            <a:r>
              <a:rPr sz="1400" b="0" u="none">
                <a:solidFill>
                  <a:srgbClr val="70AD47"/>
                </a:solidFill>
                <a:latin typeface="Times New Roman"/>
                <a:ea typeface="Noto Sans CJK SC"/>
              </a:rPr>
              <a:t>· </a:t>
            </a:r>
            <a:r>
              <a:rPr sz="1400" b="0" u="none">
                <a:solidFill>
                  <a:srgbClr val="1D2B22"/>
                </a:solidFill>
                <a:latin typeface="Times New Roman"/>
                <a:ea typeface="Noto Sans CJK SC"/>
              </a:rPr>
              <a:t>控制物质进出</a:t>
            </a:r>
          </a:p>
          <a:p>
            <a:pPr algn="l" marL="256032" indent="-256032">
              <a:lnSpc>
                <a:spcPct val="135000"/>
              </a:lnSpc>
              <a:spcBef>
                <a:spcPts val="1000"/>
              </a:spcBef>
            </a:pPr>
            <a:r>
              <a:rPr sz="1400" b="0" u="none">
                <a:solidFill>
                  <a:srgbClr val="70AD47"/>
                </a:solidFill>
                <a:latin typeface="Times New Roman"/>
                <a:ea typeface="Noto Sans CJK SC"/>
              </a:rPr>
              <a:t>· </a:t>
            </a:r>
            <a:r>
              <a:rPr sz="1400" b="0" u="none">
                <a:solidFill>
                  <a:srgbClr val="1D2B22"/>
                </a:solidFill>
                <a:latin typeface="Times New Roman"/>
                <a:ea typeface="Noto Sans CJK SC"/>
              </a:rPr>
              <a:t>信息交流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64869" y="2295144"/>
            <a:ext cx="12700" cy="31089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33007" y="2606040"/>
            <a:ext cx="2476423" cy="3291840"/>
          </a:xfrm>
          <a:prstGeom prst="roundRect">
            <a:avLst>
              <a:gd name="adj" fmla="val 5000"/>
            </a:avLst>
          </a:prstGeom>
          <a:solidFill>
            <a:srgbClr val="EA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7599" y="2734056"/>
            <a:ext cx="2147239" cy="36576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500"/>
            </a:pPr>
            <a:r>
              <a:rPr sz="1500" b="1" u="none">
                <a:solidFill>
                  <a:srgbClr val="3F7A52"/>
                </a:solidFill>
                <a:latin typeface="Times New Roman"/>
                <a:ea typeface="Noto Sans CJK SC"/>
              </a:rPr>
              <a:t>特点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5887" y="3172968"/>
            <a:ext cx="2110663" cy="2560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256032" indent="-256032">
              <a:lnSpc>
                <a:spcPct val="135000"/>
              </a:lnSpc>
              <a:defRPr sz="1400"/>
            </a:pPr>
            <a:r>
              <a:rPr sz="1400" b="0" u="none">
                <a:solidFill>
                  <a:srgbClr val="70AD47"/>
                </a:solidFill>
                <a:latin typeface="Times New Roman"/>
                <a:ea typeface="Noto Sans CJK SC"/>
              </a:rPr>
              <a:t>· </a:t>
            </a:r>
            <a:r>
              <a:rPr sz="1400" b="0" u="none">
                <a:solidFill>
                  <a:srgbClr val="1D2B22"/>
                </a:solidFill>
                <a:latin typeface="Times New Roman"/>
                <a:ea typeface="Noto Sans CJK SC"/>
              </a:rPr>
              <a:t>流动性</a:t>
            </a:r>
          </a:p>
          <a:p>
            <a:pPr algn="l" marL="256032" indent="-256032">
              <a:lnSpc>
                <a:spcPct val="135000"/>
              </a:lnSpc>
              <a:spcBef>
                <a:spcPts val="1000"/>
              </a:spcBef>
            </a:pPr>
            <a:r>
              <a:rPr sz="1400" b="0" u="none">
                <a:solidFill>
                  <a:srgbClr val="70AD47"/>
                </a:solidFill>
                <a:latin typeface="Times New Roman"/>
                <a:ea typeface="Noto Sans CJK SC"/>
              </a:rPr>
              <a:t>· </a:t>
            </a:r>
            <a:r>
              <a:rPr sz="1400" b="0" u="none">
                <a:solidFill>
                  <a:srgbClr val="1D2B22"/>
                </a:solidFill>
                <a:latin typeface="Times New Roman"/>
                <a:ea typeface="Noto Sans CJK SC"/>
              </a:rPr>
              <a:t>选择透过性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215613" y="2295144"/>
            <a:ext cx="12700" cy="31089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983751" y="2606040"/>
            <a:ext cx="2476423" cy="3291840"/>
          </a:xfrm>
          <a:prstGeom prst="roundRect">
            <a:avLst>
              <a:gd name="adj" fmla="val 5000"/>
            </a:avLst>
          </a:prstGeom>
          <a:solidFill>
            <a:srgbClr val="EA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8343" y="2734056"/>
            <a:ext cx="2147239" cy="36576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500"/>
            </a:pPr>
            <a:r>
              <a:rPr sz="1500" b="1" u="none">
                <a:solidFill>
                  <a:srgbClr val="3F7A52"/>
                </a:solidFill>
                <a:latin typeface="Times New Roman"/>
                <a:ea typeface="Noto Sans CJK SC"/>
              </a:rPr>
              <a:t>成分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66631" y="3172968"/>
            <a:ext cx="2110663" cy="2560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256032" indent="-256032">
              <a:lnSpc>
                <a:spcPct val="135000"/>
              </a:lnSpc>
              <a:defRPr sz="1400"/>
            </a:pPr>
            <a:r>
              <a:rPr sz="1400" b="0" u="none">
                <a:solidFill>
                  <a:srgbClr val="70AD47"/>
                </a:solidFill>
                <a:latin typeface="Times New Roman"/>
                <a:ea typeface="Noto Sans CJK SC"/>
              </a:rPr>
              <a:t>· </a:t>
            </a:r>
            <a:r>
              <a:rPr sz="1400" b="0" u="none">
                <a:solidFill>
                  <a:srgbClr val="1D2B22"/>
                </a:solidFill>
                <a:latin typeface="Times New Roman"/>
                <a:ea typeface="Noto Sans CJK SC"/>
              </a:rPr>
              <a:t>脂质</a:t>
            </a:r>
          </a:p>
          <a:p>
            <a:pPr algn="l" marL="256032" indent="-256032">
              <a:lnSpc>
                <a:spcPct val="135000"/>
              </a:lnSpc>
              <a:spcBef>
                <a:spcPts val="1000"/>
              </a:spcBef>
            </a:pPr>
            <a:r>
              <a:rPr sz="1400" b="0" u="none">
                <a:solidFill>
                  <a:srgbClr val="70AD47"/>
                </a:solidFill>
                <a:latin typeface="Times New Roman"/>
                <a:ea typeface="Noto Sans CJK SC"/>
              </a:rPr>
              <a:t>· </a:t>
            </a:r>
            <a:r>
              <a:rPr sz="1400" b="0" u="none">
                <a:solidFill>
                  <a:srgbClr val="1D2B22"/>
                </a:solidFill>
                <a:latin typeface="Times New Roman"/>
                <a:ea typeface="Noto Sans CJK SC"/>
              </a:rPr>
              <a:t>蛋白质</a:t>
            </a:r>
          </a:p>
          <a:p>
            <a:pPr algn="l" marL="256032" indent="-256032">
              <a:lnSpc>
                <a:spcPct val="135000"/>
              </a:lnSpc>
              <a:spcBef>
                <a:spcPts val="1000"/>
              </a:spcBef>
            </a:pPr>
            <a:r>
              <a:rPr sz="1400" b="0" u="none">
                <a:solidFill>
                  <a:srgbClr val="70AD47"/>
                </a:solidFill>
                <a:latin typeface="Times New Roman"/>
                <a:ea typeface="Noto Sans CJK SC"/>
              </a:rPr>
              <a:t>· </a:t>
            </a:r>
            <a:r>
              <a:rPr sz="1400" b="0" u="none">
                <a:solidFill>
                  <a:srgbClr val="1D2B22"/>
                </a:solidFill>
                <a:latin typeface="Times New Roman"/>
                <a:ea typeface="Noto Sans CJK SC"/>
              </a:rPr>
              <a:t>糖类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6345936"/>
            <a:ext cx="7498079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胶州四中 · 第4讲 细胞膜与细胞核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48695" y="6345936"/>
            <a:ext cx="68580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134295" y="1234440"/>
            <a:ext cx="1554480" cy="1554480"/>
          </a:xfrm>
          <a:prstGeom prst="ellipse">
            <a:avLst/>
          </a:prstGeom>
          <a:noFill/>
          <a:ln w="15875">
            <a:solidFill>
              <a:srgbClr val="DCE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45775" y="1234440"/>
            <a:ext cx="1143000" cy="1143000"/>
          </a:xfrm>
          <a:prstGeom prst="ellipse">
            <a:avLst/>
          </a:prstGeom>
          <a:noFill/>
          <a:ln w="15875">
            <a:solidFill>
              <a:srgbClr val="DCE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957255" y="1234440"/>
            <a:ext cx="731520" cy="731520"/>
          </a:xfrm>
          <a:prstGeom prst="ellipse">
            <a:avLst/>
          </a:prstGeom>
          <a:noFill/>
          <a:ln w="15875">
            <a:solidFill>
              <a:srgbClr val="DCE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365760"/>
            <a:ext cx="3346704" cy="566928"/>
          </a:xfrm>
          <a:prstGeom prst="roundRect">
            <a:avLst>
              <a:gd name="adj" fmla="val 10000"/>
            </a:avLst>
          </a:prstGeom>
          <a:solidFill>
            <a:srgbClr val="3F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3346704" cy="530352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2300"/>
            </a:pPr>
            <a:r>
              <a:rPr sz="2300" b="1" u="none">
                <a:solidFill>
                  <a:srgbClr val="FFFFFF"/>
                </a:solidFill>
                <a:latin typeface="Times New Roman"/>
                <a:ea typeface="Noto Sans CJK SC"/>
              </a:rPr>
              <a:t>科学思维•教考衔接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37215" cy="487375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475488" indent="-475488">
              <a:lnSpc>
                <a:spcPct val="135000"/>
              </a:lnSpc>
              <a:defRPr sz="2400"/>
            </a:pPr>
            <a:r>
              <a:rPr sz="2400" b="0" u="none">
                <a:solidFill>
                  <a:srgbClr val="1D2B22"/>
                </a:solidFill>
                <a:latin typeface="Times New Roman"/>
                <a:ea typeface="Noto Sans CJK SC"/>
              </a:rPr>
              <a:t>1. （2026·重庆模拟）缝隙连接广泛存在于动物细胞间，相邻两细胞膜之间形成连接小体，中央有直径约 1.0~1.4 nm 的小管。下列说法正确的是（　　）</a:t>
            </a:r>
          </a:p>
          <a:p>
            <a:pPr algn="l" marL="475488" indent="-475488">
              <a:lnSpc>
                <a:spcPct val="135000"/>
              </a:lnSpc>
              <a:spcBef>
                <a:spcPts val="800"/>
              </a:spcBef>
            </a:pPr>
            <a:r>
              <a:rPr sz="2400" b="0" u="none">
                <a:solidFill>
                  <a:srgbClr val="70AD47"/>
                </a:solidFill>
                <a:latin typeface="Times New Roman"/>
                <a:ea typeface="Noto Sans CJK SC"/>
              </a:rPr>
              <a:t>▪ </a:t>
            </a:r>
            <a:r>
              <a:rPr sz="2400" b="0" u="none">
                <a:solidFill>
                  <a:srgbClr val="1D2B22"/>
                </a:solidFill>
                <a:latin typeface="Times New Roman"/>
                <a:ea typeface="Noto Sans CJK SC"/>
              </a:rPr>
              <a:t>A. 缝隙连接与胞间连丝是同一种信息交流方式 B. 通过小管传递的信息分子需与膜受体结合 C. 相邻细胞可通过缝隙连接交换小分子物质 D. 细胞间只能通过直接接触进行信息交流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45936"/>
            <a:ext cx="7498079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胶州四中 · 第4讲 细胞膜与细胞核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345936"/>
            <a:ext cx="68580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134295" y="1234440"/>
            <a:ext cx="1554480" cy="1554480"/>
          </a:xfrm>
          <a:prstGeom prst="ellipse">
            <a:avLst/>
          </a:prstGeom>
          <a:noFill/>
          <a:ln w="15875">
            <a:solidFill>
              <a:srgbClr val="DCE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45775" y="1234440"/>
            <a:ext cx="1143000" cy="1143000"/>
          </a:xfrm>
          <a:prstGeom prst="ellipse">
            <a:avLst/>
          </a:prstGeom>
          <a:noFill/>
          <a:ln w="15875">
            <a:solidFill>
              <a:srgbClr val="DCE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957255" y="1234440"/>
            <a:ext cx="731520" cy="731520"/>
          </a:xfrm>
          <a:prstGeom prst="ellipse">
            <a:avLst/>
          </a:prstGeom>
          <a:noFill/>
          <a:ln w="15875">
            <a:solidFill>
              <a:srgbClr val="DCE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365760"/>
            <a:ext cx="4279392" cy="566928"/>
          </a:xfrm>
          <a:prstGeom prst="roundRect">
            <a:avLst>
              <a:gd name="adj" fmla="val 10000"/>
            </a:avLst>
          </a:prstGeom>
          <a:solidFill>
            <a:srgbClr val="3F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4279392" cy="530352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2300"/>
            </a:pPr>
            <a:r>
              <a:rPr sz="2300" b="1" u="none">
                <a:solidFill>
                  <a:srgbClr val="FFFFFF"/>
                </a:solidFill>
                <a:latin typeface="Times New Roman"/>
                <a:ea typeface="Noto Sans CJK SC"/>
              </a:rPr>
              <a:t>科学思维•教考衔接｜对照</a:t>
            </a:r>
          </a:p>
        </p:txBody>
      </p:sp>
      <p:sp>
        <p:nvSpPr>
          <p:cNvPr id="7" name="Rectangle 6"/>
          <p:cNvSpPr/>
          <p:nvPr/>
        </p:nvSpPr>
        <p:spPr>
          <a:xfrm>
            <a:off x="6089497" y="1417320"/>
            <a:ext cx="12700" cy="4709160"/>
          </a:xfrm>
          <a:prstGeom prst="rect">
            <a:avLst/>
          </a:prstGeom>
          <a:solidFill>
            <a:srgbClr val="DC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25880"/>
            <a:ext cx="5227167" cy="40233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400"/>
            </a:pPr>
            <a:r>
              <a:rPr sz="1400" b="1" u="none">
                <a:solidFill>
                  <a:srgbClr val="3F7A52"/>
                </a:solidFill>
                <a:latin typeface="Times New Roman"/>
                <a:ea typeface="Noto Sans CJK SC"/>
              </a:rPr>
              <a:t>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5227167" cy="43891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45000"/>
              </a:lnSpc>
              <a:defRPr sz="1900"/>
            </a:pPr>
            <a:r>
              <a:rPr sz="1900" b="0" u="none">
                <a:solidFill>
                  <a:srgbClr val="1D2B22"/>
                </a:solidFill>
                <a:latin typeface="Times New Roman"/>
                <a:ea typeface="Noto Sans CJK SC"/>
              </a:rPr>
              <a:t>The cell membrane controls what enters and leaves the cell.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167" y="1325880"/>
            <a:ext cx="5227167" cy="40233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400"/>
            </a:pPr>
            <a:r>
              <a:rPr sz="1400" b="1" u="none">
                <a:solidFill>
                  <a:srgbClr val="70AD47"/>
                </a:solidFill>
                <a:latin typeface="Times New Roman"/>
                <a:ea typeface="Noto Sans CJK SC"/>
              </a:rPr>
              <a:t>中文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1783080"/>
            <a:ext cx="5227167" cy="43891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45000"/>
              </a:lnSpc>
              <a:defRPr sz="1900"/>
            </a:pPr>
            <a:r>
              <a:rPr sz="1900" b="0" u="none">
                <a:solidFill>
                  <a:srgbClr val="1D2B22"/>
                </a:solidFill>
                <a:latin typeface="Times New Roman"/>
                <a:ea typeface="Noto Sans CJK SC"/>
              </a:rPr>
              <a:t>细胞膜控制物质进出细胞。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345936"/>
            <a:ext cx="7498079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胶州四中 · 第4讲 细胞膜与细胞核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48695" y="6345936"/>
            <a:ext cx="68580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134295" y="1234440"/>
            <a:ext cx="1554480" cy="1554480"/>
          </a:xfrm>
          <a:prstGeom prst="ellipse">
            <a:avLst/>
          </a:prstGeom>
          <a:noFill/>
          <a:ln w="15875">
            <a:solidFill>
              <a:srgbClr val="DCE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45775" y="1234440"/>
            <a:ext cx="1143000" cy="1143000"/>
          </a:xfrm>
          <a:prstGeom prst="ellipse">
            <a:avLst/>
          </a:prstGeom>
          <a:noFill/>
          <a:ln w="15875">
            <a:solidFill>
              <a:srgbClr val="DCE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957255" y="1234440"/>
            <a:ext cx="731520" cy="731520"/>
          </a:xfrm>
          <a:prstGeom prst="ellipse">
            <a:avLst/>
          </a:prstGeom>
          <a:noFill/>
          <a:ln w="15875">
            <a:solidFill>
              <a:srgbClr val="DCE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365760"/>
            <a:ext cx="3346704" cy="566928"/>
          </a:xfrm>
          <a:prstGeom prst="roundRect">
            <a:avLst>
              <a:gd name="adj" fmla="val 10000"/>
            </a:avLst>
          </a:prstGeom>
          <a:solidFill>
            <a:srgbClr val="3F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3346704" cy="530352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2300"/>
            </a:pPr>
            <a:r>
              <a:rPr sz="2300" b="1" u="none">
                <a:solidFill>
                  <a:srgbClr val="FFFFFF"/>
                </a:solidFill>
                <a:latin typeface="Times New Roman"/>
                <a:ea typeface="Noto Sans CJK SC"/>
              </a:rPr>
              <a:t>关键能力•练透考法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37215" cy="487375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475488" indent="-475488">
              <a:lnSpc>
                <a:spcPct val="135000"/>
              </a:lnSpc>
              <a:defRPr sz="2600"/>
            </a:pPr>
            <a:r>
              <a:rPr sz="2600" b="0" u="none">
                <a:solidFill>
                  <a:srgbClr val="1D2B22"/>
                </a:solidFill>
                <a:latin typeface="Times New Roman"/>
                <a:ea typeface="Noto Sans CJK SC"/>
              </a:rPr>
              <a:t>2. （2025·山东卷）关于细胞膜结构与功能的叙述，错误的是（　　）</a:t>
            </a:r>
          </a:p>
          <a:p>
            <a:pPr algn="l" marL="475488" indent="-475488">
              <a:lnSpc>
                <a:spcPct val="135000"/>
              </a:lnSpc>
              <a:spcBef>
                <a:spcPts val="1000"/>
              </a:spcBef>
            </a:pPr>
            <a:r>
              <a:rPr sz="2600" b="0" u="none">
                <a:solidFill>
                  <a:srgbClr val="70AD47"/>
                </a:solidFill>
                <a:latin typeface="Times New Roman"/>
                <a:ea typeface="Noto Sans CJK SC"/>
              </a:rPr>
              <a:t>▪ </a:t>
            </a:r>
            <a:r>
              <a:rPr sz="2600" b="0" u="none">
                <a:solidFill>
                  <a:srgbClr val="1D2B22"/>
                </a:solidFill>
                <a:latin typeface="Times New Roman"/>
                <a:ea typeface="Noto Sans CJK SC"/>
              </a:rPr>
              <a:t>A. 磷脂双分子层构成膜的基本支架 B. 膜蛋白的分布是不对称的 C. 细胞膜的流动性与其功能无关 D. 糖被与细胞识别有关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45936"/>
            <a:ext cx="7498079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胶州四中 · 第4讲 细胞膜与细胞核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345936"/>
            <a:ext cx="68580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134295" y="1234440"/>
            <a:ext cx="1554480" cy="1554480"/>
          </a:xfrm>
          <a:prstGeom prst="ellipse">
            <a:avLst/>
          </a:prstGeom>
          <a:noFill/>
          <a:ln w="15875">
            <a:solidFill>
              <a:srgbClr val="DCE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45775" y="1234440"/>
            <a:ext cx="1143000" cy="1143000"/>
          </a:xfrm>
          <a:prstGeom prst="ellipse">
            <a:avLst/>
          </a:prstGeom>
          <a:noFill/>
          <a:ln w="15875">
            <a:solidFill>
              <a:srgbClr val="DCE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957255" y="1234440"/>
            <a:ext cx="731520" cy="731520"/>
          </a:xfrm>
          <a:prstGeom prst="ellipse">
            <a:avLst/>
          </a:prstGeom>
          <a:noFill/>
          <a:ln w="15875">
            <a:solidFill>
              <a:srgbClr val="DCE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365760"/>
            <a:ext cx="1792224" cy="566928"/>
          </a:xfrm>
          <a:prstGeom prst="roundRect">
            <a:avLst>
              <a:gd name="adj" fmla="val 10000"/>
            </a:avLst>
          </a:prstGeom>
          <a:solidFill>
            <a:srgbClr val="3F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792224" cy="530352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2300"/>
            </a:pPr>
            <a:r>
              <a:rPr sz="2300" b="1" u="none">
                <a:solidFill>
                  <a:srgbClr val="FFFFFF"/>
                </a:solidFill>
                <a:latin typeface="Times New Roman"/>
                <a:ea typeface="Noto Sans CJK SC"/>
              </a:rPr>
              <a:t>归纳拓展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37215" cy="487375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475488" indent="-475488">
              <a:lnSpc>
                <a:spcPct val="135000"/>
              </a:lnSpc>
              <a:defRPr sz="2600"/>
            </a:pPr>
            <a:r>
              <a:rPr sz="2600" b="0" u="none">
                <a:solidFill>
                  <a:srgbClr val="70AD47"/>
                </a:solidFill>
                <a:latin typeface="Times New Roman"/>
                <a:ea typeface="Noto Sans CJK SC"/>
              </a:rPr>
              <a:t>▪ </a:t>
            </a:r>
            <a:r>
              <a:rPr sz="2600" b="0" u="none">
                <a:solidFill>
                  <a:srgbClr val="1D2B22"/>
                </a:solidFill>
                <a:latin typeface="Times New Roman"/>
                <a:ea typeface="Noto Sans CJK SC"/>
              </a:rPr>
              <a:t>五种常考膜蛋白：受体蛋白、载体蛋白、通道蛋白、泵蛋白、识别蛋白。</a:t>
            </a:r>
          </a:p>
          <a:p>
            <a:pPr algn="l" marL="475488" indent="-475488">
              <a:lnSpc>
                <a:spcPct val="135000"/>
              </a:lnSpc>
              <a:spcBef>
                <a:spcPts val="1000"/>
              </a:spcBef>
            </a:pPr>
            <a:r>
              <a:rPr sz="2600" b="0" u="none">
                <a:solidFill>
                  <a:srgbClr val="70AD47"/>
                </a:solidFill>
                <a:latin typeface="Times New Roman"/>
                <a:ea typeface="Noto Sans CJK SC"/>
              </a:rPr>
              <a:t>▪ </a:t>
            </a:r>
            <a:r>
              <a:rPr sz="2600" b="0" u="none">
                <a:solidFill>
                  <a:srgbClr val="1D2B22"/>
                </a:solidFill>
                <a:latin typeface="Times New Roman"/>
                <a:ea typeface="Noto Sans CJK SC"/>
              </a:rPr>
              <a:t>教材回归：台盼蓝染色排除法——活细胞不着色，死细胞被染成蓝色。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45936"/>
            <a:ext cx="7498079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胶州四中 · 第4讲 细胞膜与细胞核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345936"/>
            <a:ext cx="68580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F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331720"/>
            <a:ext cx="128016" cy="13716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234440"/>
            <a:ext cx="3657600" cy="146304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8800"/>
            </a:pPr>
            <a:r>
              <a:rPr sz="8800" b="1" u="none">
                <a:solidFill>
                  <a:srgbClr val="EAF3EC"/>
                </a:solidFill>
                <a:latin typeface="Times New Roman"/>
                <a:ea typeface="Noto Sans CJK SC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377440"/>
            <a:ext cx="9905695" cy="100584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4000"/>
            </a:pPr>
            <a:r>
              <a:rPr sz="4000" b="1" u="none">
                <a:solidFill>
                  <a:srgbClr val="3F7A52"/>
                </a:solidFill>
                <a:latin typeface="Times New Roman"/>
                <a:ea typeface="Noto Sans CJK SC"/>
              </a:rPr>
              <a:t>参考答案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134295" y="1234440"/>
            <a:ext cx="1554480" cy="1554480"/>
          </a:xfrm>
          <a:prstGeom prst="ellipse">
            <a:avLst/>
          </a:prstGeom>
          <a:noFill/>
          <a:ln w="15875">
            <a:solidFill>
              <a:srgbClr val="DCE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45775" y="1234440"/>
            <a:ext cx="1143000" cy="1143000"/>
          </a:xfrm>
          <a:prstGeom prst="ellipse">
            <a:avLst/>
          </a:prstGeom>
          <a:noFill/>
          <a:ln w="15875">
            <a:solidFill>
              <a:srgbClr val="DCE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957255" y="1234440"/>
            <a:ext cx="731520" cy="731520"/>
          </a:xfrm>
          <a:prstGeom prst="ellipse">
            <a:avLst/>
          </a:prstGeom>
          <a:noFill/>
          <a:ln w="15875">
            <a:solidFill>
              <a:srgbClr val="DCE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365760"/>
            <a:ext cx="1792224" cy="566928"/>
          </a:xfrm>
          <a:prstGeom prst="roundRect">
            <a:avLst>
              <a:gd name="adj" fmla="val 10000"/>
            </a:avLst>
          </a:prstGeom>
          <a:solidFill>
            <a:srgbClr val="3F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792224" cy="530352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2300"/>
            </a:pPr>
            <a:r>
              <a:rPr sz="2300" b="1" u="none">
                <a:solidFill>
                  <a:srgbClr val="FFFFFF"/>
                </a:solidFill>
                <a:latin typeface="Times New Roman"/>
                <a:ea typeface="Noto Sans CJK SC"/>
              </a:rPr>
              <a:t>参考答案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37215" cy="487375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475488" indent="-475488">
              <a:lnSpc>
                <a:spcPct val="135000"/>
              </a:lnSpc>
              <a:defRPr sz="2600"/>
            </a:pPr>
            <a:r>
              <a:rPr sz="2600" b="0" u="none">
                <a:solidFill>
                  <a:srgbClr val="1D2B22"/>
                </a:solidFill>
                <a:latin typeface="Times New Roman"/>
                <a:ea typeface="Noto Sans CJK SC"/>
              </a:rPr>
              <a:t>1. C</a:t>
            </a:r>
          </a:p>
          <a:p>
            <a:pPr algn="l" marL="475488" indent="-475488">
              <a:lnSpc>
                <a:spcPct val="135000"/>
              </a:lnSpc>
              <a:spcBef>
                <a:spcPts val="1000"/>
              </a:spcBef>
            </a:pPr>
            <a:r>
              <a:rPr sz="2600" b="0" u="none">
                <a:solidFill>
                  <a:srgbClr val="1D2B22"/>
                </a:solidFill>
                <a:latin typeface="Times New Roman"/>
                <a:ea typeface="Noto Sans CJK SC"/>
              </a:rPr>
              <a:t>2. C</a:t>
            </a:r>
          </a:p>
          <a:p>
            <a:pPr algn="l" marL="475488" indent="-475488">
              <a:lnSpc>
                <a:spcPct val="135000"/>
              </a:lnSpc>
              <a:spcBef>
                <a:spcPts val="1000"/>
              </a:spcBef>
            </a:pPr>
            <a:r>
              <a:rPr sz="2600" b="0" u="none">
                <a:solidFill>
                  <a:srgbClr val="70AD47"/>
                </a:solidFill>
                <a:latin typeface="Times New Roman"/>
                <a:ea typeface="Noto Sans CJK SC"/>
              </a:rPr>
              <a:t>▪ </a:t>
            </a:r>
            <a:r>
              <a:rPr sz="2600" b="1" u="none">
                <a:solidFill>
                  <a:srgbClr val="C00000"/>
                </a:solidFill>
                <a:latin typeface="Times New Roman"/>
                <a:ea typeface="Noto Sans CJK SC"/>
              </a:rPr>
              <a:t>【解析】</a:t>
            </a:r>
            <a:r>
              <a:rPr sz="2600" b="0" u="none">
                <a:solidFill>
                  <a:srgbClr val="1D2B22"/>
                </a:solidFill>
                <a:latin typeface="Times New Roman"/>
                <a:ea typeface="Noto Sans CJK SC"/>
              </a:rPr>
              <a:t>第 2 题：细胞膜的流动性是物质运输、细胞融合等生命活动的基础，与功能密切相关，故 C 错误。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45936"/>
            <a:ext cx="7498079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胶州四中 · 第4讲 细胞膜与细胞核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345936"/>
            <a:ext cx="68580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F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05840"/>
            <a:ext cx="10637215" cy="82296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3800"/>
            </a:pPr>
            <a:r>
              <a:rPr sz="3800" b="1" u="none">
                <a:solidFill>
                  <a:srgbClr val="3F7A52"/>
                </a:solidFill>
                <a:latin typeface="Times New Roman"/>
                <a:ea typeface="Noto Sans CJK SC"/>
              </a:rPr>
              <a:t>本节课小结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136392"/>
            <a:ext cx="10454335" cy="2715768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411480" indent="-411480">
              <a:lnSpc>
                <a:spcPct val="135000"/>
              </a:lnSpc>
              <a:defRPr sz="2300"/>
            </a:pPr>
            <a:r>
              <a:rPr sz="2300" b="0" u="none">
                <a:solidFill>
                  <a:srgbClr val="70AD47"/>
                </a:solidFill>
                <a:latin typeface="Times New Roman"/>
                <a:ea typeface="Noto Sans CJK SC"/>
              </a:rPr>
              <a:t>✔ </a:t>
            </a:r>
            <a:r>
              <a:rPr sz="2300" b="0" u="none">
                <a:solidFill>
                  <a:srgbClr val="1D2B22"/>
                </a:solidFill>
                <a:latin typeface="Times New Roman"/>
                <a:ea typeface="Noto Sans CJK SC"/>
              </a:rPr>
              <a:t>五种常考膜蛋白：受体蛋白、载体蛋白、通道蛋白、泵蛋白、识别蛋白。</a:t>
            </a:r>
          </a:p>
          <a:p>
            <a:pPr algn="l" marL="411480" indent="-411480">
              <a:lnSpc>
                <a:spcPct val="135000"/>
              </a:lnSpc>
              <a:spcBef>
                <a:spcPts val="1000"/>
              </a:spcBef>
            </a:pPr>
            <a:r>
              <a:rPr sz="2300" b="0" u="none">
                <a:solidFill>
                  <a:srgbClr val="70AD47"/>
                </a:solidFill>
                <a:latin typeface="Times New Roman"/>
                <a:ea typeface="Noto Sans CJK SC"/>
              </a:rPr>
              <a:t>✔ </a:t>
            </a:r>
            <a:r>
              <a:rPr sz="2300" b="0" u="none">
                <a:solidFill>
                  <a:srgbClr val="1D2B22"/>
                </a:solidFill>
                <a:latin typeface="Times New Roman"/>
                <a:ea typeface="Noto Sans CJK SC"/>
              </a:rPr>
              <a:t>教材回归：台盼蓝染色排除法——活细胞不着色，死细胞被染成蓝色。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989320"/>
            <a:ext cx="10454335" cy="34747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400"/>
            </a:pPr>
            <a:r>
              <a:rPr sz="1400" b="0" u="none">
                <a:solidFill>
                  <a:srgbClr val="64748B"/>
                </a:solidFill>
                <a:latin typeface="Times New Roman"/>
                <a:ea typeface="Noto Sans CJK SC"/>
              </a:rPr>
              <a:t>胶州四中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8695" y="5989320"/>
            <a:ext cx="685800" cy="34747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400"/>
            </a:pPr>
            <a:r>
              <a:rPr sz="1400" b="0" u="none">
                <a:solidFill>
                  <a:srgbClr val="64748B"/>
                </a:solidFill>
                <a:latin typeface="Times New Roman"/>
                <a:ea typeface="Noto Sans CJK SC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