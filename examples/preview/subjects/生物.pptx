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8046518" cy="21945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20000"/>
              </a:lnSpc>
              <a:defRPr sz="3400"/>
            </a:pPr>
            <a:r>
              <a:rPr sz="3400" b="1" u="none">
                <a:solidFill>
                  <a:srgbClr val="0B6B5F"/>
                </a:solidFill>
                <a:latin typeface="Times New Roman"/>
                <a:ea typeface="Noto Sans CJK SC"/>
              </a:rPr>
              <a:t>第4讲 细胞膜与细胞核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40480"/>
            <a:ext cx="7315017" cy="7315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900"/>
            </a:pPr>
            <a:r>
              <a:rPr sz="1900" b="0" u="none">
                <a:solidFill>
                  <a:srgbClr val="3F5C57"/>
                </a:solidFill>
                <a:latin typeface="Times New Roman"/>
                <a:ea typeface="Noto Sans CJK SC"/>
              </a:rPr>
              <a:t>高三生物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754880"/>
            <a:ext cx="7315017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200"/>
            </a:pPr>
            <a:r>
              <a:rPr sz="1200" b="0" u="none">
                <a:solidFill>
                  <a:srgbClr val="6B8C85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37215" y="5760720"/>
            <a:ext cx="822960" cy="402336"/>
          </a:xfrm>
          <a:prstGeom prst="roundRect">
            <a:avLst>
              <a:gd name="adj" fmla="val 30000"/>
            </a:avLst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37215" y="5779008"/>
            <a:ext cx="822960" cy="365760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300"/>
            </a:pPr>
            <a:r>
              <a:rPr sz="1300" b="1" u="none">
                <a:solidFill>
                  <a:srgbClr val="FFFFFF"/>
                </a:solidFill>
                <a:latin typeface="Times New Roman"/>
                <a:ea typeface="Noto Sans CJK SC"/>
              </a:rPr>
              <a:t>学案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必备知识•精读教材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1. 细胞膜主要由 </a:t>
            </a:r>
            <a:r>
              <a:rPr sz="2400" b="0" u="sng">
                <a:solidFill>
                  <a:srgbClr val="102622"/>
                </a:solidFill>
                <a:latin typeface="Times New Roman"/>
                <a:ea typeface="Noto Sans CJK SC"/>
              </a:rPr>
              <a:t>　　　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 和 </a:t>
            </a:r>
            <a:r>
              <a:rPr sz="2400" b="0" u="sng">
                <a:solidFill>
                  <a:srgbClr val="102622"/>
                </a:solidFill>
                <a:latin typeface="Times New Roman"/>
                <a:ea typeface="Noto Sans CJK SC"/>
              </a:rPr>
              <a:t>　　　　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 组成，此外还有少量糖类。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2. 流动镶嵌模型认为：</a:t>
            </a:r>
            <a:r>
              <a:rPr sz="2400" b="0" u="sng">
                <a:solidFill>
                  <a:srgbClr val="102622"/>
                </a:solidFill>
                <a:latin typeface="Times New Roman"/>
                <a:ea typeface="Noto Sans CJK SC"/>
              </a:rPr>
              <a:t>　　　　　　　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 构成基本支架，蛋白质 molecule 镶嵌、贯穿或覆盖其中。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3. 细胞膜的结构特点是 </a:t>
            </a:r>
            <a:r>
              <a:rPr sz="2400" b="0" u="sng">
                <a:solidFill>
                  <a:srgbClr val="102622"/>
                </a:solidFill>
                <a:latin typeface="Times New Roman"/>
                <a:ea typeface="Noto Sans CJK SC"/>
              </a:rPr>
              <a:t>　　　　　　　　　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，功能特性是 </a:t>
            </a:r>
            <a:r>
              <a:rPr sz="2400" b="0" u="sng">
                <a:solidFill>
                  <a:srgbClr val="102622"/>
                </a:solidFill>
                <a:latin typeface="Times New Roman"/>
                <a:ea typeface="Noto Sans CJK SC"/>
              </a:rPr>
              <a:t>　　　　　　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。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判断正误：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1. 在细胞膜的控制下，对细胞有害的物质都不能进入细胞（　）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2. 相邻两个细胞的细胞膜接触可实现细胞间的信息传递（　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必备知识•精读教材｜概念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12119" y="17373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2119" y="19202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归纳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847" y="1325880"/>
            <a:ext cx="2286000" cy="713232"/>
          </a:xfrm>
          <a:prstGeom prst="roundRect">
            <a:avLst>
              <a:gd name="adj" fmla="val 18000"/>
            </a:avLst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1325880"/>
            <a:ext cx="2286000" cy="71323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2000"/>
            </a:pPr>
            <a:r>
              <a:rPr sz="2000" b="1" u="none">
                <a:solidFill>
                  <a:srgbClr val="FFFFFF"/>
                </a:solidFill>
                <a:latin typeface="Times New Roman"/>
                <a:ea typeface="Noto Sans CJK SC"/>
              </a:rPr>
              <a:t>细胞膜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497" y="2039112"/>
            <a:ext cx="12700" cy="25603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2295144"/>
            <a:ext cx="9265615" cy="1270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3381" y="2295144"/>
            <a:ext cx="12700" cy="310896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606040"/>
            <a:ext cx="2476423" cy="3291840"/>
          </a:xfrm>
          <a:prstGeom prst="roundRect">
            <a:avLst>
              <a:gd name="adj" fmla="val 5000"/>
            </a:avLst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734056"/>
            <a:ext cx="2147239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0B6B5F"/>
                </a:solidFill>
                <a:latin typeface="Times New Roman"/>
                <a:ea typeface="Noto Sans CJK SC"/>
              </a:rPr>
              <a:t>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72968"/>
            <a:ext cx="2110663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磷脂双分子层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蛋白质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糖蛋白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4125" y="2295144"/>
            <a:ext cx="12700" cy="310896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82263" y="2606040"/>
            <a:ext cx="2476423" cy="3291840"/>
          </a:xfrm>
          <a:prstGeom prst="roundRect">
            <a:avLst>
              <a:gd name="adj" fmla="val 5000"/>
            </a:avLst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6855" y="2734056"/>
            <a:ext cx="2147239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0B6B5F"/>
                </a:solidFill>
                <a:latin typeface="Times New Roman"/>
                <a:ea typeface="Noto Sans CJK SC"/>
              </a:rPr>
              <a:t>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5143" y="3172968"/>
            <a:ext cx="2110663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分隔细胞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控制物质进出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信息交流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4869" y="2295144"/>
            <a:ext cx="12700" cy="310896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2606040"/>
            <a:ext cx="2476423" cy="3291840"/>
          </a:xfrm>
          <a:prstGeom prst="roundRect">
            <a:avLst>
              <a:gd name="adj" fmla="val 5000"/>
            </a:avLst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7599" y="2734056"/>
            <a:ext cx="2147239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0B6B5F"/>
                </a:solidFill>
                <a:latin typeface="Times New Roman"/>
                <a:ea typeface="Noto Sans CJK SC"/>
              </a:rPr>
              <a:t>特点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3172968"/>
            <a:ext cx="2110663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流动性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选择透过性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15613" y="2295144"/>
            <a:ext cx="12700" cy="310896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83751" y="2606040"/>
            <a:ext cx="2476423" cy="3291840"/>
          </a:xfrm>
          <a:prstGeom prst="roundRect">
            <a:avLst>
              <a:gd name="adj" fmla="val 5000"/>
            </a:avLst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8343" y="2734056"/>
            <a:ext cx="2147239" cy="3657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500"/>
            </a:pPr>
            <a:r>
              <a:rPr sz="1500" b="1" u="none">
                <a:solidFill>
                  <a:srgbClr val="0B6B5F"/>
                </a:solidFill>
                <a:latin typeface="Times New Roman"/>
                <a:ea typeface="Noto Sans CJK SC"/>
              </a:rPr>
              <a:t>成分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6631" y="3172968"/>
            <a:ext cx="2110663" cy="2560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256032" indent="-256032">
              <a:lnSpc>
                <a:spcPct val="135000"/>
              </a:lnSpc>
              <a:defRPr sz="1400"/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脂质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蛋白质</a:t>
            </a:r>
          </a:p>
          <a:p>
            <a:pPr algn="l" marL="256032" indent="-256032">
              <a:lnSpc>
                <a:spcPct val="135000"/>
              </a:lnSpc>
              <a:spcBef>
                <a:spcPts val="1000"/>
              </a:spcBef>
            </a:pPr>
            <a:r>
              <a:rPr sz="1400" b="0" u="none">
                <a:solidFill>
                  <a:srgbClr val="12A48C"/>
                </a:solidFill>
                <a:latin typeface="Times New Roman"/>
                <a:ea typeface="Noto Sans CJK SC"/>
              </a:rPr>
              <a:t>· </a:t>
            </a:r>
            <a:r>
              <a:rPr sz="1400" b="0" u="none">
                <a:solidFill>
                  <a:srgbClr val="102622"/>
                </a:solidFill>
                <a:latin typeface="Times New Roman"/>
                <a:ea typeface="Noto Sans CJK SC"/>
              </a:rPr>
              <a:t>糖类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科学思维•教考衔接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400"/>
            </a:pP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1. （2026·重庆模拟）缝隙连接广泛存在于动物细胞间，相邻两细胞膜之间形成连接小体，中央有直径约 1.0~1.4 nm 的小管。下列说法正确的是（　　）</a:t>
            </a:r>
          </a:p>
          <a:p>
            <a:pPr algn="l" marL="475488" indent="-475488">
              <a:lnSpc>
                <a:spcPct val="135000"/>
              </a:lnSpc>
              <a:spcBef>
                <a:spcPts val="800"/>
              </a:spcBef>
            </a:pPr>
            <a:r>
              <a:rPr sz="24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400" b="0" u="none">
                <a:solidFill>
                  <a:srgbClr val="102622"/>
                </a:solidFill>
                <a:latin typeface="Times New Roman"/>
                <a:ea typeface="Noto Sans CJK SC"/>
              </a:rPr>
              <a:t>A. 缝隙连接与胞间连丝是同一种信息交流方式 B. 通过小管传递的信息分子需与膜受体结合 C. 相邻细胞可通过缝隙连接交换小分子物质 D. 细胞间只能通过直接接触进行信息交流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科学思维•教考衔接｜对照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497" y="1417320"/>
            <a:ext cx="12700" cy="4709160"/>
          </a:xfrm>
          <a:prstGeom prst="rect">
            <a:avLst/>
          </a:prstGeom>
          <a:solidFill>
            <a:srgbClr val="DC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5227167" cy="40233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1" u="none">
                <a:solidFill>
                  <a:srgbClr val="0B6B5F"/>
                </a:solidFill>
                <a:latin typeface="Times New Roman"/>
                <a:ea typeface="Noto Sans CJK SC"/>
              </a:rPr>
              <a:t>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227167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900"/>
            </a:pPr>
            <a:r>
              <a:rPr sz="1900" b="0" u="none">
                <a:solidFill>
                  <a:srgbClr val="102622"/>
                </a:solidFill>
                <a:latin typeface="Times New Roman"/>
                <a:ea typeface="Noto Sans CJK SC"/>
              </a:rPr>
              <a:t>The cell membrane controls what enters and leaves the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325880"/>
            <a:ext cx="5227167" cy="40233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1" u="none">
                <a:solidFill>
                  <a:srgbClr val="12A48C"/>
                </a:solidFill>
                <a:latin typeface="Times New Roman"/>
                <a:ea typeface="Noto Sans CJK SC"/>
              </a:rPr>
              <a:t>中文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1783080"/>
            <a:ext cx="5227167" cy="43891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45000"/>
              </a:lnSpc>
              <a:defRPr sz="1900"/>
            </a:pPr>
            <a:r>
              <a:rPr sz="1900" b="0" u="none">
                <a:solidFill>
                  <a:srgbClr val="102622"/>
                </a:solidFill>
                <a:latin typeface="Times New Roman"/>
                <a:ea typeface="Noto Sans CJK SC"/>
              </a:rPr>
              <a:t>细胞膜控制物质进出细胞。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关键能力•练透考法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2. （2025·山东卷）关于细胞膜结构与功能的叙述，错误的是（　　）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A. 磷脂双分子层构成膜的基本支架 B. 膜蛋白的分布是不对称的 C. 细胞膜的流动性与其功能无关 D. 糖被与细胞识别有关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归纳拓展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五种常考膜蛋白：受体蛋白、载体蛋白、通道蛋白、泵蛋白、识别蛋白。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教材回归：台盼蓝染色排除法——活细胞不着色，死细胞被染成蓝色。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3657600" cy="15544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9200"/>
            </a:pPr>
            <a:r>
              <a:rPr sz="9200" b="1" u="none">
                <a:solidFill>
                  <a:srgbClr val="12A48C"/>
                </a:solidFill>
                <a:latin typeface="Times New Roman"/>
                <a:ea typeface="Noto Sans CJK S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34640"/>
            <a:ext cx="10180015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4000"/>
            </a:pPr>
            <a:r>
              <a:rPr sz="4000" b="1" u="none">
                <a:solidFill>
                  <a:srgbClr val="FFFFFF"/>
                </a:solidFill>
                <a:latin typeface="Times New Roman"/>
                <a:ea typeface="Noto Sans CJK SC"/>
              </a:rPr>
              <a:t>参考答案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34295" y="1234440"/>
            <a:ext cx="1554480" cy="155448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45775" y="1234440"/>
            <a:ext cx="1143000" cy="114300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57255" y="1234440"/>
            <a:ext cx="731520" cy="731520"/>
          </a:xfrm>
          <a:prstGeom prst="ellipse">
            <a:avLst/>
          </a:prstGeom>
          <a:noFill/>
          <a:ln w="15875">
            <a:solidFill>
              <a:srgbClr val="D5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13232"/>
            <a:ext cx="12191695" cy="45720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"/>
            <a:ext cx="8899855" cy="493776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2800"/>
            </a:pPr>
            <a:r>
              <a:rPr sz="2800" b="1" u="none">
                <a:solidFill>
                  <a:srgbClr val="FFFFFF"/>
                </a:solidFill>
                <a:latin typeface="Times New Roman"/>
                <a:ea typeface="Noto Sans CJK SC"/>
              </a:rPr>
              <a:t>参考答案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12119" y="173736"/>
            <a:ext cx="676656" cy="365760"/>
          </a:xfrm>
          <a:prstGeom prst="roundRect">
            <a:avLst>
              <a:gd name="adj" fmla="val 30000"/>
            </a:avLst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2119" y="192024"/>
            <a:ext cx="676656" cy="329184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ctr">
              <a:lnSpc>
                <a:spcPct val="130000"/>
              </a:lnSpc>
              <a:defRPr sz="1100"/>
            </a:pPr>
            <a:r>
              <a:rPr sz="1100" b="1" u="none">
                <a:solidFill>
                  <a:srgbClr val="FFFFFF"/>
                </a:solidFill>
                <a:latin typeface="Times New Roman"/>
                <a:ea typeface="Noto Sans CJK SC"/>
              </a:rPr>
              <a:t>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10637215" cy="487375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75488" indent="-475488">
              <a:lnSpc>
                <a:spcPct val="135000"/>
              </a:lnSpc>
              <a:defRPr sz="2600"/>
            </a:pP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1. C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2. C</a:t>
            </a:r>
          </a:p>
          <a:p>
            <a:pPr algn="l" marL="475488" indent="-475488">
              <a:lnSpc>
                <a:spcPct val="135000"/>
              </a:lnSpc>
              <a:spcBef>
                <a:spcPts val="1000"/>
              </a:spcBef>
            </a:pPr>
            <a:r>
              <a:rPr sz="2600" b="0" u="none">
                <a:solidFill>
                  <a:srgbClr val="12A48C"/>
                </a:solidFill>
                <a:latin typeface="Times New Roman"/>
                <a:ea typeface="Noto Sans CJK SC"/>
              </a:rPr>
              <a:t>▪ </a:t>
            </a:r>
            <a:r>
              <a:rPr sz="2600" b="1" u="none">
                <a:solidFill>
                  <a:srgbClr val="C2410C"/>
                </a:solidFill>
                <a:latin typeface="Times New Roman"/>
                <a:ea typeface="Noto Sans CJK SC"/>
              </a:rPr>
              <a:t>【解析】</a:t>
            </a:r>
            <a:r>
              <a:rPr sz="2600" b="0" u="none">
                <a:solidFill>
                  <a:srgbClr val="102622"/>
                </a:solidFill>
                <a:latin typeface="Times New Roman"/>
                <a:ea typeface="Noto Sans CJK SC"/>
              </a:rPr>
              <a:t>第 2 题：细胞膜的流动性是物质运输、细胞融合等生命活动的基础，与功能密切相关，故 C 错误。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45936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胶州四中 · 第4讲 细胞膜与细胞核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8695" y="6345936"/>
            <a:ext cx="685800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000"/>
            </a:pPr>
            <a:r>
              <a:rPr sz="1000" b="0" u="none">
                <a:solidFill>
                  <a:srgbClr val="8A94A6"/>
                </a:solidFill>
                <a:latin typeface="Times New Roman"/>
                <a:ea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2A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10637215" cy="822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3800"/>
            </a:pPr>
            <a:r>
              <a:rPr sz="3800" b="1" u="none">
                <a:solidFill>
                  <a:srgbClr val="0B6B5F"/>
                </a:solidFill>
                <a:latin typeface="Times New Roman"/>
                <a:ea typeface="Noto Sans CJK SC"/>
              </a:rPr>
              <a:t>本节课小结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25196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 marL="411480" indent="-411480">
              <a:lnSpc>
                <a:spcPct val="135000"/>
              </a:lnSpc>
              <a:defRPr sz="2300"/>
            </a:pPr>
            <a:r>
              <a:rPr sz="2300" b="0" u="none">
                <a:solidFill>
                  <a:srgbClr val="12A48C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02622"/>
                </a:solidFill>
                <a:latin typeface="Times New Roman"/>
                <a:ea typeface="Noto Sans CJK SC"/>
              </a:rPr>
              <a:t>五种常考膜蛋白：受体蛋白、载体蛋白、通道蛋白、泵蛋白、识别蛋白。</a:t>
            </a:r>
          </a:p>
          <a:p>
            <a:pPr algn="l" marL="411480" indent="-411480">
              <a:lnSpc>
                <a:spcPct val="135000"/>
              </a:lnSpc>
              <a:spcBef>
                <a:spcPts val="1000"/>
              </a:spcBef>
            </a:pPr>
            <a:r>
              <a:rPr sz="2300" b="0" u="none">
                <a:solidFill>
                  <a:srgbClr val="12A48C"/>
                </a:solidFill>
                <a:latin typeface="Times New Roman"/>
                <a:ea typeface="Noto Sans CJK SC"/>
              </a:rPr>
              <a:t>✔ </a:t>
            </a:r>
            <a:r>
              <a:rPr sz="2300" b="0" u="none">
                <a:solidFill>
                  <a:srgbClr val="102622"/>
                </a:solidFill>
                <a:latin typeface="Times New Roman"/>
                <a:ea typeface="Noto Sans CJK SC"/>
              </a:rPr>
              <a:t>教材回归：台盼蓝染色排除法——活细胞不着色，死细胞被染成蓝色。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54335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胶州四中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5989320"/>
            <a:ext cx="685800" cy="34747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r">
              <a:lnSpc>
                <a:spcPct val="130000"/>
              </a:lnSpc>
              <a:defRPr sz="1400"/>
            </a:pPr>
            <a:r>
              <a:rPr sz="1400" b="0" u="none">
                <a:solidFill>
                  <a:srgbClr val="64748B"/>
                </a:solidFill>
                <a:latin typeface="Times New Roman"/>
                <a:ea typeface="Noto Sans CJK S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