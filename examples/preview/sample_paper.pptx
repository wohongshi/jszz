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71183" y="0"/>
            <a:ext cx="5120511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10224" y="0"/>
            <a:ext cx="82296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5730096" cy="20116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20000"/>
              </a:lnSpc>
              <a:defRPr sz="2100"/>
            </a:pPr>
            <a:r>
              <a:rPr sz="2100" b="1" u="none">
                <a:solidFill>
                  <a:srgbClr val="1F2937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5852013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000"/>
            </a:pPr>
            <a:r>
              <a:rPr sz="2000" b="0" u="none">
                <a:solidFill>
                  <a:srgbClr val="44506B"/>
                </a:solidFill>
                <a:latin typeface="Times New Roman"/>
                <a:ea typeface="微软雅黑"/>
              </a:rPr>
              <a:t>试卷讲评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617720"/>
            <a:ext cx="1371600" cy="381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6095847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0" u="none">
                <a:solidFill>
                  <a:srgbClr val="7A8698"/>
                </a:solidFill>
                <a:latin typeface="Times New Roman"/>
                <a:ea typeface="微软雅黑"/>
              </a:rPr>
              <a:t>90分钟　100分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62895" y="5806440"/>
            <a:ext cx="1188720" cy="42062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2895" y="5824729"/>
            <a:ext cx="1188720" cy="38404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1F2937"/>
                </a:solidFill>
                <a:latin typeface="Times New Roman"/>
                <a:ea typeface="微软雅黑"/>
              </a:rPr>
              <a:t>试卷讲评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1F2937"/>
                </a:solidFill>
                <a:latin typeface="Times New Roman"/>
                <a:ea typeface="微软雅黑"/>
              </a:rPr>
              <a:t>试卷结构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39551" y="457200"/>
            <a:ext cx="649224" cy="365760"/>
          </a:xfrm>
          <a:prstGeom prst="roundRect">
            <a:avLst>
              <a:gd name="adj" fmla="val 3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39551" y="475488"/>
            <a:ext cx="649224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475569"/>
                </a:solidFill>
                <a:latin typeface="Times New Roman"/>
                <a:ea typeface="微软雅黑"/>
              </a:rPr>
              <a:t>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475569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11827"/>
                </a:solidFill>
                <a:latin typeface="Times New Roman"/>
                <a:ea typeface="微软雅黑"/>
              </a:rPr>
              <a:t>共 7 题，满分 100分，考试时间 90分钟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475569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11827"/>
                </a:solidFill>
                <a:latin typeface="Times New Roman"/>
                <a:ea typeface="微软雅黑"/>
              </a:rPr>
              <a:t>先看错题分布，再按题型归因：概念不清 / 审题失误 / 计算错误 / 表达不规范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1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一、单项选择题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11827"/>
                </a:solidFill>
                <a:latin typeface="Times New Roman"/>
                <a:ea typeface="微软雅黑"/>
              </a:rPr>
              <a:t>关于匀变速直线运动，下列说法正确的是（　　） A. 速度随时间均匀变化　B. 加速度随时间均匀变化　C. 位移随时间均匀变化　D. 加速度方向与速度方向一定相同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1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一、单项选择题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11535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5000"/>
              </a:lnSpc>
              <a:defRPr sz="2200"/>
            </a:pPr>
            <a:r>
              <a:rPr sz="2200" b="1" u="none">
                <a:solidFill>
                  <a:srgbClr val="15803D"/>
                </a:solidFill>
                <a:latin typeface="Times New Roman"/>
                <a:ea typeface="微软雅黑"/>
              </a:rPr>
              <a:t>答案：</a:t>
            </a:r>
            <a:r>
              <a:rPr sz="2200" b="0" u="none">
                <a:solidFill>
                  <a:srgbClr val="15803D"/>
                </a:solidFill>
                <a:latin typeface="Times New Roman"/>
                <a:ea typeface="微软雅黑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2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一、单项选择题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11827"/>
                </a:solidFill>
                <a:latin typeface="Times New Roman"/>
                <a:ea typeface="微软雅黑"/>
              </a:rPr>
              <a:t>物体做初速度为零的匀加速直线运动，第1 s内、第2 s内、第3 s内的位移之比为（　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8287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475569"/>
                </a:solidFill>
                <a:latin typeface="Times New Roman"/>
                <a:ea typeface="微软雅黑"/>
              </a:rPr>
              <a:t>A．</a:t>
            </a:r>
            <a:r>
              <a:rPr sz="1800" b="0" u="none">
                <a:solidFill>
                  <a:srgbClr val="111827"/>
                </a:solidFill>
                <a:latin typeface="Times New Roman"/>
                <a:ea typeface="微软雅黑"/>
              </a:rPr>
              <a:t>1∶2∶3　B. 1∶3∶5　C. 1∶4∶9　D. 1∶1∶1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2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一、单项选择题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11535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5000"/>
              </a:lnSpc>
              <a:defRPr sz="2200"/>
            </a:pPr>
            <a:r>
              <a:rPr sz="2200" b="1" u="none">
                <a:solidFill>
                  <a:srgbClr val="15803D"/>
                </a:solidFill>
                <a:latin typeface="Times New Roman"/>
                <a:ea typeface="微软雅黑"/>
              </a:rPr>
              <a:t>答案：</a:t>
            </a:r>
            <a:r>
              <a:rPr sz="2200" b="0" u="none">
                <a:solidFill>
                  <a:srgbClr val="15803D"/>
                </a:solidFill>
                <a:latin typeface="Times New Roman"/>
                <a:ea typeface="微软雅黑"/>
              </a:rPr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3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一、单项选择题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11827"/>
                </a:solidFill>
                <a:latin typeface="Times New Roman"/>
                <a:ea typeface="微软雅黑"/>
              </a:rPr>
              <a:t>汽车以20 m/s的速度行驶，刹车后做匀减速直线运动，加速度大小为5 m/s²，则刹车后6 s内的位移为（　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8287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475569"/>
                </a:solidFill>
                <a:latin typeface="Times New Roman"/>
                <a:ea typeface="微软雅黑"/>
              </a:rPr>
              <a:t>A．</a:t>
            </a:r>
            <a:r>
              <a:rPr sz="1800" b="0" u="none">
                <a:solidFill>
                  <a:srgbClr val="111827"/>
                </a:solidFill>
                <a:latin typeface="Times New Roman"/>
                <a:ea typeface="微软雅黑"/>
              </a:rPr>
              <a:t>30 m　B. 40 m　C. 60 m　D. 120 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3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一、单项选择题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11535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5000"/>
              </a:lnSpc>
              <a:defRPr sz="2200"/>
            </a:pPr>
            <a:r>
              <a:rPr sz="2200" b="1" u="none">
                <a:solidFill>
                  <a:srgbClr val="15803D"/>
                </a:solidFill>
                <a:latin typeface="Times New Roman"/>
                <a:ea typeface="微软雅黑"/>
              </a:rPr>
              <a:t>答案：</a:t>
            </a:r>
            <a:r>
              <a:rPr sz="2200" b="0" u="none">
                <a:solidFill>
                  <a:srgbClr val="15803D"/>
                </a:solidFill>
                <a:latin typeface="Times New Roman"/>
                <a:ea typeface="微软雅黑"/>
              </a:rPr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4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二、多项选择题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11827"/>
                </a:solidFill>
                <a:latin typeface="Times New Roman"/>
                <a:ea typeface="微软雅黑"/>
              </a:rPr>
              <a:t>甲、乙两物体从同一地点沿同一方向做直线运动，其v-t图像如图，下列说法正确的是（　　） A. 甲做匀加速直线运动 B. 乙做匀减速直线运动 C. t=2 s时两物体相遇 D. 0~4 s内乙的位移比甲大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4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二、多项选择题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11535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5000"/>
              </a:lnSpc>
              <a:defRPr sz="2200"/>
            </a:pPr>
            <a:r>
              <a:rPr sz="2200" b="1" u="none">
                <a:solidFill>
                  <a:srgbClr val="15803D"/>
                </a:solidFill>
                <a:latin typeface="Times New Roman"/>
                <a:ea typeface="微软雅黑"/>
              </a:rPr>
              <a:t>答案：</a:t>
            </a:r>
            <a:r>
              <a:rPr sz="2200" b="0" u="none">
                <a:solidFill>
                  <a:srgbClr val="15803D"/>
                </a:solidFill>
                <a:latin typeface="Times New Roman"/>
                <a:ea typeface="微软雅黑"/>
              </a:rPr>
              <a:t>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48695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475569"/>
                </a:solidFill>
                <a:latin typeface="Times New Roman"/>
                <a:ea typeface="微软雅黑"/>
              </a:rPr>
              <a:t>解析　</a:t>
            </a:r>
            <a:r>
              <a:rPr sz="2000" b="0" u="none">
                <a:solidFill>
                  <a:srgbClr val="111827"/>
                </a:solidFill>
                <a:latin typeface="Times New Roman"/>
                <a:ea typeface="微软雅黑"/>
              </a:rPr>
              <a:t>由 v-t 图像斜率可知甲做匀加速、乙做匀减速；t=2 s 时两图线相交表示速度相同，不是相遇；0~4 s 内乙的图线面积更大，位移更大。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5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二、多项选择题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11827"/>
                </a:solidFill>
                <a:latin typeface="Times New Roman"/>
                <a:ea typeface="微软雅黑"/>
              </a:rPr>
              <a:t>关于自由落体运动，下列说法正确的是（　　） A. 物体竖直向下的运动就是自由落体运动 B. 自由落体运动是初速度为零、加速度为g的匀加速直线运动 C. 在同一地点，一切物体自由下落的加速度都相同 D. 自由落体运动的位移与时间成正比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5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7719" y="219456"/>
            <a:ext cx="154533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7719" y="237744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二、多项选择题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11535" cy="56692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5000"/>
              </a:lnSpc>
              <a:defRPr sz="2200"/>
            </a:pPr>
            <a:r>
              <a:rPr sz="2200" b="1" u="none">
                <a:solidFill>
                  <a:srgbClr val="15803D"/>
                </a:solidFill>
                <a:latin typeface="Times New Roman"/>
                <a:ea typeface="微软雅黑"/>
              </a:rPr>
              <a:t>答案：</a:t>
            </a:r>
            <a:r>
              <a:rPr sz="2200" b="0" u="none">
                <a:solidFill>
                  <a:srgbClr val="15803D"/>
                </a:solidFill>
                <a:latin typeface="Times New Roman"/>
                <a:ea typeface="微软雅黑"/>
              </a:rPr>
              <a:t>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48695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475569"/>
                </a:solidFill>
                <a:latin typeface="Times New Roman"/>
                <a:ea typeface="微软雅黑"/>
              </a:rPr>
              <a:t>解析　</a:t>
            </a:r>
            <a:r>
              <a:rPr sz="2000" b="0" u="none">
                <a:solidFill>
                  <a:srgbClr val="111827"/>
                </a:solidFill>
                <a:latin typeface="Times New Roman"/>
                <a:ea typeface="微软雅黑"/>
              </a:rPr>
              <a:t>自由落体是初速度为零、只受重力的匀加速直线运动；同一地点 g 相同；位移与时间的平方成正比，不是与时间成正比。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6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19456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37744"/>
            <a:ext cx="1371600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三、非选择题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11827"/>
                </a:solidFill>
                <a:latin typeface="Times New Roman"/>
                <a:ea typeface="微软雅黑"/>
              </a:rPr>
              <a:t>（12分）一物体从静止开始做匀加速直线运动，加速度a=2 m/s²。求： （1）3 s末的速度； （2）前4 s内的位移； （3）第4 s内的位移。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6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19456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37744"/>
            <a:ext cx="1371600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三、非选择题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11535" cy="960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5000"/>
              </a:lnSpc>
              <a:defRPr sz="1900"/>
            </a:pPr>
            <a:r>
              <a:rPr sz="1900" b="1" u="none">
                <a:solidFill>
                  <a:srgbClr val="15803D"/>
                </a:solidFill>
                <a:latin typeface="Times New Roman"/>
                <a:ea typeface="微软雅黑"/>
              </a:rPr>
              <a:t>答案：</a:t>
            </a:r>
            <a:r>
              <a:rPr sz="1900" b="0" u="none">
                <a:solidFill>
                  <a:srgbClr val="15803D"/>
                </a:solidFill>
                <a:latin typeface="Times New Roman"/>
                <a:ea typeface="微软雅黑"/>
              </a:rPr>
              <a:t>（1）v=at=6 m/s；（2）x=½at²=16 m；（3）第4 s内位移=x4−x3=16−9=7 m。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7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19456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37744"/>
            <a:ext cx="1371600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三、非选择题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11827"/>
                </a:solidFill>
                <a:latin typeface="Times New Roman"/>
                <a:ea typeface="微软雅黑"/>
              </a:rPr>
              <a:t>（14分）汽车以v0=20 m/s的速度匀速行驶，司机发现前方障碍后经0.5 s反应时间开始刹车，刹车加速度大小为5 m/s²。求： （1）从发现障碍到停止所用的总时间； （2）从发现障碍到停止所通过的总距离。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第 7 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19456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71455" y="237744"/>
            <a:ext cx="1371600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三、非选择题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11535" cy="960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5000"/>
              </a:lnSpc>
              <a:defRPr sz="1900"/>
            </a:pPr>
            <a:r>
              <a:rPr sz="1900" b="1" u="none">
                <a:solidFill>
                  <a:srgbClr val="15803D"/>
                </a:solidFill>
                <a:latin typeface="Times New Roman"/>
                <a:ea typeface="微软雅黑"/>
              </a:rPr>
              <a:t>答案：</a:t>
            </a:r>
            <a:r>
              <a:rPr sz="1900" b="0" u="none">
                <a:solidFill>
                  <a:srgbClr val="15803D"/>
                </a:solidFill>
                <a:latin typeface="Times New Roman"/>
                <a:ea typeface="微软雅黑"/>
              </a:rPr>
              <a:t>（1）反应时间0.5 s，刹车时间t=v0/a=4 s，总时间4.5 s；（2）反应距离10 m，刹车距离40 m，总距离50 m。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胶州四中高三级部物理学科单元达标评测题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1F2937"/>
                </a:solidFill>
                <a:latin typeface="Times New Roman"/>
                <a:ea typeface="微软雅黑"/>
              </a:rPr>
              <a:t>易错点回顾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4335" cy="4251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475569"/>
                </a:solidFill>
                <a:latin typeface="Times New Roman"/>
                <a:ea typeface="微软雅黑"/>
              </a:rPr>
              <a:t>✔ </a:t>
            </a:r>
            <a:r>
              <a:rPr sz="2300" b="0" u="none">
                <a:solidFill>
                  <a:srgbClr val="111827"/>
                </a:solidFill>
                <a:latin typeface="Times New Roman"/>
                <a:ea typeface="微软雅黑"/>
              </a:rPr>
              <a:t>审题：圈出限定词（正确的是 / 不正确的是 / 最多 / 至少）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475569"/>
                </a:solidFill>
                <a:latin typeface="Times New Roman"/>
                <a:ea typeface="微软雅黑"/>
              </a:rPr>
              <a:t>✔ </a:t>
            </a:r>
            <a:r>
              <a:rPr sz="2300" b="0" u="none">
                <a:solidFill>
                  <a:srgbClr val="111827"/>
                </a:solidFill>
                <a:latin typeface="Times New Roman"/>
                <a:ea typeface="微软雅黑"/>
              </a:rPr>
              <a:t>规范：写出依据公式，再代入数据，最后带单位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475569"/>
                </a:solidFill>
                <a:latin typeface="Times New Roman"/>
                <a:ea typeface="微软雅黑"/>
              </a:rPr>
              <a:t>✔ </a:t>
            </a:r>
            <a:r>
              <a:rPr sz="2300" b="0" u="none">
                <a:solidFill>
                  <a:srgbClr val="111827"/>
                </a:solidFill>
                <a:latin typeface="Times New Roman"/>
                <a:ea typeface="微软雅黑"/>
              </a:rPr>
              <a:t>复盘：把错题按知识点归档，三天后重做一遍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微软雅黑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5989320"/>
            <a:ext cx="685800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