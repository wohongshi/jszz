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91440" cy="685800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357055" y="4937760"/>
            <a:ext cx="2834640" cy="19202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234440"/>
            <a:ext cx="1261872" cy="457200"/>
          </a:xfrm>
          <a:prstGeom prst="round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252728"/>
            <a:ext cx="1261872" cy="42062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微软雅黑"/>
              </a:rPr>
              <a:t>试卷讲评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9814255" cy="20116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F2937"/>
                </a:solidFill>
                <a:latin typeface="Times New Roman"/>
              </a:rPr>
              <a:t>胶州四中高三级部物理学科单元达标评测题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9631375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44506B"/>
                </a:solidFill>
                <a:latin typeface="Times New Roman"/>
                <a:ea typeface="微软雅黑"/>
              </a:rPr>
              <a:t>试卷讲评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1463040" cy="3810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74920"/>
            <a:ext cx="963137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8698"/>
                </a:solidFill>
                <a:latin typeface="Times New Roman"/>
                <a:ea typeface="微软雅黑"/>
              </a:rPr>
              <a:t>90分钟 | 满分：100分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937"/>
                </a:solidFill>
                <a:latin typeface="Times New Roman"/>
                <a:ea typeface="微软雅黑"/>
              </a:rPr>
              <a:t>试卷结构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530352"/>
            <a:ext cx="676656" cy="384048"/>
          </a:xfrm>
          <a:prstGeom prst="round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548640"/>
            <a:ext cx="6766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B5563"/>
                </a:solidFill>
                <a:latin typeface="Times New Roman"/>
                <a:ea typeface="微软雅黑"/>
              </a:rPr>
              <a:t>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728655" cy="4736592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 marL="502920" indent="-502920">
              <a:lnSpc>
                <a:spcPct val="135000"/>
              </a:lnSpc>
            </a:pPr>
            <a:r>
              <a:rPr sz="2600" b="0">
                <a:solidFill>
                  <a:srgbClr val="4B5563"/>
                </a:solidFill>
                <a:latin typeface="Times New Roman"/>
                <a:ea typeface="微软雅黑"/>
              </a:rPr>
              <a:t>▪ </a:t>
            </a:r>
            <a:r>
              <a:rPr sz="2600" b="0">
                <a:solidFill>
                  <a:srgbClr val="111827"/>
                </a:solidFill>
                <a:latin typeface="Times New Roman"/>
              </a:rPr>
              <a:t>共 7 题，满分 —，考试时间 90分钟 | 满分：100分</a:t>
            </a:r>
          </a:p>
          <a:p>
            <a:pPr marL="502920" indent="-502920">
              <a:lnSpc>
                <a:spcPct val="135000"/>
              </a:lnSpc>
              <a:spcBef>
                <a:spcPts val="1000"/>
              </a:spcBef>
            </a:pPr>
            <a:r>
              <a:rPr sz="2600" b="0">
                <a:solidFill>
                  <a:srgbClr val="4B5563"/>
                </a:solidFill>
                <a:latin typeface="Times New Roman"/>
                <a:ea typeface="微软雅黑"/>
              </a:rPr>
              <a:t>▪ </a:t>
            </a:r>
            <a:r>
              <a:rPr sz="2600" b="0">
                <a:solidFill>
                  <a:srgbClr val="111827"/>
                </a:solidFill>
                <a:latin typeface="Times New Roman"/>
              </a:rPr>
              <a:t>先看错题分布，再按题型归因：概念不清 / 审题失误 / 计算错误 / 表达不规范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试卷结构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937"/>
                </a:solidFill>
                <a:latin typeface="Times New Roman"/>
                <a:ea typeface="微软雅黑"/>
              </a:rPr>
              <a:t>第 1 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37599" y="530352"/>
            <a:ext cx="2505456" cy="384048"/>
          </a:xfrm>
          <a:prstGeom prst="round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7599" y="548640"/>
            <a:ext cx="25054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B5563"/>
                </a:solidFill>
                <a:latin typeface="Times New Roman"/>
                <a:ea typeface="微软雅黑"/>
              </a:rPr>
              <a:t>一、单项选择题：本题共8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11827"/>
                </a:solidFill>
                <a:latin typeface="Times New Roman"/>
              </a:rPr>
              <a:t>关于匀变速直线运动，下列说法正确的是（　　） A. 速度随时间均匀变化　B. 加速度随时间均匀变化　C. 位移随时间均匀变化　D. 加速度方向与速度方向一定相同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第 1 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937"/>
                </a:solidFill>
                <a:latin typeface="Times New Roman"/>
                <a:ea typeface="微软雅黑"/>
              </a:rPr>
              <a:t>第 2 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37599" y="530352"/>
            <a:ext cx="2505456" cy="384048"/>
          </a:xfrm>
          <a:prstGeom prst="round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7599" y="548640"/>
            <a:ext cx="25054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B5563"/>
                </a:solidFill>
                <a:latin typeface="Times New Roman"/>
                <a:ea typeface="微软雅黑"/>
              </a:rPr>
              <a:t>一、单项选择题：本题共8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11827"/>
                </a:solidFill>
                <a:latin typeface="Times New Roman"/>
              </a:rPr>
              <a:t>物体做初速度为零的匀加速直线运动，第1 s内、第2 s内、第3 s内的位移之比为（　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0362895" cy="34290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4B5563"/>
                </a:solidFill>
                <a:latin typeface="Times New Roman"/>
                <a:ea typeface="微软雅黑"/>
              </a:rPr>
              <a:t>A．</a:t>
            </a:r>
            <a:r>
              <a:rPr sz="2000" b="0">
                <a:solidFill>
                  <a:srgbClr val="111827"/>
                </a:solidFill>
                <a:latin typeface="Times New Roman"/>
                <a:ea typeface="微软雅黑"/>
              </a:rPr>
              <a:t>1∶2∶3　B. 1∶3∶5　C. 1∶4∶9　D. 1∶1∶1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第 2 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937"/>
                </a:solidFill>
                <a:latin typeface="Times New Roman"/>
                <a:ea typeface="微软雅黑"/>
              </a:rPr>
              <a:t>第 3 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37599" y="530352"/>
            <a:ext cx="2505456" cy="384048"/>
          </a:xfrm>
          <a:prstGeom prst="round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7599" y="548640"/>
            <a:ext cx="25054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B5563"/>
                </a:solidFill>
                <a:latin typeface="Times New Roman"/>
                <a:ea typeface="微软雅黑"/>
              </a:rPr>
              <a:t>一、单项选择题：本题共8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11827"/>
                </a:solidFill>
                <a:latin typeface="Times New Roman"/>
              </a:rPr>
              <a:t>汽车以20 m/s的速度行驶，刹车后做匀减速直线运动，加速度大小为5 m/s²，则刹车后6 s内的位移为（　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0362895" cy="34290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4B5563"/>
                </a:solidFill>
                <a:latin typeface="Times New Roman"/>
                <a:ea typeface="微软雅黑"/>
              </a:rPr>
              <a:t>A．</a:t>
            </a:r>
            <a:r>
              <a:rPr sz="2000" b="0">
                <a:solidFill>
                  <a:srgbClr val="111827"/>
                </a:solidFill>
                <a:latin typeface="Times New Roman"/>
                <a:ea typeface="微软雅黑"/>
              </a:rPr>
              <a:t>30 m　B. 40 m　C. 60 m　D. 120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第 3 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937"/>
                </a:solidFill>
                <a:latin typeface="Times New Roman"/>
                <a:ea typeface="微软雅黑"/>
              </a:rPr>
              <a:t>第 4 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37599" y="530352"/>
            <a:ext cx="2505456" cy="384048"/>
          </a:xfrm>
          <a:prstGeom prst="round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7599" y="548640"/>
            <a:ext cx="25054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B5563"/>
                </a:solidFill>
                <a:latin typeface="Times New Roman"/>
                <a:ea typeface="微软雅黑"/>
              </a:rPr>
              <a:t>二、多项选择题：本题共4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11827"/>
                </a:solidFill>
                <a:latin typeface="Times New Roman"/>
              </a:rPr>
              <a:t>甲、乙两物体从同一地点沿同一方向做直线运动，其v-t图像如图，下列说法正确的是（　　） A. 甲做匀加速直线运动 B. 乙做匀减速直线运动 C. t=2 s时两物体相遇 D. 0~4 s内乙的位移比甲大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第 4 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937"/>
                </a:solidFill>
                <a:latin typeface="Times New Roman"/>
                <a:ea typeface="微软雅黑"/>
              </a:rPr>
              <a:t>第 5 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37599" y="530352"/>
            <a:ext cx="2505456" cy="384048"/>
          </a:xfrm>
          <a:prstGeom prst="round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7599" y="548640"/>
            <a:ext cx="25054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B5563"/>
                </a:solidFill>
                <a:latin typeface="Times New Roman"/>
                <a:ea typeface="微软雅黑"/>
              </a:rPr>
              <a:t>二、多项选择题：本题共4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11827"/>
                </a:solidFill>
                <a:latin typeface="Times New Roman"/>
              </a:rPr>
              <a:t>关于自由落体运动，下列说法正确的是（　　） A. 物体竖直向下的运动就是自由落体运动 B. 自由落体运动是初速度为零、加速度为g的匀加速直线运动 C. 在同一地点，一切物体自由下落的加速度都相同 D. 自由落体运动的位移与时间成正比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第 5 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937"/>
                </a:solidFill>
                <a:latin typeface="Times New Roman"/>
                <a:ea typeface="微软雅黑"/>
              </a:rPr>
              <a:t>第 6 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37599" y="530352"/>
            <a:ext cx="2505456" cy="384048"/>
          </a:xfrm>
          <a:prstGeom prst="round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7599" y="548640"/>
            <a:ext cx="25054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B5563"/>
                </a:solidFill>
                <a:latin typeface="Times New Roman"/>
                <a:ea typeface="微软雅黑"/>
              </a:rPr>
              <a:t>三、非选择题：本题共4小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11827"/>
                </a:solidFill>
                <a:latin typeface="Times New Roman"/>
              </a:rPr>
              <a:t>（12分）一物体从静止开始做匀加速直线运动，加速度a=2 m/s²。求： （1）3 s末的速度； （2）前4 s内的位移； （3）第4 s内的位移。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第 6 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937"/>
                </a:solidFill>
                <a:latin typeface="Times New Roman"/>
                <a:ea typeface="微软雅黑"/>
              </a:rPr>
              <a:t>第 7 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37599" y="530352"/>
            <a:ext cx="2505456" cy="384048"/>
          </a:xfrm>
          <a:prstGeom prst="round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7599" y="548640"/>
            <a:ext cx="25054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B5563"/>
                </a:solidFill>
                <a:latin typeface="Times New Roman"/>
                <a:ea typeface="微软雅黑"/>
              </a:rPr>
              <a:t>三、非选择题：本题共4小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11827"/>
                </a:solidFill>
                <a:latin typeface="Times New Roman"/>
              </a:rPr>
              <a:t>（14分）汽车以v0=20 m/s的速度匀速行驶，司机发现前方障碍后经0.5 s反应时间开始刹车，刹车加速度大小为5 m/s²。求： （1）从发现障碍到停止所用的总时间； （2）从发现障碍到停止所通过的总距离。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第 7 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45775" cy="9144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Times New Roman"/>
                <a:ea typeface="微软雅黑"/>
              </a:rPr>
              <a:t>易错点回顾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4B5563"/>
                </a:solidFill>
                <a:latin typeface="Times New Roman"/>
                <a:ea typeface="微软雅黑"/>
              </a:rPr>
              <a:t>✔  </a:t>
            </a:r>
            <a:r>
              <a:rPr sz="2400" b="0">
                <a:solidFill>
                  <a:srgbClr val="111827"/>
                </a:solidFill>
                <a:latin typeface="Times New Roman"/>
              </a:rPr>
              <a:t>审题：圈出限定词（正确的是 / 不正确的是 / 最多 / 至少）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2400" b="0">
                <a:solidFill>
                  <a:srgbClr val="4B5563"/>
                </a:solidFill>
                <a:latin typeface="Times New Roman"/>
                <a:ea typeface="微软雅黑"/>
              </a:rPr>
              <a:t>✔  </a:t>
            </a:r>
            <a:r>
              <a:rPr sz="2400" b="0">
                <a:solidFill>
                  <a:srgbClr val="111827"/>
                </a:solidFill>
                <a:latin typeface="Times New Roman"/>
              </a:rPr>
              <a:t>规范：写出依据公式，再代入数据，最后带单位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2400" b="0">
                <a:solidFill>
                  <a:srgbClr val="4B5563"/>
                </a:solidFill>
                <a:latin typeface="Times New Roman"/>
                <a:ea typeface="微软雅黑"/>
              </a:rPr>
              <a:t>✔  </a:t>
            </a:r>
            <a:r>
              <a:rPr sz="2400" b="0">
                <a:solidFill>
                  <a:srgbClr val="111827"/>
                </a:solidFill>
                <a:latin typeface="Times New Roman"/>
              </a:rPr>
              <a:t>复盘：把错题按知识点归档，三天后重做一遍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4748B"/>
                </a:solidFill>
                <a:latin typeface="Times New Roman"/>
                <a:ea typeface="微软雅黑"/>
              </a:rPr>
              <a:t>胶州四中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