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91440" cy="68580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357055" y="4937760"/>
            <a:ext cx="2834640" cy="1920240"/>
          </a:xfrm>
          <a:prstGeom prst="rect">
            <a:avLst/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1560" y="1234440"/>
            <a:ext cx="859536" cy="457200"/>
          </a:xfrm>
          <a:prstGeom prst="round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252728"/>
            <a:ext cx="859536" cy="420624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FFFFFF"/>
                </a:solidFill>
                <a:latin typeface="Times New Roman"/>
                <a:ea typeface="微软雅黑"/>
              </a:rPr>
              <a:t>学案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74519"/>
            <a:ext cx="9814255" cy="20116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3400" b="1">
                <a:solidFill>
                  <a:srgbClr val="0B3D91"/>
                </a:solidFill>
                <a:latin typeface="Times New Roman"/>
              </a:rPr>
              <a:t>第二章 匀变速直线运动的规律（第1课时）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9631375" cy="82296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44506B"/>
                </a:solidFill>
                <a:latin typeface="Times New Roman"/>
                <a:ea typeface="微软雅黑"/>
              </a:rPr>
              <a:t>物理 | 年级：高一 | 课时：1 | 编写：物理备课组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1463040" cy="38100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074920"/>
            <a:ext cx="963137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7A8698"/>
                </a:solidFill>
                <a:latin typeface="Times New Roman"/>
                <a:ea typeface="微软雅黑"/>
              </a:rPr>
              <a:t>胶州四中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10728655" cy="68580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0B3D91"/>
                </a:solidFill>
                <a:latin typeface="Times New Roman"/>
                <a:ea typeface="微软雅黑"/>
              </a:rPr>
              <a:t>学习目标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66399" y="530352"/>
            <a:ext cx="676656" cy="384048"/>
          </a:xfrm>
          <a:prstGeom prst="roundRect">
            <a:avLst/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66399" y="548640"/>
            <a:ext cx="676656" cy="36576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2F6FED"/>
                </a:solidFill>
                <a:latin typeface="Times New Roman"/>
                <a:ea typeface="微软雅黑"/>
              </a:rPr>
              <a:t>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81328"/>
            <a:ext cx="10728655" cy="4736592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 marL="502920" indent="-502920">
              <a:lnSpc>
                <a:spcPct val="135000"/>
              </a:lnSpc>
            </a:pPr>
            <a:r>
              <a:rPr sz="2600" b="0">
                <a:solidFill>
                  <a:srgbClr val="2F6FED"/>
                </a:solidFill>
                <a:latin typeface="Times New Roman"/>
                <a:ea typeface="微软雅黑"/>
              </a:rPr>
              <a:t>▪ </a:t>
            </a:r>
            <a:r>
              <a:rPr sz="2600" b="0">
                <a:solidFill>
                  <a:srgbClr val="1B2430"/>
                </a:solidFill>
                <a:latin typeface="Times New Roman"/>
              </a:rPr>
              <a:t>理解匀变速直线运动的特点，知道加速度大小和方向不变是匀变速直线运动的本质特征。</a:t>
            </a:r>
          </a:p>
          <a:p>
            <a:pPr marL="502920" indent="-502920">
              <a:lnSpc>
                <a:spcPct val="135000"/>
              </a:lnSpc>
              <a:spcBef>
                <a:spcPts val="1000"/>
              </a:spcBef>
            </a:pPr>
            <a:r>
              <a:rPr sz="2600" b="0">
                <a:solidFill>
                  <a:srgbClr val="2F6FED"/>
                </a:solidFill>
                <a:latin typeface="Times New Roman"/>
                <a:ea typeface="微软雅黑"/>
              </a:rPr>
              <a:t>▪ </a:t>
            </a:r>
            <a:r>
              <a:rPr sz="2600" b="0">
                <a:solidFill>
                  <a:srgbClr val="1B2430"/>
                </a:solidFill>
                <a:latin typeface="Times New Roman"/>
              </a:rPr>
              <a:t>掌握速度与时间、位移与时间、速度与位移三个基本关系式，并能选用合适公式解题。</a:t>
            </a:r>
          </a:p>
          <a:p>
            <a:pPr marL="502920" indent="-502920">
              <a:lnSpc>
                <a:spcPct val="135000"/>
              </a:lnSpc>
              <a:spcBef>
                <a:spcPts val="1000"/>
              </a:spcBef>
            </a:pPr>
            <a:r>
              <a:rPr sz="2600" b="0">
                <a:solidFill>
                  <a:srgbClr val="2F6FED"/>
                </a:solidFill>
                <a:latin typeface="Times New Roman"/>
                <a:ea typeface="微软雅黑"/>
              </a:rPr>
              <a:t>▪ </a:t>
            </a:r>
            <a:r>
              <a:rPr sz="2600" b="0">
                <a:solidFill>
                  <a:srgbClr val="1B2430"/>
                </a:solidFill>
                <a:latin typeface="Times New Roman"/>
              </a:rPr>
              <a:t>能用 v-t 图像描述匀变速直线运动，体会“数形结合”的物理思想。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胶州四中 · 学习目标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10728655" cy="68580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0B3D91"/>
                </a:solidFill>
                <a:latin typeface="Times New Roman"/>
                <a:ea typeface="微软雅黑"/>
              </a:rPr>
              <a:t>重点难点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81328"/>
            <a:ext cx="10728655" cy="4736592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 marL="502920" indent="-502920">
              <a:lnSpc>
                <a:spcPct val="135000"/>
              </a:lnSpc>
            </a:pPr>
            <a:r>
              <a:rPr sz="2600" b="0">
                <a:solidFill>
                  <a:srgbClr val="2F6FED"/>
                </a:solidFill>
                <a:latin typeface="Times New Roman"/>
                <a:ea typeface="微软雅黑"/>
              </a:rPr>
              <a:t>▪ </a:t>
            </a:r>
            <a:r>
              <a:rPr sz="2600" b="0">
                <a:solidFill>
                  <a:srgbClr val="1B2430"/>
                </a:solidFill>
                <a:latin typeface="Times New Roman"/>
              </a:rPr>
              <a:t>重点：匀变速直线运动的速度公式与位移公式的理解和应用。</a:t>
            </a:r>
          </a:p>
          <a:p>
            <a:pPr marL="502920" indent="-502920">
              <a:lnSpc>
                <a:spcPct val="135000"/>
              </a:lnSpc>
              <a:spcBef>
                <a:spcPts val="1000"/>
              </a:spcBef>
            </a:pPr>
            <a:r>
              <a:rPr sz="2600" b="0">
                <a:solidFill>
                  <a:srgbClr val="2F6FED"/>
                </a:solidFill>
                <a:latin typeface="Times New Roman"/>
                <a:ea typeface="微软雅黑"/>
              </a:rPr>
              <a:t>▪ </a:t>
            </a:r>
            <a:r>
              <a:rPr sz="2600" b="0">
                <a:solidFill>
                  <a:srgbClr val="1B2430"/>
                </a:solidFill>
                <a:latin typeface="Times New Roman"/>
              </a:rPr>
              <a:t>难点：公式的矢量性（正方向的选取）以及多过程问题的分段处理。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胶州四中 · 重点难点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600" b="1">
                <a:solidFill>
                  <a:srgbClr val="2F6FED"/>
                </a:solidFill>
                <a:latin typeface="Times New Roman"/>
                <a:ea typeface="微软雅黑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26080"/>
            <a:ext cx="10362895" cy="10972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FFFFF"/>
                </a:solidFill>
                <a:latin typeface="Times New Roman"/>
                <a:ea typeface="微软雅黑"/>
              </a:rPr>
              <a:t>课前预习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10728655" cy="68580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0B3D91"/>
                </a:solidFill>
                <a:latin typeface="Times New Roman"/>
                <a:ea typeface="微软雅黑"/>
              </a:rPr>
              <a:t>匀变速直线运动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81328"/>
            <a:ext cx="10728655" cy="4736592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 marL="502920" indent="-502920">
              <a:lnSpc>
                <a:spcPct val="135000"/>
              </a:lnSpc>
            </a:pPr>
            <a:r>
              <a:rPr sz="2400" b="0">
                <a:solidFill>
                  <a:srgbClr val="1B2430"/>
                </a:solidFill>
                <a:latin typeface="Times New Roman"/>
              </a:rPr>
              <a:t>1. 定义：物体沿一条直线运动，且</a:t>
            </a:r>
            <a:r>
              <a:rPr sz="2400" u="sng">
                <a:solidFill>
                  <a:srgbClr val="1B2430"/>
                </a:solidFill>
                <a:latin typeface="Times New Roman"/>
              </a:rPr>
              <a:t>    </a:t>
            </a:r>
            <a:r>
              <a:rPr sz="2400" b="0">
                <a:solidFill>
                  <a:srgbClr val="1B2430"/>
                </a:solidFill>
                <a:latin typeface="Times New Roman"/>
              </a:rPr>
              <a:t>不变的运动叫匀变速直线运动。</a:t>
            </a:r>
          </a:p>
          <a:p>
            <a:pPr marL="502920" indent="-502920">
              <a:lnSpc>
                <a:spcPct val="135000"/>
              </a:lnSpc>
              <a:spcBef>
                <a:spcPts val="800"/>
              </a:spcBef>
            </a:pPr>
            <a:r>
              <a:rPr sz="2400" b="0">
                <a:solidFill>
                  <a:srgbClr val="1B2430"/>
                </a:solidFill>
                <a:latin typeface="Times New Roman"/>
              </a:rPr>
              <a:t>2. 特点：加速度大小和方向都不变，与速度方向是否变化</a:t>
            </a:r>
            <a:r>
              <a:rPr sz="2400" u="sng">
                <a:solidFill>
                  <a:srgbClr val="1B2430"/>
                </a:solidFill>
                <a:latin typeface="Times New Roman"/>
              </a:rPr>
              <a:t>   </a:t>
            </a:r>
            <a:r>
              <a:rPr sz="2400" b="0">
                <a:solidFill>
                  <a:srgbClr val="1B2430"/>
                </a:solidFill>
                <a:latin typeface="Times New Roman"/>
              </a:rPr>
              <a:t>（填“有关”或“无关”）。</a:t>
            </a:r>
          </a:p>
          <a:p>
            <a:pPr marL="502920" indent="-502920">
              <a:lnSpc>
                <a:spcPct val="135000"/>
              </a:lnSpc>
              <a:spcBef>
                <a:spcPts val="800"/>
              </a:spcBef>
            </a:pPr>
            <a:r>
              <a:rPr sz="2400" b="0">
                <a:solidFill>
                  <a:srgbClr val="1B2430"/>
                </a:solidFill>
                <a:latin typeface="Times New Roman"/>
              </a:rPr>
              <a:t>3. 分类：</a:t>
            </a:r>
          </a:p>
          <a:p>
            <a:pPr marL="914400" indent="-502920">
              <a:lnSpc>
                <a:spcPct val="135000"/>
              </a:lnSpc>
              <a:spcBef>
                <a:spcPts val="800"/>
              </a:spcBef>
            </a:pPr>
            <a:r>
              <a:rPr sz="2200" b="0">
                <a:solidFill>
                  <a:srgbClr val="1B2430"/>
                </a:solidFill>
                <a:latin typeface="Times New Roman"/>
              </a:rPr>
              <a:t>（1）匀加速直线运动：速度均匀</a:t>
            </a:r>
            <a:r>
              <a:rPr sz="2200" u="sng">
                <a:solidFill>
                  <a:srgbClr val="1B2430"/>
                </a:solidFill>
                <a:latin typeface="Times New Roman"/>
              </a:rPr>
              <a:t>   </a:t>
            </a:r>
            <a:r>
              <a:rPr sz="2200" b="0">
                <a:solidFill>
                  <a:srgbClr val="1B2430"/>
                </a:solidFill>
                <a:latin typeface="Times New Roman"/>
              </a:rPr>
              <a:t>，加速度方向与速度方向</a:t>
            </a:r>
            <a:r>
              <a:rPr sz="2200" u="sng">
                <a:solidFill>
                  <a:srgbClr val="1B2430"/>
                </a:solidFill>
                <a:latin typeface="Times New Roman"/>
              </a:rPr>
              <a:t>   </a:t>
            </a:r>
            <a:r>
              <a:rPr sz="2200" b="0">
                <a:solidFill>
                  <a:srgbClr val="1B2430"/>
                </a:solidFill>
                <a:latin typeface="Times New Roman"/>
              </a:rPr>
              <a:t>。</a:t>
            </a:r>
          </a:p>
          <a:p>
            <a:pPr marL="914400" indent="-502920">
              <a:lnSpc>
                <a:spcPct val="135000"/>
              </a:lnSpc>
              <a:spcBef>
                <a:spcPts val="800"/>
              </a:spcBef>
            </a:pPr>
            <a:r>
              <a:rPr sz="2200" b="0">
                <a:solidFill>
                  <a:srgbClr val="1B2430"/>
                </a:solidFill>
                <a:latin typeface="Times New Roman"/>
              </a:rPr>
              <a:t>（2）匀减速直线运动：速度均匀</a:t>
            </a:r>
            <a:r>
              <a:rPr sz="2200" u="sng">
                <a:solidFill>
                  <a:srgbClr val="1B2430"/>
                </a:solidFill>
                <a:latin typeface="Times New Roman"/>
              </a:rPr>
              <a:t>   </a:t>
            </a:r>
            <a:r>
              <a:rPr sz="2200" b="0">
                <a:solidFill>
                  <a:srgbClr val="1B2430"/>
                </a:solidFill>
                <a:latin typeface="Times New Roman"/>
              </a:rPr>
              <a:t>，加速度方向与速度方向</a:t>
            </a:r>
            <a:r>
              <a:rPr sz="2200" u="sng">
                <a:solidFill>
                  <a:srgbClr val="1B2430"/>
                </a:solidFill>
                <a:latin typeface="Times New Roman"/>
              </a:rPr>
              <a:t>   </a:t>
            </a:r>
            <a:r>
              <a:rPr sz="2200" b="0">
                <a:solidFill>
                  <a:srgbClr val="1B2430"/>
                </a:solidFill>
                <a:latin typeface="Times New Roman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胶州四中 · 匀变速直线运动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10728655" cy="68580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0B3D91"/>
                </a:solidFill>
                <a:latin typeface="Times New Roman"/>
                <a:ea typeface="微软雅黑"/>
              </a:rPr>
              <a:t>匀变速直线运动的三个基本公式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81328"/>
            <a:ext cx="10728655" cy="4736592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 marL="502920" indent="-502920">
              <a:lnSpc>
                <a:spcPct val="135000"/>
              </a:lnSpc>
            </a:pPr>
            <a:r>
              <a:rPr sz="2600" b="0">
                <a:solidFill>
                  <a:srgbClr val="1B2430"/>
                </a:solidFill>
                <a:latin typeface="Times New Roman"/>
              </a:rPr>
              <a:t>1. 速度与时间的关系式：v＝</a:t>
            </a:r>
            <a:r>
              <a:rPr sz="2600" u="sng">
                <a:solidFill>
                  <a:srgbClr val="1B2430"/>
                </a:solidFill>
                <a:latin typeface="Times New Roman"/>
              </a:rPr>
              <a:t>      </a:t>
            </a:r>
            <a:r>
              <a:rPr sz="2600" b="0">
                <a:solidFill>
                  <a:srgbClr val="1B2430"/>
                </a:solidFill>
                <a:latin typeface="Times New Roman"/>
              </a:rPr>
              <a:t>。</a:t>
            </a:r>
          </a:p>
          <a:p>
            <a:pPr marL="502920" indent="-502920">
              <a:lnSpc>
                <a:spcPct val="135000"/>
              </a:lnSpc>
              <a:spcBef>
                <a:spcPts val="1000"/>
              </a:spcBef>
            </a:pPr>
            <a:r>
              <a:rPr sz="2600" b="0">
                <a:solidFill>
                  <a:srgbClr val="1B2430"/>
                </a:solidFill>
                <a:latin typeface="Times New Roman"/>
              </a:rPr>
              <a:t>2. 位移与时间的关系式：x＝</a:t>
            </a:r>
            <a:r>
              <a:rPr sz="2600" u="sng">
                <a:solidFill>
                  <a:srgbClr val="1B2430"/>
                </a:solidFill>
                <a:latin typeface="Times New Roman"/>
              </a:rPr>
              <a:t>         </a:t>
            </a:r>
            <a:r>
              <a:rPr sz="2600" b="0">
                <a:solidFill>
                  <a:srgbClr val="1B2430"/>
                </a:solidFill>
                <a:latin typeface="Times New Roman"/>
              </a:rPr>
              <a:t>。</a:t>
            </a:r>
          </a:p>
          <a:p>
            <a:pPr marL="502920" indent="-502920">
              <a:lnSpc>
                <a:spcPct val="135000"/>
              </a:lnSpc>
              <a:spcBef>
                <a:spcPts val="1000"/>
              </a:spcBef>
            </a:pPr>
            <a:r>
              <a:rPr sz="2600" b="0">
                <a:solidFill>
                  <a:srgbClr val="1B2430"/>
                </a:solidFill>
                <a:latin typeface="Times New Roman"/>
              </a:rPr>
              <a:t>3. 速度与位移的关系式：</a:t>
            </a:r>
            <a:r>
              <a:rPr sz="2600" u="sng">
                <a:solidFill>
                  <a:srgbClr val="1B2430"/>
                </a:solidFill>
                <a:latin typeface="Times New Roman"/>
              </a:rPr>
              <a:t>       </a:t>
            </a:r>
            <a:r>
              <a:rPr sz="2600" b="0">
                <a:solidFill>
                  <a:srgbClr val="1B2430"/>
                </a:solidFill>
                <a:latin typeface="Times New Roman"/>
              </a:rPr>
              <a:t>＝2ax。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胶州四中 · 匀变速直线运动的三个基本公式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600" b="1">
                <a:solidFill>
                  <a:srgbClr val="2F6FED"/>
                </a:solidFill>
                <a:latin typeface="Times New Roman"/>
                <a:ea typeface="微软雅黑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26080"/>
            <a:ext cx="10362895" cy="10972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FFFFF"/>
                </a:solidFill>
                <a:latin typeface="Times New Roman"/>
                <a:ea typeface="微软雅黑"/>
              </a:rPr>
              <a:t>课内探究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10728655" cy="68580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0B3D91"/>
                </a:solidFill>
                <a:latin typeface="Times New Roman"/>
                <a:ea typeface="微软雅黑"/>
              </a:rPr>
              <a:t>例1｜探究一：刹车类问题中的“时间陷阱”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45775" cy="23774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b="0">
                <a:solidFill>
                  <a:srgbClr val="1B2430"/>
                </a:solidFill>
                <a:latin typeface="Times New Roman"/>
              </a:rPr>
              <a:t>汽车以 20 m/s 的速度行驶，刹车后做匀减速直线运动，加速度大小为 5 m/s²。求： （1）刹车后 2 s 末的速度； （2）刹车后 6 s 内的位移。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胶州四中 · 例1｜探究一：刹车类问题中的“时间陷阱”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10728655" cy="68580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0B3D91"/>
                </a:solidFill>
                <a:latin typeface="Times New Roman"/>
                <a:ea typeface="微软雅黑"/>
              </a:rPr>
              <a:t>例1｜探究一：刹车类问题中的“时间陷阱”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66399" y="530352"/>
            <a:ext cx="676656" cy="384048"/>
          </a:xfrm>
          <a:prstGeom prst="roundRect">
            <a:avLst/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66399" y="548640"/>
            <a:ext cx="676656" cy="36576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2F6FED"/>
                </a:solidFill>
                <a:latin typeface="Times New Roman"/>
                <a:ea typeface="微软雅黑"/>
              </a:rPr>
              <a:t>解析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25880"/>
            <a:ext cx="82296" cy="48463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17904"/>
            <a:ext cx="10500055" cy="4745736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200" b="1">
                <a:solidFill>
                  <a:srgbClr val="2F6FED"/>
                </a:solidFill>
                <a:latin typeface="Times New Roman"/>
              </a:rPr>
              <a:t>【解析】</a:t>
            </a:r>
            <a:r>
              <a:rPr sz="2200" b="0">
                <a:solidFill>
                  <a:srgbClr val="1B2430"/>
                </a:solidFill>
                <a:latin typeface="Times New Roman"/>
              </a:rPr>
              <a:t>（1）取初速度方向为正方向，a＝－5 m/s²，由 v＝v0＋at 得 v＝20－5×2＝10 m/s。 （2）先判断刹车时间 t0＝v0/|a|＝4 s＜6 s，故 6 s 内位移等于 4 s 内位移，x＝v0t0/2＝40 m。 </a:t>
            </a:r>
            <a:r>
              <a:rPr sz="2200" b="1">
                <a:solidFill>
                  <a:srgbClr val="2F6FED"/>
                </a:solidFill>
                <a:latin typeface="Times New Roman"/>
              </a:rPr>
              <a:t>【点睛】</a:t>
            </a:r>
            <a:r>
              <a:rPr sz="2200" b="0">
                <a:solidFill>
                  <a:srgbClr val="1B2430"/>
                </a:solidFill>
                <a:latin typeface="Times New Roman"/>
              </a:rPr>
              <a:t>刹车问题必须先求停止时间，再判断所给时间是否超过停止时间，不能盲目代入公式。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胶州四中 · 例1｜探究一：刹车类问题中的“时间陷阱”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10728655" cy="68580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0B3D91"/>
                </a:solidFill>
                <a:latin typeface="Times New Roman"/>
                <a:ea typeface="微软雅黑"/>
              </a:rPr>
              <a:t>例2｜探究二：v-t 图像的理解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45775" cy="23774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b="0">
                <a:solidFill>
                  <a:srgbClr val="1B2430"/>
                </a:solidFill>
                <a:latin typeface="Times New Roman"/>
              </a:rPr>
              <a:t>某质点运动的 v-t 图像如图所示，试描述质点在 0～6 s 内的运动情况，并求 6 s 内的位移。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胶州四中 · 例2｜探究二：v-t 图像的理解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10728655" cy="68580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0B3D91"/>
                </a:solidFill>
                <a:latin typeface="Times New Roman"/>
                <a:ea typeface="微软雅黑"/>
              </a:rPr>
              <a:t>例2｜探究二：v-t 图像的理解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66399" y="530352"/>
            <a:ext cx="676656" cy="384048"/>
          </a:xfrm>
          <a:prstGeom prst="roundRect">
            <a:avLst/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66399" y="548640"/>
            <a:ext cx="676656" cy="36576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2F6FED"/>
                </a:solidFill>
                <a:latin typeface="Times New Roman"/>
                <a:ea typeface="微软雅黑"/>
              </a:rPr>
              <a:t>解析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25880"/>
            <a:ext cx="82296" cy="48463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17904"/>
            <a:ext cx="10500055" cy="4745736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200" b="1">
                <a:solidFill>
                  <a:srgbClr val="2F6FED"/>
                </a:solidFill>
                <a:latin typeface="Times New Roman"/>
              </a:rPr>
              <a:t>【解析】</a:t>
            </a:r>
            <a:r>
              <a:rPr sz="2200" b="0">
                <a:solidFill>
                  <a:srgbClr val="1B2430"/>
                </a:solidFill>
                <a:latin typeface="Times New Roman"/>
              </a:rPr>
              <a:t>0～2 s 匀加速，2～4 s 匀速，4～6 s 匀减速；图像与时间轴围成的面积表示位移，x＝(2＋6)×4/2＝16 m。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胶州四中 · 例2｜探究二：v-t 图像的理解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600" b="1">
                <a:solidFill>
                  <a:srgbClr val="2F6FED"/>
                </a:solidFill>
                <a:latin typeface="Times New Roman"/>
                <a:ea typeface="微软雅黑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26080"/>
            <a:ext cx="10362895" cy="10972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FFFFF"/>
                </a:solidFill>
                <a:latin typeface="Times New Roman"/>
                <a:ea typeface="微软雅黑"/>
              </a:rPr>
              <a:t>当堂检测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10728655" cy="68580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0B3D91"/>
                </a:solidFill>
                <a:latin typeface="Times New Roman"/>
                <a:ea typeface="微软雅黑"/>
              </a:rPr>
              <a:t>当堂检测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45775" cy="23774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b="0">
                <a:solidFill>
                  <a:srgbClr val="1B2430"/>
                </a:solidFill>
                <a:latin typeface="Times New Roman"/>
              </a:rPr>
              <a:t>1. 关于匀变速直线运动，下列说法正确的是（　　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31720"/>
            <a:ext cx="10362895" cy="3886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1">
                <a:solidFill>
                  <a:srgbClr val="2F6FED"/>
                </a:solidFill>
                <a:latin typeface="Times New Roman"/>
                <a:ea typeface="微软雅黑"/>
              </a:rPr>
              <a:t>A．</a:t>
            </a:r>
            <a:r>
              <a:rPr sz="2000" b="0">
                <a:solidFill>
                  <a:srgbClr val="1B2430"/>
                </a:solidFill>
                <a:latin typeface="Times New Roman"/>
                <a:ea typeface="微软雅黑"/>
              </a:rPr>
              <a:t>速度随时间均匀变化</a:t>
            </a:r>
          </a:p>
          <a:p>
            <a:pPr>
              <a:lnSpc>
                <a:spcPct val="140000"/>
              </a:lnSpc>
            </a:pPr>
            <a:r>
              <a:rPr sz="2000" b="1">
                <a:solidFill>
                  <a:srgbClr val="2F6FED"/>
                </a:solidFill>
                <a:latin typeface="Times New Roman"/>
                <a:ea typeface="微软雅黑"/>
              </a:rPr>
              <a:t>B．</a:t>
            </a:r>
            <a:r>
              <a:rPr sz="2000" b="0">
                <a:solidFill>
                  <a:srgbClr val="1B2430"/>
                </a:solidFill>
                <a:latin typeface="Times New Roman"/>
                <a:ea typeface="微软雅黑"/>
              </a:rPr>
              <a:t>加速度随时间均匀变化</a:t>
            </a:r>
          </a:p>
          <a:p>
            <a:pPr>
              <a:lnSpc>
                <a:spcPct val="140000"/>
              </a:lnSpc>
            </a:pPr>
            <a:r>
              <a:rPr sz="2000" b="1">
                <a:solidFill>
                  <a:srgbClr val="2F6FED"/>
                </a:solidFill>
                <a:latin typeface="Times New Roman"/>
                <a:ea typeface="微软雅黑"/>
              </a:rPr>
              <a:t>C．</a:t>
            </a:r>
            <a:r>
              <a:rPr sz="2000" b="0">
                <a:solidFill>
                  <a:srgbClr val="1B2430"/>
                </a:solidFill>
                <a:latin typeface="Times New Roman"/>
                <a:ea typeface="微软雅黑"/>
              </a:rPr>
              <a:t>位移随时间均匀变化</a:t>
            </a:r>
          </a:p>
          <a:p>
            <a:pPr>
              <a:lnSpc>
                <a:spcPct val="140000"/>
              </a:lnSpc>
            </a:pPr>
            <a:r>
              <a:rPr sz="2000" b="1">
                <a:solidFill>
                  <a:srgbClr val="2F6FED"/>
                </a:solidFill>
                <a:latin typeface="Times New Roman"/>
                <a:ea typeface="微软雅黑"/>
              </a:rPr>
              <a:t>D．</a:t>
            </a:r>
            <a:r>
              <a:rPr sz="2000" b="0">
                <a:solidFill>
                  <a:srgbClr val="1B2430"/>
                </a:solidFill>
                <a:latin typeface="Times New Roman"/>
                <a:ea typeface="微软雅黑"/>
              </a:rPr>
              <a:t>加速度方向一定与速度方向相同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胶州四中 · 当堂检测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10728655" cy="68580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0B3D91"/>
                </a:solidFill>
                <a:latin typeface="Times New Roman"/>
                <a:ea typeface="微软雅黑"/>
              </a:rPr>
              <a:t>当堂检测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45775" cy="23774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b="0">
                <a:solidFill>
                  <a:srgbClr val="1B2430"/>
                </a:solidFill>
                <a:latin typeface="Times New Roman"/>
              </a:rPr>
              <a:t>2. 一物体做初速度为零的匀加速直线运动，第 1 s 内、第 2 s 内、第 3 s 内的位移之比为（　　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88920"/>
            <a:ext cx="4952847" cy="603504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F6FED"/>
                </a:solidFill>
                <a:latin typeface="Times New Roman"/>
                <a:ea typeface="微软雅黑"/>
              </a:rPr>
              <a:t>A．</a:t>
            </a:r>
            <a:r>
              <a:rPr sz="2200" b="0">
                <a:solidFill>
                  <a:srgbClr val="1B2430"/>
                </a:solidFill>
                <a:latin typeface="Times New Roman"/>
                <a:ea typeface="微软雅黑"/>
              </a:rPr>
              <a:t>1∶2∶3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04407" y="2788920"/>
            <a:ext cx="4952847" cy="603504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F6FED"/>
                </a:solidFill>
                <a:latin typeface="Times New Roman"/>
                <a:ea typeface="微软雅黑"/>
              </a:rPr>
              <a:t>B．</a:t>
            </a:r>
            <a:r>
              <a:rPr sz="2200" b="0">
                <a:solidFill>
                  <a:srgbClr val="1B2430"/>
                </a:solidFill>
                <a:latin typeface="Times New Roman"/>
                <a:ea typeface="微软雅黑"/>
              </a:rPr>
              <a:t>1∶3∶5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47288"/>
            <a:ext cx="4952847" cy="603504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F6FED"/>
                </a:solidFill>
                <a:latin typeface="Times New Roman"/>
                <a:ea typeface="微软雅黑"/>
              </a:rPr>
              <a:t>C．</a:t>
            </a:r>
            <a:r>
              <a:rPr sz="2200" b="0">
                <a:solidFill>
                  <a:srgbClr val="1B2430"/>
                </a:solidFill>
                <a:latin typeface="Times New Roman"/>
                <a:ea typeface="微软雅黑"/>
              </a:rPr>
              <a:t>1∶4∶9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04407" y="3447288"/>
            <a:ext cx="4952847" cy="603504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F6FED"/>
                </a:solidFill>
                <a:latin typeface="Times New Roman"/>
                <a:ea typeface="微软雅黑"/>
              </a:rPr>
              <a:t>D．</a:t>
            </a:r>
            <a:r>
              <a:rPr sz="2200" b="0">
                <a:solidFill>
                  <a:srgbClr val="1B2430"/>
                </a:solidFill>
                <a:latin typeface="Times New Roman"/>
                <a:ea typeface="微软雅黑"/>
              </a:rPr>
              <a:t>1∶1∶1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胶州四中 · 当堂检测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10728655" cy="68580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0B3D91"/>
                </a:solidFill>
                <a:latin typeface="Times New Roman"/>
                <a:ea typeface="微软雅黑"/>
              </a:rPr>
              <a:t>当堂检测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45775" cy="23774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2400" b="0">
                <a:solidFill>
                  <a:srgbClr val="1B2430"/>
                </a:solidFill>
                <a:latin typeface="Times New Roman"/>
              </a:rPr>
              <a:t>3. 汽车以 10 m/s 的速度匀速行驶，刹车后加速度大小为 2 m/s²，则刹车后 8 s 内的位移为________m。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胶州四中 · 当堂检测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3657600" cy="146304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600" b="1">
                <a:solidFill>
                  <a:srgbClr val="2F6FED"/>
                </a:solidFill>
                <a:latin typeface="Times New Roman"/>
                <a:ea typeface="微软雅黑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26080"/>
            <a:ext cx="10362895" cy="109728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FFFFF"/>
                </a:solidFill>
                <a:latin typeface="Times New Roman"/>
                <a:ea typeface="微软雅黑"/>
              </a:rPr>
              <a:t>课后作业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10728655" cy="68580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0B3D91"/>
                </a:solidFill>
                <a:latin typeface="Times New Roman"/>
                <a:ea typeface="微软雅黑"/>
              </a:rPr>
              <a:t>课后作业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81328"/>
            <a:ext cx="10728655" cy="4736592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 marL="502920" indent="-502920">
              <a:lnSpc>
                <a:spcPct val="135000"/>
              </a:lnSpc>
            </a:pPr>
            <a:r>
              <a:rPr sz="2600" b="0">
                <a:solidFill>
                  <a:srgbClr val="2F6FED"/>
                </a:solidFill>
                <a:latin typeface="Times New Roman"/>
                <a:ea typeface="微软雅黑"/>
              </a:rPr>
              <a:t>▪ </a:t>
            </a:r>
            <a:r>
              <a:rPr sz="2600" b="0">
                <a:solidFill>
                  <a:srgbClr val="1B2430"/>
                </a:solidFill>
                <a:latin typeface="Times New Roman"/>
              </a:rPr>
              <a:t>完成《课时作业》第 5 页 1～8 题。</a:t>
            </a:r>
          </a:p>
          <a:p>
            <a:pPr marL="502920" indent="-502920">
              <a:lnSpc>
                <a:spcPct val="135000"/>
              </a:lnSpc>
              <a:spcBef>
                <a:spcPts val="1000"/>
              </a:spcBef>
            </a:pPr>
            <a:r>
              <a:rPr sz="2600" b="0">
                <a:solidFill>
                  <a:srgbClr val="2F6FED"/>
                </a:solidFill>
                <a:latin typeface="Times New Roman"/>
                <a:ea typeface="微软雅黑"/>
              </a:rPr>
              <a:t>▪ </a:t>
            </a:r>
            <a:r>
              <a:rPr sz="2600" b="0">
                <a:solidFill>
                  <a:srgbClr val="1B2430"/>
                </a:solidFill>
                <a:latin typeface="Times New Roman"/>
              </a:rPr>
              <a:t>整理本节课的三个公式，各配一道自编例题。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胶州四中 · 课后作业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10728655" cy="68580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0B3D91"/>
                </a:solidFill>
                <a:latin typeface="Times New Roman"/>
                <a:ea typeface="微软雅黑"/>
              </a:rPr>
              <a:t>参考答案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81328"/>
            <a:ext cx="10728655" cy="4736592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 marL="502920" indent="-502920">
              <a:lnSpc>
                <a:spcPct val="135000"/>
              </a:lnSpc>
            </a:pPr>
            <a:r>
              <a:rPr sz="2600" b="0">
                <a:solidFill>
                  <a:srgbClr val="1B2430"/>
                </a:solidFill>
                <a:latin typeface="Times New Roman"/>
              </a:rPr>
              <a:t>1. A　2. B　3. 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胶州四中 · 参考答案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3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118872" cy="566928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6384" y="457200"/>
            <a:ext cx="10728655" cy="68580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0B3D91"/>
                </a:solidFill>
                <a:latin typeface="Times New Roman"/>
                <a:ea typeface="微软雅黑"/>
              </a:rPr>
              <a:t>参考答案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66399" y="530352"/>
            <a:ext cx="676656" cy="384048"/>
          </a:xfrm>
          <a:prstGeom prst="roundRect">
            <a:avLst/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66399" y="548640"/>
            <a:ext cx="676656" cy="365760"/>
          </a:xfrm>
          <a:prstGeom prst="rect">
            <a:avLst/>
          </a:prstGeom>
          <a:noFill/>
        </p:spPr>
        <p:txBody>
          <a:bodyPr wrap="square" anchor="ctr" lIns="45720" rIns="4572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2F6FED"/>
                </a:solidFill>
                <a:latin typeface="Times New Roman"/>
                <a:ea typeface="微软雅黑"/>
              </a:rPr>
              <a:t>解析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25880"/>
            <a:ext cx="82296" cy="48463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517904"/>
            <a:ext cx="10500055" cy="4745736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200" b="1">
                <a:solidFill>
                  <a:srgbClr val="2F6FED"/>
                </a:solidFill>
                <a:latin typeface="Times New Roman"/>
              </a:rPr>
              <a:t>【解析】</a:t>
            </a:r>
            <a:r>
              <a:rPr sz="2200" b="0">
                <a:solidFill>
                  <a:srgbClr val="1B2430"/>
                </a:solidFill>
                <a:latin typeface="Times New Roman"/>
              </a:rPr>
              <a:t>第 3 题：刹车时间 t0＝5 s，8 s 内位移等于 5 s 内位移，x＝v0t0/2＝25 m。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胶州四中 · 参考答案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473952"/>
            <a:ext cx="731520" cy="27432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>
                <a:solidFill>
                  <a:srgbClr val="8A94A6"/>
                </a:solidFill>
                <a:latin typeface="Times New Roman"/>
                <a:ea typeface="微软雅黑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AF1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F6F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545775" cy="9144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0B3D91"/>
                </a:solidFill>
                <a:latin typeface="Times New Roman"/>
                <a:ea typeface="微软雅黑"/>
              </a:rPr>
              <a:t>本节课小结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62895" cy="41148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0">
                <a:solidFill>
                  <a:srgbClr val="2F6FED"/>
                </a:solidFill>
                <a:latin typeface="Times New Roman"/>
                <a:ea typeface="微软雅黑"/>
              </a:rPr>
              <a:t>✔  </a:t>
            </a:r>
            <a:r>
              <a:rPr sz="2400" b="0">
                <a:solidFill>
                  <a:srgbClr val="1B2430"/>
                </a:solidFill>
                <a:latin typeface="Times New Roman"/>
              </a:rPr>
              <a:t>理解匀变速直线运动的特点，知道加速度大小和方向不变是匀变速直线运动的本质特征。</a:t>
            </a:r>
          </a:p>
          <a:p>
            <a:pPr>
              <a:lnSpc>
                <a:spcPct val="140000"/>
              </a:lnSpc>
              <a:spcBef>
                <a:spcPts val="1000"/>
              </a:spcBef>
            </a:pPr>
            <a:r>
              <a:rPr sz="2400" b="0">
                <a:solidFill>
                  <a:srgbClr val="2F6FED"/>
                </a:solidFill>
                <a:latin typeface="Times New Roman"/>
                <a:ea typeface="微软雅黑"/>
              </a:rPr>
              <a:t>✔  </a:t>
            </a:r>
            <a:r>
              <a:rPr sz="2400" b="0">
                <a:solidFill>
                  <a:srgbClr val="1B2430"/>
                </a:solidFill>
                <a:latin typeface="Times New Roman"/>
              </a:rPr>
              <a:t>掌握速度与时间、位移与时间、速度与位移三个基本关系式，并能选用合适公式解题。</a:t>
            </a:r>
          </a:p>
          <a:p>
            <a:pPr>
              <a:lnSpc>
                <a:spcPct val="140000"/>
              </a:lnSpc>
              <a:spcBef>
                <a:spcPts val="1000"/>
              </a:spcBef>
            </a:pPr>
            <a:r>
              <a:rPr sz="2400" b="0">
                <a:solidFill>
                  <a:srgbClr val="2F6FED"/>
                </a:solidFill>
                <a:latin typeface="Times New Roman"/>
                <a:ea typeface="微软雅黑"/>
              </a:rPr>
              <a:t>✔  </a:t>
            </a:r>
            <a:r>
              <a:rPr sz="2400" b="0">
                <a:solidFill>
                  <a:srgbClr val="1B2430"/>
                </a:solidFill>
                <a:latin typeface="Times New Roman"/>
              </a:rPr>
              <a:t>能用 v-t 图像描述匀变速直线运动，体会“数形结合”的物理思想。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362895" cy="457200"/>
          </a:xfrm>
          <a:prstGeom prst="rect">
            <a:avLst/>
          </a:prstGeom>
          <a:noFill/>
        </p:spPr>
        <p:txBody>
          <a:bodyPr wrap="square" anchor="t" lIns="45720" rIns="4572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64748B"/>
                </a:solidFill>
                <a:latin typeface="Times New Roman"/>
                <a:ea typeface="微软雅黑"/>
              </a:rPr>
              <a:t>胶州四中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