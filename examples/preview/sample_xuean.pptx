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71183" y="0"/>
            <a:ext cx="5120511" cy="6858000"/>
          </a:xfrm>
          <a:prstGeom prst="rect">
            <a:avLst/>
          </a:prstGeom>
          <a:solidFill>
            <a:srgbClr val="0F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10224" y="0"/>
            <a:ext cx="82296" cy="6858000"/>
          </a:xfrm>
          <a:prstGeom prst="rect">
            <a:avLst/>
          </a:prstGeom>
          <a:solidFill>
            <a:srgbClr val="2E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017" y="685800"/>
            <a:ext cx="4389010" cy="82296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4000"/>
            </a:pPr>
            <a:r>
              <a:rPr sz="4000" b="1" u="none">
                <a:solidFill>
                  <a:srgbClr val="E8B21A"/>
                </a:solidFill>
                <a:latin typeface="Times New Roman"/>
                <a:ea typeface="微软雅黑"/>
              </a:rPr>
              <a:t>第 01 讲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457" y="1481328"/>
            <a:ext cx="4068970" cy="28575"/>
          </a:xfrm>
          <a:prstGeom prst="rect">
            <a:avLst/>
          </a:prstGeom>
          <a:solidFill>
            <a:srgbClr val="2E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5730096" cy="201168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20000"/>
              </a:lnSpc>
              <a:defRPr sz="2900"/>
            </a:pPr>
            <a:r>
              <a:rPr sz="2900" b="1" u="none">
                <a:solidFill>
                  <a:srgbClr val="0F2B55"/>
                </a:solidFill>
                <a:latin typeface="Times New Roman"/>
                <a:ea typeface="微软雅黑"/>
              </a:rPr>
              <a:t>第二章 匀变速直线运动的规律</a:t>
            </a:r>
            <a:br/>
            <a:r>
              <a:rPr sz="2900" b="1" u="none">
                <a:solidFill>
                  <a:srgbClr val="0F2B55"/>
                </a:solidFill>
                <a:latin typeface="Times New Roman"/>
                <a:ea typeface="微软雅黑"/>
              </a:rPr>
              <a:t>（第1课时）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11880"/>
            <a:ext cx="5852013" cy="82296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000"/>
            </a:pPr>
            <a:r>
              <a:rPr sz="2000" b="0" u="none">
                <a:solidFill>
                  <a:srgbClr val="44506B"/>
                </a:solidFill>
                <a:latin typeface="Times New Roman"/>
                <a:ea typeface="微软雅黑"/>
              </a:rPr>
              <a:t>高一物理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617720"/>
            <a:ext cx="1371600" cy="38100"/>
          </a:xfrm>
          <a:prstGeom prst="rect">
            <a:avLst/>
          </a:prstGeom>
          <a:solidFill>
            <a:srgbClr val="2E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800600"/>
            <a:ext cx="6095847" cy="4572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300"/>
            </a:pPr>
            <a:r>
              <a:rPr sz="1300" b="0" u="none">
                <a:solidFill>
                  <a:srgbClr val="7A8698"/>
                </a:solidFill>
                <a:latin typeface="Times New Roman"/>
                <a:ea typeface="微软雅黑"/>
              </a:rPr>
              <a:t>胶州四中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28655" y="5806440"/>
            <a:ext cx="822960" cy="420624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28655" y="5824729"/>
            <a:ext cx="822960" cy="384048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300"/>
            </a:pPr>
            <a:r>
              <a:rPr sz="1300" b="1" u="none">
                <a:solidFill>
                  <a:srgbClr val="0F2B55"/>
                </a:solidFill>
                <a:latin typeface="Times New Roman"/>
                <a:ea typeface="微软雅黑"/>
              </a:rPr>
              <a:t>学案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2E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188720"/>
            <a:ext cx="3657600" cy="155448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9200"/>
            </a:pPr>
            <a:r>
              <a:rPr sz="9200" b="1" u="none">
                <a:solidFill>
                  <a:srgbClr val="2E86D6"/>
                </a:solidFill>
                <a:latin typeface="Times New Roman"/>
                <a:ea typeface="微软雅黑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834640"/>
            <a:ext cx="10180015" cy="109728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4000"/>
            </a:pPr>
            <a:r>
              <a:rPr sz="4000" b="1" u="none">
                <a:solidFill>
                  <a:srgbClr val="FFFFFF"/>
                </a:solidFill>
                <a:latin typeface="Times New Roman"/>
                <a:ea typeface="微软雅黑"/>
              </a:rPr>
              <a:t>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688775" y="2011680"/>
            <a:ext cx="365760" cy="2377440"/>
          </a:xfrm>
          <a:prstGeom prst="roundRect">
            <a:avLst>
              <a:gd name="adj" fmla="val 20000"/>
            </a:avLst>
          </a:prstGeom>
          <a:solidFill>
            <a:srgbClr val="2E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88775" y="2103120"/>
            <a:ext cx="365760" cy="2194560"/>
          </a:xfrm>
          <a:prstGeom prst="rect">
            <a:avLst/>
          </a:prstGeom>
          <a:noFill/>
        </p:spPr>
        <p:txBody>
          <a:bodyPr wrap="square" anchor="ctr" lIns="54864" rIns="54864" tIns="0" bIns="0" vert="eaVert">
            <a:spAutoFit/>
          </a:bodyPr>
          <a:lstStyle/>
          <a:p>
            <a:pPr algn="ctr">
              <a:lnSpc>
                <a:spcPct val="130000"/>
              </a:lnSpc>
              <a:defRPr sz="1500"/>
            </a:pPr>
            <a:r>
              <a:rPr sz="1500" b="1" u="none">
                <a:solidFill>
                  <a:srgbClr val="FFFFFF"/>
                </a:solidFill>
                <a:latin typeface="Times New Roman"/>
                <a:ea typeface="微软雅黑"/>
              </a:rPr>
              <a:t>导入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38912"/>
            <a:ext cx="109728" cy="530352"/>
          </a:xfrm>
          <a:prstGeom prst="rect">
            <a:avLst/>
          </a:prstGeom>
          <a:solidFill>
            <a:srgbClr val="2E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9722815" cy="64008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800"/>
            </a:pPr>
            <a:r>
              <a:rPr sz="2800" b="1" u="none">
                <a:solidFill>
                  <a:srgbClr val="0F2B55"/>
                </a:solidFill>
                <a:latin typeface="Times New Roman"/>
                <a:ea typeface="微软雅黑"/>
              </a:rPr>
              <a:t>学习目标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9456" y="1417320"/>
            <a:ext cx="365760" cy="2194560"/>
          </a:xfrm>
          <a:prstGeom prst="roundRect">
            <a:avLst>
              <a:gd name="adj" fmla="val 18000"/>
            </a:avLst>
          </a:prstGeom>
          <a:solidFill>
            <a:srgbClr val="0F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" y="1508760"/>
            <a:ext cx="365760" cy="2011680"/>
          </a:xfrm>
          <a:prstGeom prst="rect">
            <a:avLst/>
          </a:prstGeom>
          <a:noFill/>
        </p:spPr>
        <p:txBody>
          <a:bodyPr wrap="square" anchor="ctr" lIns="54864" rIns="54864" tIns="0" bIns="0" vert="eaVert">
            <a:spAutoFit/>
          </a:bodyPr>
          <a:lstStyle/>
          <a:p>
            <a:pPr algn="ctr">
              <a:lnSpc>
                <a:spcPct val="130000"/>
              </a:lnSpc>
              <a:defRPr sz="1500"/>
            </a:pPr>
            <a:r>
              <a:rPr sz="1500" b="1" u="none">
                <a:solidFill>
                  <a:srgbClr val="FFFFFF"/>
                </a:solidFill>
                <a:latin typeface="Times New Roman"/>
                <a:ea typeface="微软雅黑"/>
              </a:rPr>
              <a:t>知识梳理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10500055" cy="4873752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 marL="475488" indent="-475488">
              <a:lnSpc>
                <a:spcPct val="135000"/>
              </a:lnSpc>
              <a:defRPr sz="2600"/>
            </a:pPr>
            <a:r>
              <a:rPr sz="2600" b="0" u="none">
                <a:solidFill>
                  <a:srgbClr val="2E86D6"/>
                </a:solidFill>
                <a:latin typeface="Times New Roman"/>
                <a:ea typeface="微软雅黑"/>
              </a:rPr>
              <a:t>▪ </a:t>
            </a:r>
            <a:r>
              <a:rPr sz="2600" b="0" u="none">
                <a:solidFill>
                  <a:srgbClr val="1B2430"/>
                </a:solidFill>
                <a:latin typeface="Times New Roman"/>
                <a:ea typeface="微软雅黑"/>
              </a:rPr>
              <a:t>理解匀变速直线运动的特点，知道加速度大小和方向不变是匀变速直线运动的本质特征。</a:t>
            </a:r>
          </a:p>
          <a:p>
            <a:pPr algn="l" marL="475488" indent="-475488">
              <a:lnSpc>
                <a:spcPct val="135000"/>
              </a:lnSpc>
              <a:spcBef>
                <a:spcPts val="1000"/>
              </a:spcBef>
            </a:pPr>
            <a:r>
              <a:rPr sz="2600" b="0" u="none">
                <a:solidFill>
                  <a:srgbClr val="2E86D6"/>
                </a:solidFill>
                <a:latin typeface="Times New Roman"/>
                <a:ea typeface="微软雅黑"/>
              </a:rPr>
              <a:t>▪ </a:t>
            </a:r>
            <a:r>
              <a:rPr sz="2600" b="0" u="none">
                <a:solidFill>
                  <a:srgbClr val="1B2430"/>
                </a:solidFill>
                <a:latin typeface="Times New Roman"/>
                <a:ea typeface="微软雅黑"/>
              </a:rPr>
              <a:t>掌握速度与时间、位移与时间、速度与位移三个基本关系式，并能选用合适公式解题。</a:t>
            </a:r>
          </a:p>
          <a:p>
            <a:pPr algn="l" marL="475488" indent="-475488">
              <a:lnSpc>
                <a:spcPct val="135000"/>
              </a:lnSpc>
              <a:spcBef>
                <a:spcPts val="1000"/>
              </a:spcBef>
            </a:pPr>
            <a:r>
              <a:rPr sz="2600" b="0" u="none">
                <a:solidFill>
                  <a:srgbClr val="2E86D6"/>
                </a:solidFill>
                <a:latin typeface="Times New Roman"/>
                <a:ea typeface="微软雅黑"/>
              </a:rPr>
              <a:t>▪ </a:t>
            </a:r>
            <a:r>
              <a:rPr sz="2600" b="0" u="none">
                <a:solidFill>
                  <a:srgbClr val="1B2430"/>
                </a:solidFill>
                <a:latin typeface="Times New Roman"/>
                <a:ea typeface="微软雅黑"/>
              </a:rPr>
              <a:t>能用 v-t 图像描述匀变速直线运动，体会“数形结合”的物理思想。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2E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345936"/>
            <a:ext cx="859536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微软雅黑"/>
              </a:rPr>
              <a:t>胶州四中 · 第二章 匀变速直线运动的规律（第1课时）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8695" y="6345936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微软雅黑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2E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188720"/>
            <a:ext cx="3657600" cy="155448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9200"/>
            </a:pPr>
            <a:r>
              <a:rPr sz="9200" b="1" u="none">
                <a:solidFill>
                  <a:srgbClr val="2E86D6"/>
                </a:solidFill>
                <a:latin typeface="Times New Roman"/>
                <a:ea typeface="微软雅黑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834640"/>
            <a:ext cx="10180015" cy="109728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4000"/>
            </a:pPr>
            <a:r>
              <a:rPr sz="4000" b="1" u="none">
                <a:solidFill>
                  <a:srgbClr val="FFFFFF"/>
                </a:solidFill>
                <a:latin typeface="Times New Roman"/>
                <a:ea typeface="微软雅黑"/>
              </a:rPr>
              <a:t>重点难点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38912"/>
            <a:ext cx="109728" cy="530352"/>
          </a:xfrm>
          <a:prstGeom prst="rect">
            <a:avLst/>
          </a:prstGeom>
          <a:solidFill>
            <a:srgbClr val="2E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9722815" cy="64008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800"/>
            </a:pPr>
            <a:r>
              <a:rPr sz="2800" b="1" u="none">
                <a:solidFill>
                  <a:srgbClr val="0F2B55"/>
                </a:solidFill>
                <a:latin typeface="Times New Roman"/>
                <a:ea typeface="微软雅黑"/>
              </a:rPr>
              <a:t>重点难点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9456" y="1417320"/>
            <a:ext cx="365760" cy="2194560"/>
          </a:xfrm>
          <a:prstGeom prst="roundRect">
            <a:avLst>
              <a:gd name="adj" fmla="val 18000"/>
            </a:avLst>
          </a:prstGeom>
          <a:solidFill>
            <a:srgbClr val="0F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" y="1508760"/>
            <a:ext cx="365760" cy="2011680"/>
          </a:xfrm>
          <a:prstGeom prst="rect">
            <a:avLst/>
          </a:prstGeom>
          <a:noFill/>
        </p:spPr>
        <p:txBody>
          <a:bodyPr wrap="square" anchor="ctr" lIns="54864" rIns="54864" tIns="0" bIns="0" vert="eaVert">
            <a:spAutoFit/>
          </a:bodyPr>
          <a:lstStyle/>
          <a:p>
            <a:pPr algn="ctr">
              <a:lnSpc>
                <a:spcPct val="130000"/>
              </a:lnSpc>
              <a:defRPr sz="1500"/>
            </a:pPr>
            <a:r>
              <a:rPr sz="1500" b="1" u="none">
                <a:solidFill>
                  <a:srgbClr val="FFFFFF"/>
                </a:solidFill>
                <a:latin typeface="Times New Roman"/>
                <a:ea typeface="微软雅黑"/>
              </a:rPr>
              <a:t>知识梳理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10500055" cy="4873752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 marL="475488" indent="-475488">
              <a:lnSpc>
                <a:spcPct val="135000"/>
              </a:lnSpc>
              <a:defRPr sz="2600"/>
            </a:pPr>
            <a:r>
              <a:rPr sz="2600" b="0" u="none">
                <a:solidFill>
                  <a:srgbClr val="2E86D6"/>
                </a:solidFill>
                <a:latin typeface="Times New Roman"/>
                <a:ea typeface="微软雅黑"/>
              </a:rPr>
              <a:t>▪ </a:t>
            </a:r>
            <a:r>
              <a:rPr sz="2600" b="0" u="none">
                <a:solidFill>
                  <a:srgbClr val="1B2430"/>
                </a:solidFill>
                <a:latin typeface="Times New Roman"/>
                <a:ea typeface="微软雅黑"/>
              </a:rPr>
              <a:t>重点：速度公式与位移公式的理解和应用。</a:t>
            </a:r>
          </a:p>
          <a:p>
            <a:pPr algn="l" marL="475488" indent="-475488">
              <a:lnSpc>
                <a:spcPct val="135000"/>
              </a:lnSpc>
              <a:spcBef>
                <a:spcPts val="1000"/>
              </a:spcBef>
            </a:pPr>
            <a:r>
              <a:rPr sz="2600" b="0" u="none">
                <a:solidFill>
                  <a:srgbClr val="2E86D6"/>
                </a:solidFill>
                <a:latin typeface="Times New Roman"/>
                <a:ea typeface="微软雅黑"/>
              </a:rPr>
              <a:t>▪ </a:t>
            </a:r>
            <a:r>
              <a:rPr sz="2600" b="0" u="none">
                <a:solidFill>
                  <a:srgbClr val="1B2430"/>
                </a:solidFill>
                <a:latin typeface="Times New Roman"/>
                <a:ea typeface="微软雅黑"/>
              </a:rPr>
              <a:t>难点：公式的矢量性（正方向的选取）以及多过程问题的分段处理。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2E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345936"/>
            <a:ext cx="859536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微软雅黑"/>
              </a:rPr>
              <a:t>胶州四中 · 第二章 匀变速直线运动的规律（第1课时）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8695" y="6345936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2E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188720"/>
            <a:ext cx="3657600" cy="155448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9200"/>
            </a:pPr>
            <a:r>
              <a:rPr sz="9200" b="1" u="none">
                <a:solidFill>
                  <a:srgbClr val="2E86D6"/>
                </a:solidFill>
                <a:latin typeface="Times New Roman"/>
                <a:ea typeface="微软雅黑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834640"/>
            <a:ext cx="10180015" cy="109728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4000"/>
            </a:pPr>
            <a:r>
              <a:rPr sz="4000" b="1" u="none">
                <a:solidFill>
                  <a:srgbClr val="FFFFFF"/>
                </a:solidFill>
                <a:latin typeface="Times New Roman"/>
                <a:ea typeface="微软雅黑"/>
              </a:rPr>
              <a:t>考情分析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38912"/>
            <a:ext cx="109728" cy="530352"/>
          </a:xfrm>
          <a:prstGeom prst="rect">
            <a:avLst/>
          </a:prstGeom>
          <a:solidFill>
            <a:srgbClr val="2E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9722815" cy="64008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800"/>
            </a:pPr>
            <a:r>
              <a:rPr sz="2800" b="1" u="none">
                <a:solidFill>
                  <a:srgbClr val="0F2B55"/>
                </a:solidFill>
                <a:latin typeface="Times New Roman"/>
                <a:ea typeface="微软雅黑"/>
              </a:rPr>
              <a:t>考情分析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728655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31"/>
                <a:gridCol w="2145731"/>
                <a:gridCol w="2145731"/>
                <a:gridCol w="2145731"/>
                <a:gridCol w="2145731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500" b="1" u="none">
                          <a:solidFill>
                            <a:srgbClr val="FFFFFF"/>
                          </a:solidFill>
                          <a:latin typeface="Times New Roman"/>
                          <a:ea typeface="微软雅黑"/>
                        </a:rPr>
                        <a:t>考点</a:t>
                      </a:r>
                    </a:p>
                  </a:txBody>
                  <a:tcPr anchor="ctr" marL="73152" marR="73152">
                    <a:solidFill>
                      <a:srgbClr val="0F2B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u="none">
                          <a:solidFill>
                            <a:srgbClr val="FFFFFF"/>
                          </a:solidFill>
                          <a:latin typeface="Times New Roman"/>
                          <a:ea typeface="微软雅黑"/>
                        </a:rPr>
                        <a:t>要求</a:t>
                      </a:r>
                    </a:p>
                  </a:txBody>
                  <a:tcPr anchor="ctr" marL="73152" marR="73152">
                    <a:solidFill>
                      <a:srgbClr val="0F2B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u="none">
                          <a:solidFill>
                            <a:srgbClr val="FFFFFF"/>
                          </a:solidFill>
                          <a:latin typeface="Times New Roman"/>
                          <a:ea typeface="微软雅黑"/>
                        </a:rPr>
                        <a:t>考频</a:t>
                      </a:r>
                    </a:p>
                  </a:txBody>
                  <a:tcPr anchor="ctr" marL="73152" marR="73152">
                    <a:solidFill>
                      <a:srgbClr val="0F2B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u="none">
                          <a:solidFill>
                            <a:srgbClr val="FFFFFF"/>
                          </a:solidFill>
                          <a:latin typeface="Times New Roman"/>
                          <a:ea typeface="微软雅黑"/>
                        </a:rPr>
                        <a:t>2025</a:t>
                      </a:r>
                    </a:p>
                  </a:txBody>
                  <a:tcPr anchor="ctr" marL="73152" marR="73152">
                    <a:solidFill>
                      <a:srgbClr val="0F2B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u="none">
                          <a:solidFill>
                            <a:srgbClr val="FFFFFF"/>
                          </a:solidFill>
                          <a:latin typeface="Times New Roman"/>
                          <a:ea typeface="微软雅黑"/>
                        </a:rPr>
                        <a:t>2024</a:t>
                      </a:r>
                    </a:p>
                  </a:txBody>
                  <a:tcPr anchor="ctr" marL="73152" marR="73152">
                    <a:solidFill>
                      <a:srgbClr val="0F2B5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400" b="0" u="none">
                          <a:solidFill>
                            <a:srgbClr val="1B2430"/>
                          </a:solidFill>
                          <a:latin typeface="Times New Roman"/>
                          <a:ea typeface="微软雅黑"/>
                        </a:rPr>
                        <a:t>匀变速运动公式</a:t>
                      </a:r>
                    </a:p>
                  </a:txBody>
                  <a:tcPr anchor="ctr" marL="73152" marR="73152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u="none">
                          <a:solidFill>
                            <a:srgbClr val="1B2430"/>
                          </a:solidFill>
                          <a:latin typeface="Times New Roman"/>
                          <a:ea typeface="微软雅黑"/>
                        </a:rPr>
                        <a:t>Ⅱ</a:t>
                      </a:r>
                    </a:p>
                  </a:txBody>
                  <a:tcPr anchor="ctr" marL="73152" marR="73152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u="none">
                          <a:solidFill>
                            <a:srgbClr val="1B2430"/>
                          </a:solidFill>
                          <a:latin typeface="Times New Roman"/>
                          <a:ea typeface="微软雅黑"/>
                        </a:rPr>
                        <a:t>高频</a:t>
                      </a:r>
                    </a:p>
                  </a:txBody>
                  <a:tcPr anchor="ctr" marL="73152" marR="73152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u="none">
                          <a:solidFill>
                            <a:srgbClr val="1B2430"/>
                          </a:solidFill>
                          <a:latin typeface="Times New Roman"/>
                          <a:ea typeface="微软雅黑"/>
                        </a:rPr>
                        <a:t>山东·3</a:t>
                      </a:r>
                    </a:p>
                  </a:txBody>
                  <a:tcPr anchor="ctr" marL="73152" marR="73152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u="none">
                          <a:solidFill>
                            <a:srgbClr val="1B2430"/>
                          </a:solidFill>
                          <a:latin typeface="Times New Roman"/>
                          <a:ea typeface="微软雅黑"/>
                        </a:rPr>
                        <a:t>全国·14</a:t>
                      </a:r>
                    </a:p>
                  </a:txBody>
                  <a:tcPr anchor="ctr" marL="73152" marR="73152">
                    <a:solidFill>
                      <a:srgbClr val="EAF2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400" b="0" u="none">
                          <a:solidFill>
                            <a:srgbClr val="1B2430"/>
                          </a:solidFill>
                          <a:latin typeface="Times New Roman"/>
                          <a:ea typeface="微软雅黑"/>
                        </a:rPr>
                        <a:t>刹车与多过程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u="none">
                          <a:solidFill>
                            <a:srgbClr val="1B2430"/>
                          </a:solidFill>
                          <a:latin typeface="Times New Roman"/>
                          <a:ea typeface="微软雅黑"/>
                        </a:rPr>
                        <a:t>Ⅱ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u="none">
                          <a:solidFill>
                            <a:srgbClr val="1B2430"/>
                          </a:solidFill>
                          <a:latin typeface="Times New Roman"/>
                          <a:ea typeface="微软雅黑"/>
                        </a:rPr>
                        <a:t>中频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u="none">
                          <a:solidFill>
                            <a:srgbClr val="1B2430"/>
                          </a:solidFill>
                          <a:latin typeface="Times New Roman"/>
                          <a:ea typeface="微软雅黑"/>
                        </a:rPr>
                        <a:t>江苏·8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u="none">
                          <a:solidFill>
                            <a:srgbClr val="1B2430"/>
                          </a:solidFill>
                          <a:latin typeface="Times New Roman"/>
                          <a:ea typeface="微软雅黑"/>
                        </a:rPr>
                        <a:t>——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400" b="0" u="none">
                          <a:solidFill>
                            <a:srgbClr val="1B2430"/>
                          </a:solidFill>
                          <a:latin typeface="Times New Roman"/>
                          <a:ea typeface="微软雅黑"/>
                        </a:rPr>
                        <a:t>v-t 图像</a:t>
                      </a:r>
                    </a:p>
                  </a:txBody>
                  <a:tcPr anchor="ctr" marL="73152" marR="73152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u="none">
                          <a:solidFill>
                            <a:srgbClr val="1B2430"/>
                          </a:solidFill>
                          <a:latin typeface="Times New Roman"/>
                          <a:ea typeface="微软雅黑"/>
                        </a:rPr>
                        <a:t>Ⅰ</a:t>
                      </a:r>
                    </a:p>
                  </a:txBody>
                  <a:tcPr anchor="ctr" marL="73152" marR="73152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u="none">
                          <a:solidFill>
                            <a:srgbClr val="1B2430"/>
                          </a:solidFill>
                          <a:latin typeface="Times New Roman"/>
                          <a:ea typeface="微软雅黑"/>
                        </a:rPr>
                        <a:t>高频</a:t>
                      </a:r>
                    </a:p>
                  </a:txBody>
                  <a:tcPr anchor="ctr" marL="73152" marR="73152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u="none">
                          <a:solidFill>
                            <a:srgbClr val="1B2430"/>
                          </a:solidFill>
                          <a:latin typeface="Times New Roman"/>
                          <a:ea typeface="微软雅黑"/>
                        </a:rPr>
                        <a:t>湖南·6</a:t>
                      </a:r>
                    </a:p>
                  </a:txBody>
                  <a:tcPr anchor="ctr" marL="73152" marR="73152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u="none">
                          <a:solidFill>
                            <a:srgbClr val="1B2430"/>
                          </a:solidFill>
                          <a:latin typeface="Times New Roman"/>
                          <a:ea typeface="微软雅黑"/>
                        </a:rPr>
                        <a:t>浙江·5</a:t>
                      </a:r>
                    </a:p>
                  </a:txBody>
                  <a:tcPr anchor="ctr" marL="73152" marR="73152">
                    <a:solidFill>
                      <a:srgbClr val="EAF2FB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2E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45936"/>
            <a:ext cx="859536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微软雅黑"/>
              </a:rPr>
              <a:t>胶州四中 · 第二章 匀变速直线运动的规律（第1课时）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8695" y="6345936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2E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188720"/>
            <a:ext cx="3657600" cy="155448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9200"/>
            </a:pPr>
            <a:r>
              <a:rPr sz="9200" b="1" u="none">
                <a:solidFill>
                  <a:srgbClr val="2E86D6"/>
                </a:solidFill>
                <a:latin typeface="Times New Roman"/>
                <a:ea typeface="微软雅黑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834640"/>
            <a:ext cx="10180015" cy="109728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4000"/>
            </a:pPr>
            <a:r>
              <a:rPr sz="4000" b="1" u="none">
                <a:solidFill>
                  <a:srgbClr val="FFFFFF"/>
                </a:solidFill>
                <a:latin typeface="Times New Roman"/>
                <a:ea typeface="微软雅黑"/>
              </a:rPr>
              <a:t>课前预习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38912"/>
            <a:ext cx="109728" cy="530352"/>
          </a:xfrm>
          <a:prstGeom prst="rect">
            <a:avLst/>
          </a:prstGeom>
          <a:solidFill>
            <a:srgbClr val="2E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9722815" cy="64008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800"/>
            </a:pPr>
            <a:r>
              <a:rPr sz="2800" b="1" u="none">
                <a:solidFill>
                  <a:srgbClr val="0F2B55"/>
                </a:solidFill>
                <a:latin typeface="Times New Roman"/>
                <a:ea typeface="微软雅黑"/>
              </a:rPr>
              <a:t>匀变速直线运动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9456" y="1417320"/>
            <a:ext cx="365760" cy="2194560"/>
          </a:xfrm>
          <a:prstGeom prst="roundRect">
            <a:avLst>
              <a:gd name="adj" fmla="val 18000"/>
            </a:avLst>
          </a:prstGeom>
          <a:solidFill>
            <a:srgbClr val="0F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" y="1508760"/>
            <a:ext cx="365760" cy="2011680"/>
          </a:xfrm>
          <a:prstGeom prst="rect">
            <a:avLst/>
          </a:prstGeom>
          <a:noFill/>
        </p:spPr>
        <p:txBody>
          <a:bodyPr wrap="square" anchor="ctr" lIns="54864" rIns="54864" tIns="0" bIns="0" vert="eaVert">
            <a:spAutoFit/>
          </a:bodyPr>
          <a:lstStyle/>
          <a:p>
            <a:pPr algn="ctr">
              <a:lnSpc>
                <a:spcPct val="130000"/>
              </a:lnSpc>
              <a:defRPr sz="1500"/>
            </a:pPr>
            <a:r>
              <a:rPr sz="1500" b="1" u="none">
                <a:solidFill>
                  <a:srgbClr val="FFFFFF"/>
                </a:solidFill>
                <a:latin typeface="Times New Roman"/>
                <a:ea typeface="微软雅黑"/>
              </a:rPr>
              <a:t>知识梳理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10500055" cy="4873752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 marL="475488" indent="-475488">
              <a:lnSpc>
                <a:spcPct val="135000"/>
              </a:lnSpc>
              <a:defRPr sz="2400"/>
            </a:pPr>
            <a:r>
              <a:rPr sz="2400" b="0" u="none">
                <a:solidFill>
                  <a:srgbClr val="1B2430"/>
                </a:solidFill>
                <a:latin typeface="Times New Roman"/>
                <a:ea typeface="微软雅黑"/>
              </a:rPr>
              <a:t>1. 定义：物体沿一条直线运动，且</a:t>
            </a:r>
            <a:r>
              <a:rPr sz="2400" b="0" u="sng">
                <a:solidFill>
                  <a:srgbClr val="1B2430"/>
                </a:solidFill>
                <a:latin typeface="Times New Roman"/>
                <a:ea typeface="微软雅黑"/>
              </a:rPr>
              <a:t>　　　　</a:t>
            </a:r>
            <a:r>
              <a:rPr sz="2400" b="0" u="none">
                <a:solidFill>
                  <a:srgbClr val="1B2430"/>
                </a:solidFill>
                <a:latin typeface="Times New Roman"/>
                <a:ea typeface="微软雅黑"/>
              </a:rPr>
              <a:t>不变的运动叫匀变速直线运动。</a:t>
            </a:r>
          </a:p>
          <a:p>
            <a:pPr algn="l" marL="475488" indent="-475488">
              <a:lnSpc>
                <a:spcPct val="135000"/>
              </a:lnSpc>
              <a:spcBef>
                <a:spcPts val="800"/>
              </a:spcBef>
            </a:pPr>
            <a:r>
              <a:rPr sz="2400" b="0" u="none">
                <a:solidFill>
                  <a:srgbClr val="1B2430"/>
                </a:solidFill>
                <a:latin typeface="Times New Roman"/>
                <a:ea typeface="微软雅黑"/>
              </a:rPr>
              <a:t>2. 特点：加速度大小和方向都不变，与速度方向是否变化</a:t>
            </a:r>
            <a:r>
              <a:rPr sz="2400" b="0" u="sng">
                <a:solidFill>
                  <a:srgbClr val="1B2430"/>
                </a:solidFill>
                <a:latin typeface="Times New Roman"/>
                <a:ea typeface="微软雅黑"/>
              </a:rPr>
              <a:t>　　　</a:t>
            </a:r>
            <a:r>
              <a:rPr sz="2400" b="0" u="none">
                <a:solidFill>
                  <a:srgbClr val="1B2430"/>
                </a:solidFill>
                <a:latin typeface="Times New Roman"/>
                <a:ea typeface="微软雅黑"/>
              </a:rPr>
              <a:t>（填“有关”或“无关”）。</a:t>
            </a:r>
          </a:p>
          <a:p>
            <a:pPr algn="l" marL="475488" indent="-475488">
              <a:lnSpc>
                <a:spcPct val="135000"/>
              </a:lnSpc>
              <a:spcBef>
                <a:spcPts val="800"/>
              </a:spcBef>
            </a:pPr>
            <a:r>
              <a:rPr sz="2400" b="0" u="none">
                <a:solidFill>
                  <a:srgbClr val="1B2430"/>
                </a:solidFill>
                <a:latin typeface="Times New Roman"/>
                <a:ea typeface="微软雅黑"/>
              </a:rPr>
              <a:t>3. 分类：</a:t>
            </a:r>
          </a:p>
          <a:p>
            <a:pPr algn="l" marL="886968" indent="-475488">
              <a:lnSpc>
                <a:spcPct val="135000"/>
              </a:lnSpc>
              <a:spcBef>
                <a:spcPts val="800"/>
              </a:spcBef>
            </a:pPr>
            <a:r>
              <a:rPr sz="2200" b="0" u="none">
                <a:solidFill>
                  <a:srgbClr val="1B2430"/>
                </a:solidFill>
                <a:latin typeface="Times New Roman"/>
                <a:ea typeface="微软雅黑"/>
              </a:rPr>
              <a:t>（1）匀加速直线运动：速度均匀</a:t>
            </a:r>
            <a:r>
              <a:rPr sz="2200" b="0" u="sng">
                <a:solidFill>
                  <a:srgbClr val="1B2430"/>
                </a:solidFill>
                <a:latin typeface="Times New Roman"/>
                <a:ea typeface="微软雅黑"/>
              </a:rPr>
              <a:t>　　　</a:t>
            </a:r>
            <a:r>
              <a:rPr sz="2200" b="0" u="none">
                <a:solidFill>
                  <a:srgbClr val="1B2430"/>
                </a:solidFill>
                <a:latin typeface="Times New Roman"/>
                <a:ea typeface="微软雅黑"/>
              </a:rPr>
              <a:t>，加速度方向与速度方向</a:t>
            </a:r>
            <a:r>
              <a:rPr sz="2200" b="0" u="sng">
                <a:solidFill>
                  <a:srgbClr val="1B2430"/>
                </a:solidFill>
                <a:latin typeface="Times New Roman"/>
                <a:ea typeface="微软雅黑"/>
              </a:rPr>
              <a:t>　　　</a:t>
            </a:r>
            <a:r>
              <a:rPr sz="2200" b="0" u="none">
                <a:solidFill>
                  <a:srgbClr val="1B2430"/>
                </a:solidFill>
                <a:latin typeface="Times New Roman"/>
                <a:ea typeface="微软雅黑"/>
              </a:rPr>
              <a:t>。</a:t>
            </a:r>
          </a:p>
          <a:p>
            <a:pPr algn="l" marL="886968" indent="-475488">
              <a:lnSpc>
                <a:spcPct val="135000"/>
              </a:lnSpc>
              <a:spcBef>
                <a:spcPts val="800"/>
              </a:spcBef>
            </a:pPr>
            <a:r>
              <a:rPr sz="2200" b="0" u="none">
                <a:solidFill>
                  <a:srgbClr val="1B2430"/>
                </a:solidFill>
                <a:latin typeface="Times New Roman"/>
                <a:ea typeface="微软雅黑"/>
              </a:rPr>
              <a:t>（2）匀减速直线运动：速度均匀</a:t>
            </a:r>
            <a:r>
              <a:rPr sz="2200" b="0" u="sng">
                <a:solidFill>
                  <a:srgbClr val="1B2430"/>
                </a:solidFill>
                <a:latin typeface="Times New Roman"/>
                <a:ea typeface="微软雅黑"/>
              </a:rPr>
              <a:t>　　　</a:t>
            </a:r>
            <a:r>
              <a:rPr sz="2200" b="0" u="none">
                <a:solidFill>
                  <a:srgbClr val="1B2430"/>
                </a:solidFill>
                <a:latin typeface="Times New Roman"/>
                <a:ea typeface="微软雅黑"/>
              </a:rPr>
              <a:t>，加速度方向与速度方向</a:t>
            </a:r>
            <a:r>
              <a:rPr sz="2200" b="0" u="sng">
                <a:solidFill>
                  <a:srgbClr val="1B2430"/>
                </a:solidFill>
                <a:latin typeface="Times New Roman"/>
                <a:ea typeface="微软雅黑"/>
              </a:rPr>
              <a:t>　　　</a:t>
            </a:r>
            <a:r>
              <a:rPr sz="2200" b="0" u="none">
                <a:solidFill>
                  <a:srgbClr val="1B2430"/>
                </a:solidFill>
                <a:latin typeface="Times New Roman"/>
                <a:ea typeface="微软雅黑"/>
              </a:rPr>
              <a:t>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2E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345936"/>
            <a:ext cx="859536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微软雅黑"/>
              </a:rPr>
              <a:t>胶州四中 · 第二章 匀变速直线运动的规律（第1课时）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8695" y="6345936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微软雅黑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38912"/>
            <a:ext cx="109728" cy="530352"/>
          </a:xfrm>
          <a:prstGeom prst="rect">
            <a:avLst/>
          </a:prstGeom>
          <a:solidFill>
            <a:srgbClr val="2E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9722815" cy="64008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800"/>
            </a:pPr>
            <a:r>
              <a:rPr sz="2800" b="1" u="none">
                <a:solidFill>
                  <a:srgbClr val="0F2B55"/>
                </a:solidFill>
                <a:latin typeface="Times New Roman"/>
                <a:ea typeface="微软雅黑"/>
              </a:rPr>
              <a:t>匀变速直线运动的三个基本公式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86239" y="457200"/>
            <a:ext cx="2002536" cy="365760"/>
          </a:xfrm>
          <a:prstGeom prst="roundRect">
            <a:avLst>
              <a:gd name="adj" fmla="val 35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86239" y="475488"/>
            <a:ext cx="2002536" cy="329184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100"/>
            </a:pPr>
            <a:r>
              <a:rPr sz="1100" b="1" u="none">
                <a:solidFill>
                  <a:srgbClr val="2E86D6"/>
                </a:solidFill>
                <a:latin typeface="Times New Roman"/>
                <a:ea typeface="微软雅黑"/>
              </a:rPr>
              <a:t>匀变速直线运动的三个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9456" y="1417320"/>
            <a:ext cx="365760" cy="2194560"/>
          </a:xfrm>
          <a:prstGeom prst="roundRect">
            <a:avLst>
              <a:gd name="adj" fmla="val 18000"/>
            </a:avLst>
          </a:prstGeom>
          <a:solidFill>
            <a:srgbClr val="0F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9456" y="1508760"/>
            <a:ext cx="365760" cy="2011680"/>
          </a:xfrm>
          <a:prstGeom prst="rect">
            <a:avLst/>
          </a:prstGeom>
          <a:noFill/>
        </p:spPr>
        <p:txBody>
          <a:bodyPr wrap="square" anchor="ctr" lIns="54864" rIns="54864" tIns="0" bIns="0" vert="eaVert">
            <a:spAutoFit/>
          </a:bodyPr>
          <a:lstStyle/>
          <a:p>
            <a:pPr algn="ctr">
              <a:lnSpc>
                <a:spcPct val="130000"/>
              </a:lnSpc>
              <a:defRPr sz="1500"/>
            </a:pPr>
            <a:r>
              <a:rPr sz="1500" b="1" u="none">
                <a:solidFill>
                  <a:srgbClr val="FFFFFF"/>
                </a:solidFill>
                <a:latin typeface="Times New Roman"/>
                <a:ea typeface="微软雅黑"/>
              </a:rPr>
              <a:t>知识梳理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325880"/>
            <a:ext cx="10500055" cy="4873752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 marL="475488" indent="-475488">
              <a:lnSpc>
                <a:spcPct val="135000"/>
              </a:lnSpc>
              <a:defRPr sz="2600"/>
            </a:pPr>
            <a:r>
              <a:rPr sz="2600" b="0" u="none">
                <a:solidFill>
                  <a:srgbClr val="1B2430"/>
                </a:solidFill>
                <a:latin typeface="Times New Roman"/>
                <a:ea typeface="微软雅黑"/>
              </a:rPr>
              <a:t>1. 速度与时间的关系式：v＝</a:t>
            </a:r>
            <a:r>
              <a:rPr sz="2600" b="0" u="sng">
                <a:solidFill>
                  <a:srgbClr val="1B2430"/>
                </a:solidFill>
                <a:latin typeface="Times New Roman"/>
                <a:ea typeface="微软雅黑"/>
              </a:rPr>
              <a:t>　　　　　　</a:t>
            </a:r>
            <a:r>
              <a:rPr sz="2600" b="0" u="none">
                <a:solidFill>
                  <a:srgbClr val="1B2430"/>
                </a:solidFill>
                <a:latin typeface="Times New Roman"/>
                <a:ea typeface="微软雅黑"/>
              </a:rPr>
              <a:t>。</a:t>
            </a:r>
          </a:p>
          <a:p>
            <a:pPr algn="l" marL="475488" indent="-475488">
              <a:lnSpc>
                <a:spcPct val="135000"/>
              </a:lnSpc>
              <a:spcBef>
                <a:spcPts val="1000"/>
              </a:spcBef>
            </a:pPr>
            <a:r>
              <a:rPr sz="2600" b="0" u="none">
                <a:solidFill>
                  <a:srgbClr val="1B2430"/>
                </a:solidFill>
                <a:latin typeface="Times New Roman"/>
                <a:ea typeface="微软雅黑"/>
              </a:rPr>
              <a:t>2. 位移与时间的关系式：x＝</a:t>
            </a:r>
            <a:r>
              <a:rPr sz="2600" b="0" u="sng">
                <a:solidFill>
                  <a:srgbClr val="1B2430"/>
                </a:solidFill>
                <a:latin typeface="Times New Roman"/>
                <a:ea typeface="微软雅黑"/>
              </a:rPr>
              <a:t>　　　　　　　　　</a:t>
            </a:r>
            <a:r>
              <a:rPr sz="2600" b="0" u="none">
                <a:solidFill>
                  <a:srgbClr val="1B2430"/>
                </a:solidFill>
                <a:latin typeface="Times New Roman"/>
                <a:ea typeface="微软雅黑"/>
              </a:rPr>
              <a:t>。</a:t>
            </a:r>
          </a:p>
          <a:p>
            <a:pPr algn="l" marL="475488" indent="-475488">
              <a:lnSpc>
                <a:spcPct val="135000"/>
              </a:lnSpc>
              <a:spcBef>
                <a:spcPts val="1000"/>
              </a:spcBef>
            </a:pPr>
            <a:r>
              <a:rPr sz="2600" b="0" u="none">
                <a:solidFill>
                  <a:srgbClr val="1B2430"/>
                </a:solidFill>
                <a:latin typeface="Times New Roman"/>
                <a:ea typeface="微软雅黑"/>
              </a:rPr>
              <a:t>3. 速度与位移的关系式：</a:t>
            </a:r>
            <a:r>
              <a:rPr sz="2600" b="0" u="sng">
                <a:solidFill>
                  <a:srgbClr val="1B2430"/>
                </a:solidFill>
                <a:latin typeface="Times New Roman"/>
                <a:ea typeface="微软雅黑"/>
              </a:rPr>
              <a:t>　　　　　　　</a:t>
            </a:r>
            <a:r>
              <a:rPr sz="2600" b="0" u="none">
                <a:solidFill>
                  <a:srgbClr val="1B2430"/>
                </a:solidFill>
                <a:latin typeface="Times New Roman"/>
                <a:ea typeface="微软雅黑"/>
              </a:rPr>
              <a:t>＝2ax。</a:t>
            </a:r>
          </a:p>
          <a:p>
            <a:pPr algn="l" marL="475488" indent="-475488">
              <a:lnSpc>
                <a:spcPct val="135000"/>
              </a:lnSpc>
              <a:spcBef>
                <a:spcPts val="1000"/>
              </a:spcBef>
            </a:pPr>
            <a:r>
              <a:rPr sz="2600" b="0" u="none">
                <a:solidFill>
                  <a:srgbClr val="2E86D6"/>
                </a:solidFill>
                <a:latin typeface="Times New Roman"/>
                <a:ea typeface="微软雅黑"/>
              </a:rPr>
              <a:t>▪ </a:t>
            </a:r>
            <a:r>
              <a:rPr sz="2600" b="0" u="none">
                <a:solidFill>
                  <a:srgbClr val="1B2430"/>
                </a:solidFill>
                <a:latin typeface="Times New Roman"/>
                <a:ea typeface="微软雅黑"/>
              </a:rPr>
              <a:t>提示：三个公式中共有 v0、v、a、x、t 五个物理量，已知任意三个可求另外两个，选公式的原则是“缺谁求谁”。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2E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345936"/>
            <a:ext cx="859536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微软雅黑"/>
              </a:rPr>
              <a:t>胶州四中 · 第二章 匀变速直线运动的规律（第1课时）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8695" y="6345936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2E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188720"/>
            <a:ext cx="3657600" cy="155448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9200"/>
            </a:pPr>
            <a:r>
              <a:rPr sz="9200" b="1" u="none">
                <a:solidFill>
                  <a:srgbClr val="2E86D6"/>
                </a:solidFill>
                <a:latin typeface="Times New Roman"/>
                <a:ea typeface="微软雅黑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834640"/>
            <a:ext cx="10180015" cy="109728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4000"/>
            </a:pPr>
            <a:r>
              <a:rPr sz="4000" b="1" u="none">
                <a:solidFill>
                  <a:srgbClr val="FFFFFF"/>
                </a:solidFill>
                <a:latin typeface="Times New Roman"/>
                <a:ea typeface="微软雅黑"/>
              </a:rPr>
              <a:t>课内探究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2E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442656" cy="54864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600"/>
            </a:pPr>
            <a:r>
              <a:rPr sz="2600" b="1" u="none">
                <a:solidFill>
                  <a:srgbClr val="FFFFFF"/>
                </a:solidFill>
                <a:latin typeface="Times New Roman"/>
                <a:ea typeface="微软雅黑"/>
              </a:rPr>
              <a:t>探究一：刹车类问题中的“时间陷阱”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66399" y="219456"/>
            <a:ext cx="676656" cy="365760"/>
          </a:xfrm>
          <a:prstGeom prst="roundRect">
            <a:avLst>
              <a:gd name="adj" fmla="val 30000"/>
            </a:avLst>
          </a:prstGeom>
          <a:solidFill>
            <a:srgbClr val="2E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66399" y="237744"/>
            <a:ext cx="676656" cy="329184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100"/>
            </a:pPr>
            <a:r>
              <a:rPr sz="1100" b="1" u="none">
                <a:solidFill>
                  <a:srgbClr val="FFFFFF"/>
                </a:solidFill>
                <a:latin typeface="Times New Roman"/>
                <a:ea typeface="微软雅黑"/>
              </a:rPr>
              <a:t>例题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78992"/>
            <a:ext cx="1078992" cy="402336"/>
          </a:xfrm>
          <a:prstGeom prst="roundRect">
            <a:avLst>
              <a:gd name="adj" fmla="val 25000"/>
            </a:avLst>
          </a:prstGeom>
          <a:solidFill>
            <a:srgbClr val="2E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1078992" cy="36576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500"/>
            </a:pPr>
            <a:r>
              <a:rPr sz="1500" b="1" u="none">
                <a:solidFill>
                  <a:srgbClr val="FFFFFF"/>
                </a:solidFill>
                <a:latin typeface="Times New Roman"/>
                <a:ea typeface="微软雅黑"/>
              </a:rPr>
              <a:t>例1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8122615" cy="21031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45000"/>
              </a:lnSpc>
              <a:defRPr sz="2200"/>
            </a:pPr>
            <a:r>
              <a:rPr sz="2200" b="0" u="none">
                <a:solidFill>
                  <a:srgbClr val="1B2430"/>
                </a:solidFill>
                <a:latin typeface="Times New Roman"/>
                <a:ea typeface="微软雅黑"/>
              </a:rPr>
              <a:t>汽车以 20 m/s 的速度行驶，刹车后做匀减速直线运动，加速度大小为 5 m/s²。求： （1）刹车后 2 s 末的速度； （2）刹车后 6 s 内的位移。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99855" y="1536192"/>
            <a:ext cx="2743200" cy="4572000"/>
          </a:xfrm>
          <a:prstGeom prst="roundRect">
            <a:avLst>
              <a:gd name="adj" fmla="val 5000"/>
            </a:avLst>
          </a:prstGeom>
          <a:solidFill>
            <a:srgbClr val="FDFBF7"/>
          </a:solidFill>
          <a:ln w="12700">
            <a:solidFill>
              <a:srgbClr val="E5C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99855" y="1536192"/>
            <a:ext cx="64008" cy="4572000"/>
          </a:xfrm>
          <a:prstGeom prst="rect">
            <a:avLst/>
          </a:prstGeom>
          <a:solidFill>
            <a:srgbClr val="C8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82735" y="1645920"/>
            <a:ext cx="2414016" cy="43891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45000"/>
              </a:lnSpc>
              <a:defRPr sz="1400"/>
            </a:pPr>
            <a:r>
              <a:rPr sz="1400" b="1" u="none">
                <a:solidFill>
                  <a:srgbClr val="C81E1E"/>
                </a:solidFill>
                <a:latin typeface="Times New Roman"/>
                <a:ea typeface="微软雅黑"/>
              </a:rPr>
              <a:t>判定要点</a:t>
            </a:r>
          </a:p>
          <a:p>
            <a:pPr algn="l" marL="292608" indent="-292608">
              <a:lnSpc>
                <a:spcPct val="135000"/>
              </a:lnSpc>
              <a:spcBef>
                <a:spcPts val="600"/>
              </a:spcBef>
            </a:pPr>
            <a:r>
              <a:rPr sz="1300" b="1" u="none">
                <a:solidFill>
                  <a:srgbClr val="C81E1E"/>
                </a:solidFill>
                <a:latin typeface="Times New Roman"/>
                <a:ea typeface="微软雅黑"/>
              </a:rPr>
              <a:t>1. </a:t>
            </a:r>
            <a:r>
              <a:rPr sz="1300" b="0" u="none">
                <a:solidFill>
                  <a:srgbClr val="6B2B2B"/>
                </a:solidFill>
                <a:latin typeface="Times New Roman"/>
                <a:ea typeface="微软雅黑"/>
              </a:rPr>
              <a:t>刹车问题必须先求停止时间，再判断所给时间是否超过停止时间，不能盲目代入公式。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2E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345936"/>
            <a:ext cx="859536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微软雅黑"/>
              </a:rPr>
              <a:t>胶州四中 · 第二章 匀变速直线运动的规律（第1课时）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8695" y="6345936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2E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442656" cy="54864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600"/>
            </a:pPr>
            <a:r>
              <a:rPr sz="2600" b="1" u="none">
                <a:solidFill>
                  <a:srgbClr val="FFFFFF"/>
                </a:solidFill>
                <a:latin typeface="Times New Roman"/>
                <a:ea typeface="微软雅黑"/>
              </a:rPr>
              <a:t>探究一：刹车类问题中的“时间陷阱”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66399" y="219456"/>
            <a:ext cx="676656" cy="365760"/>
          </a:xfrm>
          <a:prstGeom prst="roundRect">
            <a:avLst>
              <a:gd name="adj" fmla="val 30000"/>
            </a:avLst>
          </a:prstGeom>
          <a:solidFill>
            <a:srgbClr val="2E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66399" y="237744"/>
            <a:ext cx="676656" cy="329184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100"/>
            </a:pPr>
            <a:r>
              <a:rPr sz="1100" b="1" u="none">
                <a:solidFill>
                  <a:srgbClr val="FFFFFF"/>
                </a:solidFill>
                <a:latin typeface="Times New Roman"/>
                <a:ea typeface="微软雅黑"/>
              </a:rPr>
              <a:t>例题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1078992" cy="384048"/>
          </a:xfrm>
          <a:prstGeom prst="roundRect">
            <a:avLst>
              <a:gd name="adj" fmla="val 25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15568"/>
            <a:ext cx="1078992" cy="34747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400"/>
            </a:pPr>
            <a:r>
              <a:rPr sz="1400" b="1" u="none">
                <a:solidFill>
                  <a:srgbClr val="FFFFFF"/>
                </a:solidFill>
                <a:latin typeface="Times New Roman"/>
                <a:ea typeface="微软雅黑"/>
              </a:rPr>
              <a:t>例1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45920"/>
            <a:ext cx="11048695" cy="45720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45000"/>
              </a:lnSpc>
              <a:defRPr sz="2000"/>
            </a:pPr>
            <a:r>
              <a:rPr sz="2000" b="1" u="none">
                <a:solidFill>
                  <a:srgbClr val="2E86D6"/>
                </a:solidFill>
                <a:latin typeface="Times New Roman"/>
                <a:ea typeface="微软雅黑"/>
              </a:rPr>
              <a:t>解析　</a:t>
            </a:r>
            <a:r>
              <a:rPr sz="2000" b="0" u="none">
                <a:solidFill>
                  <a:srgbClr val="1B2430"/>
                </a:solidFill>
                <a:latin typeface="Times New Roman"/>
                <a:ea typeface="微软雅黑"/>
              </a:rPr>
              <a:t>（1）取初速度方向为正方向，a＝－5 m/s²，由 v＝v0＋at 得 v＝20－5×2＝10 m/s。 （2）先判断刹车时间 t0＝v0/|a|＝4 s＜6 s，故 6 s 内位移等于 4 s 内位移，x＝v0t0/2＝40 m。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2E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345936"/>
            <a:ext cx="859536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微软雅黑"/>
              </a:rPr>
              <a:t>胶州四中 · 第二章 匀变速直线运动的规律（第1课时）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8695" y="6345936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38912"/>
            <a:ext cx="109728" cy="530352"/>
          </a:xfrm>
          <a:prstGeom prst="rect">
            <a:avLst/>
          </a:prstGeom>
          <a:solidFill>
            <a:srgbClr val="2E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9722815" cy="64008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800"/>
            </a:pPr>
            <a:r>
              <a:rPr sz="2800" b="1" u="none">
                <a:solidFill>
                  <a:srgbClr val="0F2B55"/>
                </a:solidFill>
                <a:latin typeface="Times New Roman"/>
                <a:ea typeface="微软雅黑"/>
              </a:rPr>
              <a:t>特别提醒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01223" y="457200"/>
            <a:ext cx="987552" cy="365760"/>
          </a:xfrm>
          <a:prstGeom prst="roundRect">
            <a:avLst>
              <a:gd name="adj" fmla="val 35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01223" y="475488"/>
            <a:ext cx="987552" cy="329184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100"/>
            </a:pPr>
            <a:r>
              <a:rPr sz="1100" b="1" u="none">
                <a:solidFill>
                  <a:srgbClr val="2E86D6"/>
                </a:solidFill>
                <a:latin typeface="Times New Roman"/>
                <a:ea typeface="微软雅黑"/>
              </a:rPr>
              <a:t>易错提醒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10728655" cy="3017520"/>
          </a:xfrm>
          <a:prstGeom prst="roundRect">
            <a:avLst>
              <a:gd name="adj" fmla="val 5000"/>
            </a:avLst>
          </a:prstGeom>
          <a:solidFill>
            <a:srgbClr val="FDF2F2"/>
          </a:solidFill>
          <a:ln w="12700">
            <a:solidFill>
              <a:srgbClr val="F3B4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91440" cy="3017520"/>
          </a:xfrm>
          <a:prstGeom prst="rect">
            <a:avLst/>
          </a:prstGeom>
          <a:solidFill>
            <a:srgbClr val="C8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45920"/>
            <a:ext cx="10088575" cy="2560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50000"/>
              </a:lnSpc>
              <a:defRPr sz="2200"/>
            </a:pPr>
            <a:r>
              <a:rPr sz="2200" b="0" u="none">
                <a:solidFill>
                  <a:srgbClr val="C81E1E"/>
                </a:solidFill>
                <a:latin typeface="Times New Roman"/>
                <a:ea typeface="微软雅黑"/>
              </a:rPr>
              <a:t>⚠ </a:t>
            </a:r>
            <a:r>
              <a:rPr sz="2200" b="0" u="none">
                <a:solidFill>
                  <a:srgbClr val="8A1B1B"/>
                </a:solidFill>
                <a:latin typeface="Times New Roman"/>
                <a:ea typeface="微软雅黑"/>
              </a:rPr>
              <a:t>刹车到停止后不会反向运动。把 6 s 直接代入 x＝v0t＋½at² 会得 30 m，但车在 4 s 时已停，剩下的 2 s 位移为 0，所以真实位移是 40 m。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2E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345936"/>
            <a:ext cx="859536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微软雅黑"/>
              </a:rPr>
              <a:t>胶州四中 · 第二章 匀变速直线运动的规律（第1课时）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8695" y="6345936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2E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442656" cy="54864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600"/>
            </a:pPr>
            <a:r>
              <a:rPr sz="2600" b="1" u="none">
                <a:solidFill>
                  <a:srgbClr val="FFFFFF"/>
                </a:solidFill>
                <a:latin typeface="Times New Roman"/>
                <a:ea typeface="微软雅黑"/>
              </a:rPr>
              <a:t>探究二：v-t 图像的理解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66399" y="219456"/>
            <a:ext cx="676656" cy="365760"/>
          </a:xfrm>
          <a:prstGeom prst="roundRect">
            <a:avLst>
              <a:gd name="adj" fmla="val 30000"/>
            </a:avLst>
          </a:prstGeom>
          <a:solidFill>
            <a:srgbClr val="2E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66399" y="237744"/>
            <a:ext cx="676656" cy="329184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100"/>
            </a:pPr>
            <a:r>
              <a:rPr sz="1100" b="1" u="none">
                <a:solidFill>
                  <a:srgbClr val="FFFFFF"/>
                </a:solidFill>
                <a:latin typeface="Times New Roman"/>
                <a:ea typeface="微软雅黑"/>
              </a:rPr>
              <a:t>例题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78992"/>
            <a:ext cx="1078992" cy="402336"/>
          </a:xfrm>
          <a:prstGeom prst="roundRect">
            <a:avLst>
              <a:gd name="adj" fmla="val 25000"/>
            </a:avLst>
          </a:prstGeom>
          <a:solidFill>
            <a:srgbClr val="2E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1078992" cy="36576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500"/>
            </a:pPr>
            <a:r>
              <a:rPr sz="1500" b="1" u="none">
                <a:solidFill>
                  <a:srgbClr val="FFFFFF"/>
                </a:solidFill>
                <a:latin typeface="Times New Roman"/>
                <a:ea typeface="微软雅黑"/>
              </a:rPr>
              <a:t>例2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11094415" cy="21031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45000"/>
              </a:lnSpc>
              <a:defRPr sz="2200"/>
            </a:pPr>
            <a:r>
              <a:rPr sz="2200" b="0" u="none">
                <a:solidFill>
                  <a:srgbClr val="1B2430"/>
                </a:solidFill>
                <a:latin typeface="Times New Roman"/>
                <a:ea typeface="微软雅黑"/>
              </a:rPr>
              <a:t>某质点运动的 v-t 图像如图所示，试描述质点在 0～6 s 内的运动情况，并求 6 s 内的位移。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2E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345936"/>
            <a:ext cx="859536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微软雅黑"/>
              </a:rPr>
              <a:t>胶州四中 · 第二章 匀变速直线运动的规律（第1课时）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8695" y="6345936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2E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442656" cy="54864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600"/>
            </a:pPr>
            <a:r>
              <a:rPr sz="2600" b="1" u="none">
                <a:solidFill>
                  <a:srgbClr val="FFFFFF"/>
                </a:solidFill>
                <a:latin typeface="Times New Roman"/>
                <a:ea typeface="微软雅黑"/>
              </a:rPr>
              <a:t>探究二：v-t 图像的理解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66399" y="219456"/>
            <a:ext cx="676656" cy="365760"/>
          </a:xfrm>
          <a:prstGeom prst="roundRect">
            <a:avLst>
              <a:gd name="adj" fmla="val 30000"/>
            </a:avLst>
          </a:prstGeom>
          <a:solidFill>
            <a:srgbClr val="2E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66399" y="237744"/>
            <a:ext cx="676656" cy="329184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100"/>
            </a:pPr>
            <a:r>
              <a:rPr sz="1100" b="1" u="none">
                <a:solidFill>
                  <a:srgbClr val="FFFFFF"/>
                </a:solidFill>
                <a:latin typeface="Times New Roman"/>
                <a:ea typeface="微软雅黑"/>
              </a:rPr>
              <a:t>例题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1078992" cy="384048"/>
          </a:xfrm>
          <a:prstGeom prst="roundRect">
            <a:avLst>
              <a:gd name="adj" fmla="val 25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15568"/>
            <a:ext cx="1078992" cy="34747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400"/>
            </a:pPr>
            <a:r>
              <a:rPr sz="1400" b="1" u="none">
                <a:solidFill>
                  <a:srgbClr val="FFFFFF"/>
                </a:solidFill>
                <a:latin typeface="Times New Roman"/>
                <a:ea typeface="微软雅黑"/>
              </a:rPr>
              <a:t>例2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45920"/>
            <a:ext cx="11048695" cy="45720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45000"/>
              </a:lnSpc>
              <a:defRPr sz="2000"/>
            </a:pPr>
            <a:r>
              <a:rPr sz="2000" b="1" u="none">
                <a:solidFill>
                  <a:srgbClr val="2E86D6"/>
                </a:solidFill>
                <a:latin typeface="Times New Roman"/>
                <a:ea typeface="微软雅黑"/>
              </a:rPr>
              <a:t>解析　</a:t>
            </a:r>
            <a:r>
              <a:rPr sz="2000" b="0" u="none">
                <a:solidFill>
                  <a:srgbClr val="1B2430"/>
                </a:solidFill>
                <a:latin typeface="Times New Roman"/>
                <a:ea typeface="微软雅黑"/>
              </a:rPr>
              <a:t>0～2 s 匀加速，2～4 s 匀速，4～6 s 匀减速；图像与时间轴围成的面积表示位移，x＝(2＋6)×4/2＝16 m。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2E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345936"/>
            <a:ext cx="859536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微软雅黑"/>
              </a:rPr>
              <a:t>胶州四中 · 第二章 匀变速直线运动的规律（第1课时）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8695" y="6345936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微软雅黑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2E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188720"/>
            <a:ext cx="3657600" cy="155448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9200"/>
            </a:pPr>
            <a:r>
              <a:rPr sz="9200" b="1" u="none">
                <a:solidFill>
                  <a:srgbClr val="2E86D6"/>
                </a:solidFill>
                <a:latin typeface="Times New Roman"/>
                <a:ea typeface="微软雅黑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834640"/>
            <a:ext cx="10180015" cy="109728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4000"/>
            </a:pPr>
            <a:r>
              <a:rPr sz="4000" b="1" u="none">
                <a:solidFill>
                  <a:srgbClr val="FFFFFF"/>
                </a:solidFill>
                <a:latin typeface="Times New Roman"/>
                <a:ea typeface="微软雅黑"/>
              </a:rPr>
              <a:t>当堂检测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2E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442656" cy="54864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600"/>
            </a:pPr>
            <a:r>
              <a:rPr sz="2600" b="1" u="none">
                <a:solidFill>
                  <a:srgbClr val="FFFFFF"/>
                </a:solidFill>
                <a:latin typeface="Times New Roman"/>
                <a:ea typeface="微软雅黑"/>
              </a:rPr>
              <a:t>当堂检测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66399" y="219456"/>
            <a:ext cx="676656" cy="365760"/>
          </a:xfrm>
          <a:prstGeom prst="roundRect">
            <a:avLst>
              <a:gd name="adj" fmla="val 30000"/>
            </a:avLst>
          </a:prstGeom>
          <a:solidFill>
            <a:srgbClr val="2E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66399" y="237744"/>
            <a:ext cx="676656" cy="329184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100"/>
            </a:pPr>
            <a:r>
              <a:rPr sz="1100" b="1" u="none">
                <a:solidFill>
                  <a:srgbClr val="FFFFFF"/>
                </a:solidFill>
                <a:latin typeface="Times New Roman"/>
                <a:ea typeface="微软雅黑"/>
              </a:rPr>
              <a:t>练习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78992"/>
            <a:ext cx="11094415" cy="21031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45000"/>
              </a:lnSpc>
              <a:defRPr sz="2200"/>
            </a:pPr>
            <a:r>
              <a:rPr sz="2200" b="0" u="none">
                <a:solidFill>
                  <a:srgbClr val="1B2430"/>
                </a:solidFill>
                <a:latin typeface="Times New Roman"/>
                <a:ea typeface="微软雅黑"/>
              </a:rPr>
              <a:t>1. 关于匀变速直线运动，下列说法正确的是（　　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49806"/>
            <a:ext cx="5437479" cy="54864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 marL="365760" indent="-365760">
              <a:lnSpc>
                <a:spcPct val="125000"/>
              </a:lnSpc>
              <a:defRPr sz="1800"/>
            </a:pPr>
            <a:r>
              <a:rPr sz="1800" b="1" u="none">
                <a:solidFill>
                  <a:srgbClr val="2E86D6"/>
                </a:solidFill>
                <a:latin typeface="Times New Roman"/>
                <a:ea typeface="微软雅黑"/>
              </a:rPr>
              <a:t>A．</a:t>
            </a:r>
            <a:r>
              <a:rPr sz="1800" b="0" u="none">
                <a:solidFill>
                  <a:srgbClr val="1B2430"/>
                </a:solidFill>
                <a:latin typeface="Times New Roman"/>
                <a:ea typeface="微软雅黑"/>
              </a:rPr>
              <a:t>速度随时间均匀变化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7" y="1749806"/>
            <a:ext cx="5437479" cy="54864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 marL="365760" indent="-365760">
              <a:lnSpc>
                <a:spcPct val="125000"/>
              </a:lnSpc>
              <a:defRPr sz="1800"/>
            </a:pPr>
            <a:r>
              <a:rPr sz="1800" b="1" u="none">
                <a:solidFill>
                  <a:srgbClr val="2E86D6"/>
                </a:solidFill>
                <a:latin typeface="Times New Roman"/>
                <a:ea typeface="微软雅黑"/>
              </a:rPr>
              <a:t>B．</a:t>
            </a:r>
            <a:r>
              <a:rPr sz="1800" b="0" u="none">
                <a:solidFill>
                  <a:srgbClr val="1B2430"/>
                </a:solidFill>
                <a:latin typeface="Times New Roman"/>
                <a:ea typeface="微软雅黑"/>
              </a:rPr>
              <a:t>加速度随时间均匀变化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44166"/>
            <a:ext cx="5437479" cy="54864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 marL="365760" indent="-365760">
              <a:lnSpc>
                <a:spcPct val="125000"/>
              </a:lnSpc>
              <a:defRPr sz="1800"/>
            </a:pPr>
            <a:r>
              <a:rPr sz="1800" b="1" u="none">
                <a:solidFill>
                  <a:srgbClr val="2E86D6"/>
                </a:solidFill>
                <a:latin typeface="Times New Roman"/>
                <a:ea typeface="微软雅黑"/>
              </a:rPr>
              <a:t>C．</a:t>
            </a:r>
            <a:r>
              <a:rPr sz="1800" b="0" u="none">
                <a:solidFill>
                  <a:srgbClr val="1B2430"/>
                </a:solidFill>
                <a:latin typeface="Times New Roman"/>
                <a:ea typeface="微软雅黑"/>
              </a:rPr>
              <a:t>位移随时间均匀变化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5847" y="2344166"/>
            <a:ext cx="5437479" cy="54864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 marL="365760" indent="-365760">
              <a:lnSpc>
                <a:spcPct val="125000"/>
              </a:lnSpc>
              <a:defRPr sz="1800"/>
            </a:pPr>
            <a:r>
              <a:rPr sz="1800" b="1" u="none">
                <a:solidFill>
                  <a:srgbClr val="2E86D6"/>
                </a:solidFill>
                <a:latin typeface="Times New Roman"/>
                <a:ea typeface="微软雅黑"/>
              </a:rPr>
              <a:t>D．</a:t>
            </a:r>
            <a:r>
              <a:rPr sz="1800" b="0" u="none">
                <a:solidFill>
                  <a:srgbClr val="1B2430"/>
                </a:solidFill>
                <a:latin typeface="Times New Roman"/>
                <a:ea typeface="微软雅黑"/>
              </a:rPr>
              <a:t>加速度方向一定与速度方向相同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2E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345936"/>
            <a:ext cx="859536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微软雅黑"/>
              </a:rPr>
              <a:t>胶州四中 · 第二章 匀变速直线运动的规律（第1课时）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8695" y="6345936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微软雅黑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2E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442656" cy="54864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600"/>
            </a:pPr>
            <a:r>
              <a:rPr sz="2600" b="1" u="none">
                <a:solidFill>
                  <a:srgbClr val="FFFFFF"/>
                </a:solidFill>
                <a:latin typeface="Times New Roman"/>
                <a:ea typeface="微软雅黑"/>
              </a:rPr>
              <a:t>当堂检测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66399" y="219456"/>
            <a:ext cx="676656" cy="365760"/>
          </a:xfrm>
          <a:prstGeom prst="roundRect">
            <a:avLst>
              <a:gd name="adj" fmla="val 30000"/>
            </a:avLst>
          </a:prstGeom>
          <a:solidFill>
            <a:srgbClr val="2E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66399" y="237744"/>
            <a:ext cx="676656" cy="329184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100"/>
            </a:pPr>
            <a:r>
              <a:rPr sz="1100" b="1" u="none">
                <a:solidFill>
                  <a:srgbClr val="FFFFFF"/>
                </a:solidFill>
                <a:latin typeface="Times New Roman"/>
                <a:ea typeface="微软雅黑"/>
              </a:rPr>
              <a:t>练习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78992"/>
            <a:ext cx="11094415" cy="21031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45000"/>
              </a:lnSpc>
              <a:defRPr sz="2200"/>
            </a:pPr>
            <a:r>
              <a:rPr sz="2200" b="0" u="none">
                <a:solidFill>
                  <a:srgbClr val="1B2430"/>
                </a:solidFill>
                <a:latin typeface="Times New Roman"/>
                <a:ea typeface="微软雅黑"/>
              </a:rPr>
              <a:t>2. 一物体做初速度为零的匀加速直线运动，第 1 s 内、第 2 s 内、第 3 s 内的位移之比为（　　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82876"/>
            <a:ext cx="2663875" cy="54864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 marL="365760" indent="-365760">
              <a:lnSpc>
                <a:spcPct val="125000"/>
              </a:lnSpc>
              <a:defRPr sz="1900"/>
            </a:pPr>
            <a:r>
              <a:rPr sz="1900" b="1" u="none">
                <a:solidFill>
                  <a:srgbClr val="2E86D6"/>
                </a:solidFill>
                <a:latin typeface="Times New Roman"/>
                <a:ea typeface="微软雅黑"/>
              </a:rPr>
              <a:t>A．</a:t>
            </a:r>
            <a:r>
              <a:rPr sz="1900" b="0" u="none">
                <a:solidFill>
                  <a:srgbClr val="1B2430"/>
                </a:solidFill>
                <a:latin typeface="Times New Roman"/>
                <a:ea typeface="微软雅黑"/>
              </a:rPr>
              <a:t>1∶2∶3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22243" y="2182876"/>
            <a:ext cx="2663875" cy="54864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 marL="365760" indent="-365760">
              <a:lnSpc>
                <a:spcPct val="125000"/>
              </a:lnSpc>
              <a:defRPr sz="1900"/>
            </a:pPr>
            <a:r>
              <a:rPr sz="1900" b="1" u="none">
                <a:solidFill>
                  <a:srgbClr val="2E86D6"/>
                </a:solidFill>
                <a:latin typeface="Times New Roman"/>
                <a:ea typeface="微软雅黑"/>
              </a:rPr>
              <a:t>B．</a:t>
            </a:r>
            <a:r>
              <a:rPr sz="1900" b="0" u="none">
                <a:solidFill>
                  <a:srgbClr val="1B2430"/>
                </a:solidFill>
                <a:latin typeface="Times New Roman"/>
                <a:ea typeface="微软雅黑"/>
              </a:rPr>
              <a:t>1∶3∶5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7" y="2182876"/>
            <a:ext cx="2663875" cy="54864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 marL="365760" indent="-365760">
              <a:lnSpc>
                <a:spcPct val="125000"/>
              </a:lnSpc>
              <a:defRPr sz="1900"/>
            </a:pPr>
            <a:r>
              <a:rPr sz="1900" b="1" u="none">
                <a:solidFill>
                  <a:srgbClr val="2E86D6"/>
                </a:solidFill>
                <a:latin typeface="Times New Roman"/>
                <a:ea typeface="微软雅黑"/>
              </a:rPr>
              <a:t>C．</a:t>
            </a:r>
            <a:r>
              <a:rPr sz="1900" b="0" u="none">
                <a:solidFill>
                  <a:srgbClr val="1B2430"/>
                </a:solidFill>
                <a:latin typeface="Times New Roman"/>
                <a:ea typeface="微软雅黑"/>
              </a:rPr>
              <a:t>1∶4∶9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451" y="2182876"/>
            <a:ext cx="2663875" cy="54864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 marL="365760" indent="-365760">
              <a:lnSpc>
                <a:spcPct val="125000"/>
              </a:lnSpc>
              <a:defRPr sz="1900"/>
            </a:pPr>
            <a:r>
              <a:rPr sz="1900" b="1" u="none">
                <a:solidFill>
                  <a:srgbClr val="2E86D6"/>
                </a:solidFill>
                <a:latin typeface="Times New Roman"/>
                <a:ea typeface="微软雅黑"/>
              </a:rPr>
              <a:t>D．</a:t>
            </a:r>
            <a:r>
              <a:rPr sz="1900" b="0" u="none">
                <a:solidFill>
                  <a:srgbClr val="1B2430"/>
                </a:solidFill>
                <a:latin typeface="Times New Roman"/>
                <a:ea typeface="微软雅黑"/>
              </a:rPr>
              <a:t>1∶1∶1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2E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345936"/>
            <a:ext cx="859536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微软雅黑"/>
              </a:rPr>
              <a:t>胶州四中 · 第二章 匀变速直线运动的规律（第1课时）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8695" y="6345936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微软雅黑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2E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442656" cy="54864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600"/>
            </a:pPr>
            <a:r>
              <a:rPr sz="2600" b="1" u="none">
                <a:solidFill>
                  <a:srgbClr val="FFFFFF"/>
                </a:solidFill>
                <a:latin typeface="Times New Roman"/>
                <a:ea typeface="微软雅黑"/>
              </a:rPr>
              <a:t>当堂检测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66399" y="219456"/>
            <a:ext cx="676656" cy="365760"/>
          </a:xfrm>
          <a:prstGeom prst="roundRect">
            <a:avLst>
              <a:gd name="adj" fmla="val 30000"/>
            </a:avLst>
          </a:prstGeom>
          <a:solidFill>
            <a:srgbClr val="2E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66399" y="237744"/>
            <a:ext cx="676656" cy="329184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100"/>
            </a:pPr>
            <a:r>
              <a:rPr sz="1100" b="1" u="none">
                <a:solidFill>
                  <a:srgbClr val="FFFFFF"/>
                </a:solidFill>
                <a:latin typeface="Times New Roman"/>
                <a:ea typeface="微软雅黑"/>
              </a:rPr>
              <a:t>练习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78992"/>
            <a:ext cx="11094415" cy="21031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45000"/>
              </a:lnSpc>
              <a:defRPr sz="2200"/>
            </a:pPr>
            <a:r>
              <a:rPr sz="2200" b="0" u="none">
                <a:solidFill>
                  <a:srgbClr val="1B2430"/>
                </a:solidFill>
                <a:latin typeface="Times New Roman"/>
                <a:ea typeface="微软雅黑"/>
              </a:rPr>
              <a:t>3. 汽车以 10 m/s 的速度匀速行驶，刹车后加速度大小为 2 m/s²，则刹车后 8 s 内的位移为________m。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2E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345936"/>
            <a:ext cx="859536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微软雅黑"/>
              </a:rPr>
              <a:t>胶州四中 · 第二章 匀变速直线运动的规律（第1课时）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8695" y="6345936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微软雅黑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2E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188720"/>
            <a:ext cx="3657600" cy="155448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9200"/>
            </a:pPr>
            <a:r>
              <a:rPr sz="9200" b="1" u="none">
                <a:solidFill>
                  <a:srgbClr val="2E86D6"/>
                </a:solidFill>
                <a:latin typeface="Times New Roman"/>
                <a:ea typeface="微软雅黑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834640"/>
            <a:ext cx="10180015" cy="109728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4000"/>
            </a:pPr>
            <a:r>
              <a:rPr sz="4000" b="1" u="none">
                <a:solidFill>
                  <a:srgbClr val="FFFFFF"/>
                </a:solidFill>
                <a:latin typeface="Times New Roman"/>
                <a:ea typeface="微软雅黑"/>
              </a:rPr>
              <a:t>课后作业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38912"/>
            <a:ext cx="109728" cy="530352"/>
          </a:xfrm>
          <a:prstGeom prst="rect">
            <a:avLst/>
          </a:prstGeom>
          <a:solidFill>
            <a:srgbClr val="2E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9722815" cy="64008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800"/>
            </a:pPr>
            <a:r>
              <a:rPr sz="2800" b="1" u="none">
                <a:solidFill>
                  <a:srgbClr val="0F2B55"/>
                </a:solidFill>
                <a:latin typeface="Times New Roman"/>
                <a:ea typeface="微软雅黑"/>
              </a:rPr>
              <a:t>课后作业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9456" y="1417320"/>
            <a:ext cx="365760" cy="2194560"/>
          </a:xfrm>
          <a:prstGeom prst="roundRect">
            <a:avLst>
              <a:gd name="adj" fmla="val 18000"/>
            </a:avLst>
          </a:prstGeom>
          <a:solidFill>
            <a:srgbClr val="0F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" y="1508760"/>
            <a:ext cx="365760" cy="2011680"/>
          </a:xfrm>
          <a:prstGeom prst="rect">
            <a:avLst/>
          </a:prstGeom>
          <a:noFill/>
        </p:spPr>
        <p:txBody>
          <a:bodyPr wrap="square" anchor="ctr" lIns="54864" rIns="54864" tIns="0" bIns="0" vert="eaVert">
            <a:spAutoFit/>
          </a:bodyPr>
          <a:lstStyle/>
          <a:p>
            <a:pPr algn="ctr">
              <a:lnSpc>
                <a:spcPct val="130000"/>
              </a:lnSpc>
              <a:defRPr sz="1500"/>
            </a:pPr>
            <a:r>
              <a:rPr sz="1500" b="1" u="none">
                <a:solidFill>
                  <a:srgbClr val="FFFFFF"/>
                </a:solidFill>
                <a:latin typeface="Times New Roman"/>
                <a:ea typeface="微软雅黑"/>
              </a:rPr>
              <a:t>知识梳理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10500055" cy="4873752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 marL="475488" indent="-475488">
              <a:lnSpc>
                <a:spcPct val="135000"/>
              </a:lnSpc>
              <a:defRPr sz="2600"/>
            </a:pPr>
            <a:r>
              <a:rPr sz="2600" b="0" u="none">
                <a:solidFill>
                  <a:srgbClr val="2E86D6"/>
                </a:solidFill>
                <a:latin typeface="Times New Roman"/>
                <a:ea typeface="微软雅黑"/>
              </a:rPr>
              <a:t>▪ </a:t>
            </a:r>
            <a:r>
              <a:rPr sz="2600" b="0" u="none">
                <a:solidFill>
                  <a:srgbClr val="1B2430"/>
                </a:solidFill>
                <a:latin typeface="Times New Roman"/>
                <a:ea typeface="微软雅黑"/>
              </a:rPr>
              <a:t>完成《课时作业》第 5 页 1～8 题。</a:t>
            </a:r>
          </a:p>
          <a:p>
            <a:pPr algn="l" marL="475488" indent="-475488">
              <a:lnSpc>
                <a:spcPct val="135000"/>
              </a:lnSpc>
              <a:spcBef>
                <a:spcPts val="1000"/>
              </a:spcBef>
            </a:pPr>
            <a:r>
              <a:rPr sz="2600" b="0" u="none">
                <a:solidFill>
                  <a:srgbClr val="2E86D6"/>
                </a:solidFill>
                <a:latin typeface="Times New Roman"/>
                <a:ea typeface="微软雅黑"/>
              </a:rPr>
              <a:t>▪ </a:t>
            </a:r>
            <a:r>
              <a:rPr sz="2600" b="0" u="none">
                <a:solidFill>
                  <a:srgbClr val="1B2430"/>
                </a:solidFill>
                <a:latin typeface="Times New Roman"/>
                <a:ea typeface="微软雅黑"/>
              </a:rPr>
              <a:t>整理本节课的三个公式，各配一道自编例题。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2E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345936"/>
            <a:ext cx="859536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微软雅黑"/>
              </a:rPr>
              <a:t>胶州四中 · 第二章 匀变速直线运动的规律（第1课时）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8695" y="6345936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微软雅黑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2E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188720"/>
            <a:ext cx="3657600" cy="155448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9200"/>
            </a:pPr>
            <a:r>
              <a:rPr sz="9200" b="1" u="none">
                <a:solidFill>
                  <a:srgbClr val="2E86D6"/>
                </a:solidFill>
                <a:latin typeface="Times New Roman"/>
                <a:ea typeface="微软雅黑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834640"/>
            <a:ext cx="10180015" cy="109728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4000"/>
            </a:pPr>
            <a:r>
              <a:rPr sz="4000" b="1" u="none">
                <a:solidFill>
                  <a:srgbClr val="FFFFFF"/>
                </a:solidFill>
                <a:latin typeface="Times New Roman"/>
                <a:ea typeface="微软雅黑"/>
              </a:rPr>
              <a:t>参考答案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2E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442656" cy="54864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600"/>
            </a:pPr>
            <a:r>
              <a:rPr sz="2600" b="1" u="none">
                <a:solidFill>
                  <a:srgbClr val="FFFFFF"/>
                </a:solidFill>
                <a:latin typeface="Times New Roman"/>
                <a:ea typeface="微软雅黑"/>
              </a:rPr>
              <a:t>参考答案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18927" y="219456"/>
            <a:ext cx="1024128" cy="365760"/>
          </a:xfrm>
          <a:prstGeom prst="roundRect">
            <a:avLst>
              <a:gd name="adj" fmla="val 30000"/>
            </a:avLst>
          </a:prstGeom>
          <a:solidFill>
            <a:srgbClr val="2E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18927" y="237744"/>
            <a:ext cx="1024128" cy="329184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100"/>
            </a:pPr>
            <a:r>
              <a:rPr sz="1100" b="1" u="none">
                <a:solidFill>
                  <a:srgbClr val="FFFFFF"/>
                </a:solidFill>
                <a:latin typeface="Times New Roman"/>
                <a:ea typeface="微软雅黑"/>
              </a:rPr>
              <a:t>参考答案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188720"/>
            <a:ext cx="10637215" cy="5010912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 marL="475488" indent="-475488">
              <a:lnSpc>
                <a:spcPct val="135000"/>
              </a:lnSpc>
              <a:defRPr sz="2600"/>
            </a:pPr>
            <a:r>
              <a:rPr sz="2600" b="0" u="none">
                <a:solidFill>
                  <a:srgbClr val="1B2430"/>
                </a:solidFill>
                <a:latin typeface="Times New Roman"/>
                <a:ea typeface="微软雅黑"/>
              </a:rPr>
              <a:t>1. A　2. B　3. 25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2E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345936"/>
            <a:ext cx="859536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微软雅黑"/>
              </a:rPr>
              <a:t>胶州四中 · 第二章 匀变速直线运动的规律（第1课时）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8695" y="6345936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微软雅黑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2E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442656" cy="54864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600"/>
            </a:pPr>
            <a:r>
              <a:rPr sz="2600" b="1" u="none">
                <a:solidFill>
                  <a:srgbClr val="FFFFFF"/>
                </a:solidFill>
                <a:latin typeface="Times New Roman"/>
                <a:ea typeface="微软雅黑"/>
              </a:rPr>
              <a:t>参考答案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66399" y="219456"/>
            <a:ext cx="676656" cy="365760"/>
          </a:xfrm>
          <a:prstGeom prst="roundRect">
            <a:avLst>
              <a:gd name="adj" fmla="val 30000"/>
            </a:avLst>
          </a:prstGeom>
          <a:solidFill>
            <a:srgbClr val="2E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66399" y="237744"/>
            <a:ext cx="676656" cy="329184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100"/>
            </a:pPr>
            <a:r>
              <a:rPr sz="1100" b="1" u="none">
                <a:solidFill>
                  <a:srgbClr val="FFFFFF"/>
                </a:solidFill>
                <a:latin typeface="Times New Roman"/>
                <a:ea typeface="微软雅黑"/>
              </a:rPr>
              <a:t>例题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097280"/>
            <a:ext cx="11048695" cy="512064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45000"/>
              </a:lnSpc>
              <a:defRPr sz="2000"/>
            </a:pPr>
            <a:r>
              <a:rPr sz="2000" b="1" u="none">
                <a:solidFill>
                  <a:srgbClr val="2E86D6"/>
                </a:solidFill>
                <a:latin typeface="Times New Roman"/>
                <a:ea typeface="微软雅黑"/>
              </a:rPr>
              <a:t>解析　</a:t>
            </a:r>
            <a:r>
              <a:rPr sz="2000" b="0" u="none">
                <a:solidFill>
                  <a:srgbClr val="1B2430"/>
                </a:solidFill>
                <a:latin typeface="Times New Roman"/>
                <a:ea typeface="微软雅黑"/>
              </a:rPr>
              <a:t>第 3 题：刹车时间 t0＝5 s，8 s 内位移等于 5 s 内位移，x＝v0t0/2＝25 m。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2E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345936"/>
            <a:ext cx="859536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微软雅黑"/>
              </a:rPr>
              <a:t>胶州四中 · 第二章 匀变速直线运动的规律（第1课时）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8695" y="6345936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微软雅黑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2E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731520"/>
            <a:ext cx="10637215" cy="82296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3800"/>
            </a:pPr>
            <a:r>
              <a:rPr sz="3800" b="1" u="none">
                <a:solidFill>
                  <a:srgbClr val="0F2B55"/>
                </a:solidFill>
                <a:latin typeface="Times New Roman"/>
                <a:ea typeface="微软雅黑"/>
              </a:rPr>
              <a:t>本节课小结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454335" cy="425196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 marL="411480" indent="-411480">
              <a:lnSpc>
                <a:spcPct val="135000"/>
              </a:lnSpc>
              <a:defRPr sz="2300"/>
            </a:pPr>
            <a:r>
              <a:rPr sz="2300" b="0" u="none">
                <a:solidFill>
                  <a:srgbClr val="2E86D6"/>
                </a:solidFill>
                <a:latin typeface="Times New Roman"/>
                <a:ea typeface="微软雅黑"/>
              </a:rPr>
              <a:t>✔ </a:t>
            </a:r>
            <a:r>
              <a:rPr sz="2300" b="0" u="none">
                <a:solidFill>
                  <a:srgbClr val="1B2430"/>
                </a:solidFill>
                <a:latin typeface="Times New Roman"/>
                <a:ea typeface="微软雅黑"/>
              </a:rPr>
              <a:t>理解匀变速直线运动的特点，知道加速度大小和方向不变是匀变速直线运动的本质特征。</a:t>
            </a:r>
          </a:p>
          <a:p>
            <a:pPr algn="l" marL="411480" indent="-411480">
              <a:lnSpc>
                <a:spcPct val="135000"/>
              </a:lnSpc>
              <a:spcBef>
                <a:spcPts val="1000"/>
              </a:spcBef>
            </a:pPr>
            <a:r>
              <a:rPr sz="2300" b="0" u="none">
                <a:solidFill>
                  <a:srgbClr val="2E86D6"/>
                </a:solidFill>
                <a:latin typeface="Times New Roman"/>
                <a:ea typeface="微软雅黑"/>
              </a:rPr>
              <a:t>✔ </a:t>
            </a:r>
            <a:r>
              <a:rPr sz="2300" b="0" u="none">
                <a:solidFill>
                  <a:srgbClr val="1B2430"/>
                </a:solidFill>
                <a:latin typeface="Times New Roman"/>
                <a:ea typeface="微软雅黑"/>
              </a:rPr>
              <a:t>掌握速度与时间、位移与时间、速度与位移三个基本关系式，并能选用合适公式解题。</a:t>
            </a:r>
          </a:p>
          <a:p>
            <a:pPr algn="l" marL="411480" indent="-411480">
              <a:lnSpc>
                <a:spcPct val="135000"/>
              </a:lnSpc>
              <a:spcBef>
                <a:spcPts val="1000"/>
              </a:spcBef>
            </a:pPr>
            <a:r>
              <a:rPr sz="2300" b="0" u="none">
                <a:solidFill>
                  <a:srgbClr val="2E86D6"/>
                </a:solidFill>
                <a:latin typeface="Times New Roman"/>
                <a:ea typeface="微软雅黑"/>
              </a:rPr>
              <a:t>✔ </a:t>
            </a:r>
            <a:r>
              <a:rPr sz="2300" b="0" u="none">
                <a:solidFill>
                  <a:srgbClr val="1B2430"/>
                </a:solidFill>
                <a:latin typeface="Times New Roman"/>
                <a:ea typeface="微软雅黑"/>
              </a:rPr>
              <a:t>能用 v-t 图像描述匀变速直线运动，体会“数形结合”的物理思想。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989320"/>
            <a:ext cx="10454335" cy="347472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400"/>
            </a:pPr>
            <a:r>
              <a:rPr sz="1400" b="0" u="none">
                <a:solidFill>
                  <a:srgbClr val="64748B"/>
                </a:solidFill>
                <a:latin typeface="Times New Roman"/>
                <a:ea typeface="微软雅黑"/>
              </a:rPr>
              <a:t>胶州四中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8695" y="5989320"/>
            <a:ext cx="685800" cy="347472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400"/>
            </a:pPr>
            <a:r>
              <a:rPr sz="1400" b="0" u="none">
                <a:solidFill>
                  <a:srgbClr val="64748B"/>
                </a:solidFill>
                <a:latin typeface="Times New Roman"/>
                <a:ea typeface="微软雅黑"/>
              </a:rPr>
              <a:t>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